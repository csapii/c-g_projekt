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8" r:id="rId5"/>
    <p:sldId id="261" r:id="rId6"/>
    <p:sldId id="274" r:id="rId7"/>
    <p:sldId id="263" r:id="rId8"/>
    <p:sldId id="276" r:id="rId9"/>
    <p:sldId id="277" r:id="rId10"/>
    <p:sldId id="278" r:id="rId11"/>
    <p:sldId id="280" r:id="rId12"/>
    <p:sldId id="279" r:id="rId13"/>
    <p:sldId id="281" r:id="rId14"/>
    <p:sldId id="282" r:id="rId15"/>
    <p:sldId id="283" r:id="rId16"/>
    <p:sldId id="28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Közepesen sötét stílus 2 – 2.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Közepesen sötét stílus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Közepesen sötét stílus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Közepesen sötét stílus 4 – 3. jelölőszín">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202B0CA-FC54-4496-8BCA-5EF66A818D29}" styleName="Sötét stílu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Sötét stílus 2 – 1./2. jelölőszín">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Sötét stílus 2 – 3./4. jelölőszín">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73A0DAA-6AF3-43AB-8588-CEC1D06C72B9}" styleName="Közepesen sötét stílu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8" d="100"/>
          <a:sy n="58" d="100"/>
        </p:scale>
        <p:origin x="1411" y="7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50BAA80-5E80-4331-B780-A8FCA7A2CD49}"/>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endParaRPr lang="en-GB"/>
          </a:p>
        </p:txBody>
      </p:sp>
      <p:sp>
        <p:nvSpPr>
          <p:cNvPr id="3" name="Alcím 2">
            <a:extLst>
              <a:ext uri="{FF2B5EF4-FFF2-40B4-BE49-F238E27FC236}">
                <a16:creationId xmlns:a16="http://schemas.microsoft.com/office/drawing/2014/main" id="{A0E40F9E-D1E8-47C9-8A0A-F0676223F7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GB"/>
          </a:p>
        </p:txBody>
      </p:sp>
      <p:sp>
        <p:nvSpPr>
          <p:cNvPr id="4" name="Dátum helye 3">
            <a:extLst>
              <a:ext uri="{FF2B5EF4-FFF2-40B4-BE49-F238E27FC236}">
                <a16:creationId xmlns:a16="http://schemas.microsoft.com/office/drawing/2014/main" id="{C50B9F46-5379-470F-B3C4-46A05365B9C5}"/>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C4E70327-11F6-4F87-9D5F-A814DCA7B78F}"/>
              </a:ext>
            </a:extLst>
          </p:cNvPr>
          <p:cNvSpPr>
            <a:spLocks noGrp="1"/>
          </p:cNvSpPr>
          <p:nvPr>
            <p:ph type="ftr" sz="quarter" idx="11"/>
          </p:nvPr>
        </p:nvSpPr>
        <p:spPr/>
        <p:txBody>
          <a:bodyPr/>
          <a:lstStyle/>
          <a:p>
            <a:endParaRPr lang="en-GB"/>
          </a:p>
        </p:txBody>
      </p:sp>
      <p:sp>
        <p:nvSpPr>
          <p:cNvPr id="6" name="Dia számának helye 5">
            <a:extLst>
              <a:ext uri="{FF2B5EF4-FFF2-40B4-BE49-F238E27FC236}">
                <a16:creationId xmlns:a16="http://schemas.microsoft.com/office/drawing/2014/main" id="{545CDBA5-8EBA-4F32-A4CF-B111ECC4F505}"/>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407967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60106F9-C20E-4E5D-AF77-F5B9EAB3264E}"/>
              </a:ext>
            </a:extLst>
          </p:cNvPr>
          <p:cNvSpPr>
            <a:spLocks noGrp="1"/>
          </p:cNvSpPr>
          <p:nvPr>
            <p:ph type="title"/>
          </p:nvPr>
        </p:nvSpPr>
        <p:spPr/>
        <p:txBody>
          <a:bodyPr/>
          <a:lstStyle/>
          <a:p>
            <a:r>
              <a:rPr lang="hu-HU"/>
              <a:t>Mintacím szerkesztése</a:t>
            </a:r>
            <a:endParaRPr lang="en-GB"/>
          </a:p>
        </p:txBody>
      </p:sp>
      <p:sp>
        <p:nvSpPr>
          <p:cNvPr id="3" name="Tartalom helye 2">
            <a:extLst>
              <a:ext uri="{FF2B5EF4-FFF2-40B4-BE49-F238E27FC236}">
                <a16:creationId xmlns:a16="http://schemas.microsoft.com/office/drawing/2014/main" id="{089A2B57-35FE-4FE5-A877-624CD60FC667}"/>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Dátum helye 3">
            <a:extLst>
              <a:ext uri="{FF2B5EF4-FFF2-40B4-BE49-F238E27FC236}">
                <a16:creationId xmlns:a16="http://schemas.microsoft.com/office/drawing/2014/main" id="{55C2BA3D-B93B-43F6-A095-F9F2B976677A}"/>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B3C78C8D-D7EA-4B7E-AFA1-F4DF667F5093}"/>
              </a:ext>
            </a:extLst>
          </p:cNvPr>
          <p:cNvSpPr>
            <a:spLocks noGrp="1"/>
          </p:cNvSpPr>
          <p:nvPr>
            <p:ph type="ftr" sz="quarter" idx="11"/>
          </p:nvPr>
        </p:nvSpPr>
        <p:spPr/>
        <p:txBody>
          <a:bodyPr/>
          <a:lstStyle/>
          <a:p>
            <a:endParaRPr lang="en-GB"/>
          </a:p>
        </p:txBody>
      </p:sp>
      <p:sp>
        <p:nvSpPr>
          <p:cNvPr id="6" name="Dia számának helye 5">
            <a:extLst>
              <a:ext uri="{FF2B5EF4-FFF2-40B4-BE49-F238E27FC236}">
                <a16:creationId xmlns:a16="http://schemas.microsoft.com/office/drawing/2014/main" id="{7B755094-760F-419A-AEDF-49F451E01A6B}"/>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7438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5A16FD2-C364-4AB5-83F6-DB1BA305E7C9}"/>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endParaRPr lang="en-GB"/>
          </a:p>
        </p:txBody>
      </p:sp>
      <p:sp>
        <p:nvSpPr>
          <p:cNvPr id="3" name="Szöveg helye 2">
            <a:extLst>
              <a:ext uri="{FF2B5EF4-FFF2-40B4-BE49-F238E27FC236}">
                <a16:creationId xmlns:a16="http://schemas.microsoft.com/office/drawing/2014/main" id="{E3C39A9D-D384-46D8-9771-1331909AFA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1D021F92-B00D-490E-84D5-52F08C09370C}"/>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B6E8A559-BDBE-4401-9DC9-8E4C3BCB3C62}"/>
              </a:ext>
            </a:extLst>
          </p:cNvPr>
          <p:cNvSpPr>
            <a:spLocks noGrp="1"/>
          </p:cNvSpPr>
          <p:nvPr>
            <p:ph type="ftr" sz="quarter" idx="11"/>
          </p:nvPr>
        </p:nvSpPr>
        <p:spPr/>
        <p:txBody>
          <a:bodyPr/>
          <a:lstStyle/>
          <a:p>
            <a:endParaRPr lang="en-GB"/>
          </a:p>
        </p:txBody>
      </p:sp>
      <p:sp>
        <p:nvSpPr>
          <p:cNvPr id="6" name="Dia számának helye 5">
            <a:extLst>
              <a:ext uri="{FF2B5EF4-FFF2-40B4-BE49-F238E27FC236}">
                <a16:creationId xmlns:a16="http://schemas.microsoft.com/office/drawing/2014/main" id="{77B884CA-CC7A-44CE-9193-BAA6673C25A7}"/>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2915198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2512E79-05D2-482E-8994-9185E8311AA9}"/>
              </a:ext>
            </a:extLst>
          </p:cNvPr>
          <p:cNvSpPr>
            <a:spLocks noGrp="1"/>
          </p:cNvSpPr>
          <p:nvPr>
            <p:ph type="title"/>
          </p:nvPr>
        </p:nvSpPr>
        <p:spPr/>
        <p:txBody>
          <a:bodyPr/>
          <a:lstStyle/>
          <a:p>
            <a:r>
              <a:rPr lang="hu-HU"/>
              <a:t>Mintacím szerkesztése</a:t>
            </a:r>
            <a:endParaRPr lang="en-GB"/>
          </a:p>
        </p:txBody>
      </p:sp>
      <p:sp>
        <p:nvSpPr>
          <p:cNvPr id="3" name="Tartalom helye 2">
            <a:extLst>
              <a:ext uri="{FF2B5EF4-FFF2-40B4-BE49-F238E27FC236}">
                <a16:creationId xmlns:a16="http://schemas.microsoft.com/office/drawing/2014/main" id="{F7E09F74-0222-426E-A6CD-CBDB740DA766}"/>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Tartalom helye 3">
            <a:extLst>
              <a:ext uri="{FF2B5EF4-FFF2-40B4-BE49-F238E27FC236}">
                <a16:creationId xmlns:a16="http://schemas.microsoft.com/office/drawing/2014/main" id="{DA6783E1-7C24-4508-AF15-A1041D9C1C44}"/>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5" name="Dátum helye 4">
            <a:extLst>
              <a:ext uri="{FF2B5EF4-FFF2-40B4-BE49-F238E27FC236}">
                <a16:creationId xmlns:a16="http://schemas.microsoft.com/office/drawing/2014/main" id="{B6230FC3-A9E9-4753-AA66-D559DDD749B0}"/>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6" name="Élőláb helye 5">
            <a:extLst>
              <a:ext uri="{FF2B5EF4-FFF2-40B4-BE49-F238E27FC236}">
                <a16:creationId xmlns:a16="http://schemas.microsoft.com/office/drawing/2014/main" id="{166D7D19-39C4-4585-8470-BE21431D4F3E}"/>
              </a:ext>
            </a:extLst>
          </p:cNvPr>
          <p:cNvSpPr>
            <a:spLocks noGrp="1"/>
          </p:cNvSpPr>
          <p:nvPr>
            <p:ph type="ftr" sz="quarter" idx="11"/>
          </p:nvPr>
        </p:nvSpPr>
        <p:spPr/>
        <p:txBody>
          <a:bodyPr/>
          <a:lstStyle/>
          <a:p>
            <a:endParaRPr lang="en-GB"/>
          </a:p>
        </p:txBody>
      </p:sp>
      <p:sp>
        <p:nvSpPr>
          <p:cNvPr id="7" name="Dia számának helye 6">
            <a:extLst>
              <a:ext uri="{FF2B5EF4-FFF2-40B4-BE49-F238E27FC236}">
                <a16:creationId xmlns:a16="http://schemas.microsoft.com/office/drawing/2014/main" id="{57E4B633-2A71-4040-B41E-E8FF32068C2B}"/>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313242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31C4CE5-99F7-41B3-AA31-717C9E89454B}"/>
              </a:ext>
            </a:extLst>
          </p:cNvPr>
          <p:cNvSpPr>
            <a:spLocks noGrp="1"/>
          </p:cNvSpPr>
          <p:nvPr>
            <p:ph type="title"/>
          </p:nvPr>
        </p:nvSpPr>
        <p:spPr>
          <a:xfrm>
            <a:off x="839788" y="365125"/>
            <a:ext cx="10515600" cy="1325563"/>
          </a:xfrm>
        </p:spPr>
        <p:txBody>
          <a:bodyPr/>
          <a:lstStyle/>
          <a:p>
            <a:r>
              <a:rPr lang="hu-HU"/>
              <a:t>Mintacím szerkesztése</a:t>
            </a:r>
            <a:endParaRPr lang="en-GB"/>
          </a:p>
        </p:txBody>
      </p:sp>
      <p:sp>
        <p:nvSpPr>
          <p:cNvPr id="3" name="Szöveg helye 2">
            <a:extLst>
              <a:ext uri="{FF2B5EF4-FFF2-40B4-BE49-F238E27FC236}">
                <a16:creationId xmlns:a16="http://schemas.microsoft.com/office/drawing/2014/main" id="{FC37E3A1-8411-4AF1-9CDB-978BA67AB5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5A3046A0-5ECD-4296-BD6B-0F0BD26C67E5}"/>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5" name="Szöveg helye 4">
            <a:extLst>
              <a:ext uri="{FF2B5EF4-FFF2-40B4-BE49-F238E27FC236}">
                <a16:creationId xmlns:a16="http://schemas.microsoft.com/office/drawing/2014/main" id="{A367F7C1-1203-431D-B241-0A6D3ADFE9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2140BA75-1DD3-49B0-85BE-AB8977ED3D86}"/>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7" name="Dátum helye 6">
            <a:extLst>
              <a:ext uri="{FF2B5EF4-FFF2-40B4-BE49-F238E27FC236}">
                <a16:creationId xmlns:a16="http://schemas.microsoft.com/office/drawing/2014/main" id="{3941841E-3D90-48C8-B551-2C6164B82684}"/>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8" name="Élőláb helye 7">
            <a:extLst>
              <a:ext uri="{FF2B5EF4-FFF2-40B4-BE49-F238E27FC236}">
                <a16:creationId xmlns:a16="http://schemas.microsoft.com/office/drawing/2014/main" id="{A609497C-855F-4B68-B8D2-F5CD24673326}"/>
              </a:ext>
            </a:extLst>
          </p:cNvPr>
          <p:cNvSpPr>
            <a:spLocks noGrp="1"/>
          </p:cNvSpPr>
          <p:nvPr>
            <p:ph type="ftr" sz="quarter" idx="11"/>
          </p:nvPr>
        </p:nvSpPr>
        <p:spPr/>
        <p:txBody>
          <a:bodyPr/>
          <a:lstStyle/>
          <a:p>
            <a:endParaRPr lang="en-GB"/>
          </a:p>
        </p:txBody>
      </p:sp>
      <p:sp>
        <p:nvSpPr>
          <p:cNvPr id="9" name="Dia számának helye 8">
            <a:extLst>
              <a:ext uri="{FF2B5EF4-FFF2-40B4-BE49-F238E27FC236}">
                <a16:creationId xmlns:a16="http://schemas.microsoft.com/office/drawing/2014/main" id="{53762F0A-EA80-4920-9502-DACC733A348C}"/>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211092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609BB26-D5DF-421E-A54E-217FA3740B5B}"/>
              </a:ext>
            </a:extLst>
          </p:cNvPr>
          <p:cNvSpPr>
            <a:spLocks noGrp="1"/>
          </p:cNvSpPr>
          <p:nvPr>
            <p:ph type="title"/>
          </p:nvPr>
        </p:nvSpPr>
        <p:spPr/>
        <p:txBody>
          <a:bodyPr/>
          <a:lstStyle/>
          <a:p>
            <a:r>
              <a:rPr lang="hu-HU"/>
              <a:t>Mintacím szerkesztése</a:t>
            </a:r>
            <a:endParaRPr lang="en-GB"/>
          </a:p>
        </p:txBody>
      </p:sp>
      <p:sp>
        <p:nvSpPr>
          <p:cNvPr id="3" name="Dátum helye 2">
            <a:extLst>
              <a:ext uri="{FF2B5EF4-FFF2-40B4-BE49-F238E27FC236}">
                <a16:creationId xmlns:a16="http://schemas.microsoft.com/office/drawing/2014/main" id="{615898A9-D67A-48A8-9366-453E3C735CF7}"/>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4" name="Élőláb helye 3">
            <a:extLst>
              <a:ext uri="{FF2B5EF4-FFF2-40B4-BE49-F238E27FC236}">
                <a16:creationId xmlns:a16="http://schemas.microsoft.com/office/drawing/2014/main" id="{4BD7A735-D656-42A9-8B6F-8C02A75CE6C4}"/>
              </a:ext>
            </a:extLst>
          </p:cNvPr>
          <p:cNvSpPr>
            <a:spLocks noGrp="1"/>
          </p:cNvSpPr>
          <p:nvPr>
            <p:ph type="ftr" sz="quarter" idx="11"/>
          </p:nvPr>
        </p:nvSpPr>
        <p:spPr/>
        <p:txBody>
          <a:bodyPr/>
          <a:lstStyle/>
          <a:p>
            <a:endParaRPr lang="en-GB"/>
          </a:p>
        </p:txBody>
      </p:sp>
      <p:sp>
        <p:nvSpPr>
          <p:cNvPr id="5" name="Dia számának helye 4">
            <a:extLst>
              <a:ext uri="{FF2B5EF4-FFF2-40B4-BE49-F238E27FC236}">
                <a16:creationId xmlns:a16="http://schemas.microsoft.com/office/drawing/2014/main" id="{0948B1C0-DE8A-49FE-9083-53EFCD40D2BB}"/>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411427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C1A5C7F0-7971-4AEB-A9E9-C120CC8025D0}"/>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3" name="Élőláb helye 2">
            <a:extLst>
              <a:ext uri="{FF2B5EF4-FFF2-40B4-BE49-F238E27FC236}">
                <a16:creationId xmlns:a16="http://schemas.microsoft.com/office/drawing/2014/main" id="{5EEE1D88-7498-48C6-AE68-1BBC84C11B24}"/>
              </a:ext>
            </a:extLst>
          </p:cNvPr>
          <p:cNvSpPr>
            <a:spLocks noGrp="1"/>
          </p:cNvSpPr>
          <p:nvPr>
            <p:ph type="ftr" sz="quarter" idx="11"/>
          </p:nvPr>
        </p:nvSpPr>
        <p:spPr/>
        <p:txBody>
          <a:bodyPr/>
          <a:lstStyle/>
          <a:p>
            <a:endParaRPr lang="en-GB"/>
          </a:p>
        </p:txBody>
      </p:sp>
      <p:sp>
        <p:nvSpPr>
          <p:cNvPr id="4" name="Dia számának helye 3">
            <a:extLst>
              <a:ext uri="{FF2B5EF4-FFF2-40B4-BE49-F238E27FC236}">
                <a16:creationId xmlns:a16="http://schemas.microsoft.com/office/drawing/2014/main" id="{0F3451B7-FB39-4ADE-A75D-1117B736863B}"/>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3136758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1578000-1011-4959-B017-1D54B340C671}"/>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endParaRPr lang="en-GB"/>
          </a:p>
        </p:txBody>
      </p:sp>
      <p:sp>
        <p:nvSpPr>
          <p:cNvPr id="3" name="Tartalom helye 2">
            <a:extLst>
              <a:ext uri="{FF2B5EF4-FFF2-40B4-BE49-F238E27FC236}">
                <a16:creationId xmlns:a16="http://schemas.microsoft.com/office/drawing/2014/main" id="{946E5565-36C8-4118-AE5A-16538BB527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Szöveg helye 3">
            <a:extLst>
              <a:ext uri="{FF2B5EF4-FFF2-40B4-BE49-F238E27FC236}">
                <a16:creationId xmlns:a16="http://schemas.microsoft.com/office/drawing/2014/main" id="{37833CE3-043D-412F-A66C-1C137EEEB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E73BD688-97BC-4A1A-A422-4C19C1DFC73C}"/>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6" name="Élőláb helye 5">
            <a:extLst>
              <a:ext uri="{FF2B5EF4-FFF2-40B4-BE49-F238E27FC236}">
                <a16:creationId xmlns:a16="http://schemas.microsoft.com/office/drawing/2014/main" id="{AE76CE1D-6323-4986-BEB6-5569AE8A7167}"/>
              </a:ext>
            </a:extLst>
          </p:cNvPr>
          <p:cNvSpPr>
            <a:spLocks noGrp="1"/>
          </p:cNvSpPr>
          <p:nvPr>
            <p:ph type="ftr" sz="quarter" idx="11"/>
          </p:nvPr>
        </p:nvSpPr>
        <p:spPr/>
        <p:txBody>
          <a:bodyPr/>
          <a:lstStyle/>
          <a:p>
            <a:endParaRPr lang="en-GB"/>
          </a:p>
        </p:txBody>
      </p:sp>
      <p:sp>
        <p:nvSpPr>
          <p:cNvPr id="7" name="Dia számának helye 6">
            <a:extLst>
              <a:ext uri="{FF2B5EF4-FFF2-40B4-BE49-F238E27FC236}">
                <a16:creationId xmlns:a16="http://schemas.microsoft.com/office/drawing/2014/main" id="{FBEAB132-0BB6-44AB-9FAC-FE0D353E58DB}"/>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195731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696496E-4843-46A3-9743-F5DD151F56C2}"/>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endParaRPr lang="en-GB"/>
          </a:p>
        </p:txBody>
      </p:sp>
      <p:sp>
        <p:nvSpPr>
          <p:cNvPr id="3" name="Kép helye 2">
            <a:extLst>
              <a:ext uri="{FF2B5EF4-FFF2-40B4-BE49-F238E27FC236}">
                <a16:creationId xmlns:a16="http://schemas.microsoft.com/office/drawing/2014/main" id="{0BD7172A-0B5F-4050-906A-C4CB3A7068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zöveg helye 3">
            <a:extLst>
              <a:ext uri="{FF2B5EF4-FFF2-40B4-BE49-F238E27FC236}">
                <a16:creationId xmlns:a16="http://schemas.microsoft.com/office/drawing/2014/main" id="{2CC32CA0-88C9-4B01-B2E9-E16FF798BF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B479331B-29A3-4013-9D59-D79D9DC61348}"/>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6" name="Élőláb helye 5">
            <a:extLst>
              <a:ext uri="{FF2B5EF4-FFF2-40B4-BE49-F238E27FC236}">
                <a16:creationId xmlns:a16="http://schemas.microsoft.com/office/drawing/2014/main" id="{15A84EE5-68B7-427E-86C1-BB292D5D6609}"/>
              </a:ext>
            </a:extLst>
          </p:cNvPr>
          <p:cNvSpPr>
            <a:spLocks noGrp="1"/>
          </p:cNvSpPr>
          <p:nvPr>
            <p:ph type="ftr" sz="quarter" idx="11"/>
          </p:nvPr>
        </p:nvSpPr>
        <p:spPr/>
        <p:txBody>
          <a:bodyPr/>
          <a:lstStyle/>
          <a:p>
            <a:endParaRPr lang="en-GB"/>
          </a:p>
        </p:txBody>
      </p:sp>
      <p:sp>
        <p:nvSpPr>
          <p:cNvPr id="7" name="Dia számának helye 6">
            <a:extLst>
              <a:ext uri="{FF2B5EF4-FFF2-40B4-BE49-F238E27FC236}">
                <a16:creationId xmlns:a16="http://schemas.microsoft.com/office/drawing/2014/main" id="{27CDFECA-6349-4930-8882-0C5067190340}"/>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394102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C16AD27-6016-4FBC-979E-B4F04134C3D5}"/>
              </a:ext>
            </a:extLst>
          </p:cNvPr>
          <p:cNvSpPr>
            <a:spLocks noGrp="1"/>
          </p:cNvSpPr>
          <p:nvPr>
            <p:ph type="title"/>
          </p:nvPr>
        </p:nvSpPr>
        <p:spPr/>
        <p:txBody>
          <a:bodyPr/>
          <a:lstStyle/>
          <a:p>
            <a:r>
              <a:rPr lang="hu-HU"/>
              <a:t>Mintacím szerkesztése</a:t>
            </a:r>
            <a:endParaRPr lang="en-GB"/>
          </a:p>
        </p:txBody>
      </p:sp>
      <p:sp>
        <p:nvSpPr>
          <p:cNvPr id="3" name="Függőleges szöveg helye 2">
            <a:extLst>
              <a:ext uri="{FF2B5EF4-FFF2-40B4-BE49-F238E27FC236}">
                <a16:creationId xmlns:a16="http://schemas.microsoft.com/office/drawing/2014/main" id="{E7DCC0F7-D6A7-4FD2-ADEF-D32E96BB355C}"/>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Dátum helye 3">
            <a:extLst>
              <a:ext uri="{FF2B5EF4-FFF2-40B4-BE49-F238E27FC236}">
                <a16:creationId xmlns:a16="http://schemas.microsoft.com/office/drawing/2014/main" id="{93550CAB-327E-4439-ACAB-A1849146C19F}"/>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3290F67C-535F-4308-89F7-361203DDCBAA}"/>
              </a:ext>
            </a:extLst>
          </p:cNvPr>
          <p:cNvSpPr>
            <a:spLocks noGrp="1"/>
          </p:cNvSpPr>
          <p:nvPr>
            <p:ph type="ftr" sz="quarter" idx="11"/>
          </p:nvPr>
        </p:nvSpPr>
        <p:spPr/>
        <p:txBody>
          <a:bodyPr/>
          <a:lstStyle/>
          <a:p>
            <a:endParaRPr lang="en-GB"/>
          </a:p>
        </p:txBody>
      </p:sp>
      <p:sp>
        <p:nvSpPr>
          <p:cNvPr id="6" name="Dia számának helye 5">
            <a:extLst>
              <a:ext uri="{FF2B5EF4-FFF2-40B4-BE49-F238E27FC236}">
                <a16:creationId xmlns:a16="http://schemas.microsoft.com/office/drawing/2014/main" id="{4995C675-FDCA-48FD-AE98-8550FA669146}"/>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48692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DF52744A-5362-4413-8B7B-7D7F9A209E22}"/>
              </a:ext>
            </a:extLst>
          </p:cNvPr>
          <p:cNvSpPr>
            <a:spLocks noGrp="1"/>
          </p:cNvSpPr>
          <p:nvPr>
            <p:ph type="title" orient="vert"/>
          </p:nvPr>
        </p:nvSpPr>
        <p:spPr>
          <a:xfrm>
            <a:off x="8724900" y="365125"/>
            <a:ext cx="2628900" cy="5811838"/>
          </a:xfrm>
        </p:spPr>
        <p:txBody>
          <a:bodyPr vert="eaVert"/>
          <a:lstStyle/>
          <a:p>
            <a:r>
              <a:rPr lang="hu-HU"/>
              <a:t>Mintacím szerkesztése</a:t>
            </a:r>
            <a:endParaRPr lang="en-GB"/>
          </a:p>
        </p:txBody>
      </p:sp>
      <p:sp>
        <p:nvSpPr>
          <p:cNvPr id="3" name="Függőleges szöveg helye 2">
            <a:extLst>
              <a:ext uri="{FF2B5EF4-FFF2-40B4-BE49-F238E27FC236}">
                <a16:creationId xmlns:a16="http://schemas.microsoft.com/office/drawing/2014/main" id="{F7999D93-61C3-483B-8A80-C4C084C5D832}"/>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Dátum helye 3">
            <a:extLst>
              <a:ext uri="{FF2B5EF4-FFF2-40B4-BE49-F238E27FC236}">
                <a16:creationId xmlns:a16="http://schemas.microsoft.com/office/drawing/2014/main" id="{24D8F341-BD14-403C-A28E-30B1BF2A3DFB}"/>
              </a:ext>
            </a:extLst>
          </p:cNvPr>
          <p:cNvSpPr>
            <a:spLocks noGrp="1"/>
          </p:cNvSpPr>
          <p:nvPr>
            <p:ph type="dt" sz="half" idx="10"/>
          </p:nvPr>
        </p:nvSpPr>
        <p:spPr/>
        <p:txBody>
          <a:body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723F5622-1754-4F7C-BC7B-00D9A940D5B9}"/>
              </a:ext>
            </a:extLst>
          </p:cNvPr>
          <p:cNvSpPr>
            <a:spLocks noGrp="1"/>
          </p:cNvSpPr>
          <p:nvPr>
            <p:ph type="ftr" sz="quarter" idx="11"/>
          </p:nvPr>
        </p:nvSpPr>
        <p:spPr/>
        <p:txBody>
          <a:bodyPr/>
          <a:lstStyle/>
          <a:p>
            <a:endParaRPr lang="en-GB"/>
          </a:p>
        </p:txBody>
      </p:sp>
      <p:sp>
        <p:nvSpPr>
          <p:cNvPr id="6" name="Dia számának helye 5">
            <a:extLst>
              <a:ext uri="{FF2B5EF4-FFF2-40B4-BE49-F238E27FC236}">
                <a16:creationId xmlns:a16="http://schemas.microsoft.com/office/drawing/2014/main" id="{3CA95690-1EEC-45D2-97E9-5A7BD3F79795}"/>
              </a:ext>
            </a:extLst>
          </p:cNvPr>
          <p:cNvSpPr>
            <a:spLocks noGrp="1"/>
          </p:cNvSpPr>
          <p:nvPr>
            <p:ph type="sldNum" sz="quarter" idx="12"/>
          </p:nvPr>
        </p:nvSpPr>
        <p:spPr/>
        <p:txBody>
          <a:bodyPr/>
          <a:lstStyle/>
          <a:p>
            <a:fld id="{5267640F-5A2F-4C22-8AB8-FB2CA2970FB4}" type="slidenum">
              <a:rPr lang="en-GB" smtClean="0"/>
              <a:t>‹#›</a:t>
            </a:fld>
            <a:endParaRPr lang="en-GB"/>
          </a:p>
        </p:txBody>
      </p:sp>
    </p:spTree>
    <p:extLst>
      <p:ext uri="{BB962C8B-B14F-4D97-AF65-F5344CB8AC3E}">
        <p14:creationId xmlns:p14="http://schemas.microsoft.com/office/powerpoint/2010/main" val="20433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088F4586-F808-4D6C-A47A-57AC20DD3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endParaRPr lang="en-GB"/>
          </a:p>
        </p:txBody>
      </p:sp>
      <p:sp>
        <p:nvSpPr>
          <p:cNvPr id="3" name="Szöveg helye 2">
            <a:extLst>
              <a:ext uri="{FF2B5EF4-FFF2-40B4-BE49-F238E27FC236}">
                <a16:creationId xmlns:a16="http://schemas.microsoft.com/office/drawing/2014/main" id="{301812B1-7B61-42EB-A3BA-1C7BC3148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4" name="Dátum helye 3">
            <a:extLst>
              <a:ext uri="{FF2B5EF4-FFF2-40B4-BE49-F238E27FC236}">
                <a16:creationId xmlns:a16="http://schemas.microsoft.com/office/drawing/2014/main" id="{C77E5D8E-7445-4A29-8E1D-4F2EE5B50A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6E977E-596E-44B9-9E0A-1F539CA0CD55}" type="datetimeFigureOut">
              <a:rPr lang="en-GB" smtClean="0"/>
              <a:t>04/01/2022</a:t>
            </a:fld>
            <a:endParaRPr lang="en-GB"/>
          </a:p>
        </p:txBody>
      </p:sp>
      <p:sp>
        <p:nvSpPr>
          <p:cNvPr id="5" name="Élőláb helye 4">
            <a:extLst>
              <a:ext uri="{FF2B5EF4-FFF2-40B4-BE49-F238E27FC236}">
                <a16:creationId xmlns:a16="http://schemas.microsoft.com/office/drawing/2014/main" id="{184B8AFD-E398-40C8-A4D1-3F7091C25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Dia számának helye 5">
            <a:extLst>
              <a:ext uri="{FF2B5EF4-FFF2-40B4-BE49-F238E27FC236}">
                <a16:creationId xmlns:a16="http://schemas.microsoft.com/office/drawing/2014/main" id="{54ED302F-B930-48A3-9795-60FBD1D91B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67640F-5A2F-4C22-8AB8-FB2CA2970FB4}" type="slidenum">
              <a:rPr lang="en-GB" smtClean="0"/>
              <a:t>‹#›</a:t>
            </a:fld>
            <a:endParaRPr lang="en-GB"/>
          </a:p>
        </p:txBody>
      </p:sp>
    </p:spTree>
    <p:extLst>
      <p:ext uri="{BB962C8B-B14F-4D97-AF65-F5344CB8AC3E}">
        <p14:creationId xmlns:p14="http://schemas.microsoft.com/office/powerpoint/2010/main" val="2162529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5E9D6AB-E4DE-4A9D-9D01-C3A6B7E9C26B}"/>
              </a:ext>
            </a:extLst>
          </p:cNvPr>
          <p:cNvSpPr>
            <a:spLocks noGrp="1"/>
          </p:cNvSpPr>
          <p:nvPr>
            <p:ph type="ctrTitle"/>
          </p:nvPr>
        </p:nvSpPr>
        <p:spPr>
          <a:xfrm>
            <a:off x="1524000" y="-201340"/>
            <a:ext cx="9144000" cy="2387600"/>
          </a:xfrm>
        </p:spPr>
        <p:txBody>
          <a:bodyPr>
            <a:normAutofit/>
          </a:bodyPr>
          <a:lstStyle/>
          <a:p>
            <a:r>
              <a:rPr lang="en-US" dirty="0" err="1"/>
              <a:t>Érdekes</a:t>
            </a:r>
            <a:r>
              <a:rPr lang="en-US" dirty="0"/>
              <a:t>… </a:t>
            </a:r>
            <a:r>
              <a:rPr lang="en-US" dirty="0" err="1"/>
              <a:t>Informatikai</a:t>
            </a:r>
            <a:r>
              <a:rPr lang="en-US" dirty="0"/>
              <a:t> KFT.</a:t>
            </a:r>
            <a:br>
              <a:rPr lang="en-GB" dirty="0"/>
            </a:br>
            <a:endParaRPr lang="en-GB" sz="2000" dirty="0"/>
          </a:p>
        </p:txBody>
      </p:sp>
      <p:sp>
        <p:nvSpPr>
          <p:cNvPr id="3" name="Alcím 2">
            <a:extLst>
              <a:ext uri="{FF2B5EF4-FFF2-40B4-BE49-F238E27FC236}">
                <a16:creationId xmlns:a16="http://schemas.microsoft.com/office/drawing/2014/main" id="{47AB87B1-3849-43B2-B310-E7DD4941CEC7}"/>
              </a:ext>
            </a:extLst>
          </p:cNvPr>
          <p:cNvSpPr>
            <a:spLocks noGrp="1"/>
          </p:cNvSpPr>
          <p:nvPr>
            <p:ph type="subTitle" idx="1"/>
          </p:nvPr>
        </p:nvSpPr>
        <p:spPr>
          <a:xfrm>
            <a:off x="2015669" y="3656122"/>
            <a:ext cx="10890913" cy="2812410"/>
          </a:xfrm>
        </p:spPr>
        <p:txBody>
          <a:bodyPr>
            <a:normAutofit fontScale="70000" lnSpcReduction="20000"/>
          </a:bodyPr>
          <a:lstStyle/>
          <a:p>
            <a:pPr algn="l"/>
            <a:r>
              <a:rPr lang="en-US" b="1" dirty="0" err="1"/>
              <a:t>Cégnév</a:t>
            </a:r>
            <a:r>
              <a:rPr lang="en-US" b="1" dirty="0"/>
              <a:t>:</a:t>
            </a:r>
            <a:r>
              <a:rPr lang="hu-HU" b="1" dirty="0"/>
              <a:t>			</a:t>
            </a:r>
            <a:r>
              <a:rPr lang="en-US" dirty="0" err="1"/>
              <a:t>Érdekes</a:t>
            </a:r>
            <a:r>
              <a:rPr lang="en-US" dirty="0"/>
              <a:t>… </a:t>
            </a:r>
            <a:r>
              <a:rPr lang="en-US" dirty="0" err="1"/>
              <a:t>Informatikai</a:t>
            </a:r>
            <a:r>
              <a:rPr lang="en-US" dirty="0"/>
              <a:t> </a:t>
            </a:r>
            <a:r>
              <a:rPr lang="en-US" dirty="0" err="1"/>
              <a:t>Korlátolt</a:t>
            </a:r>
            <a:r>
              <a:rPr lang="en-US" dirty="0"/>
              <a:t> </a:t>
            </a:r>
            <a:r>
              <a:rPr lang="en-US" dirty="0" err="1"/>
              <a:t>Felelősségű</a:t>
            </a:r>
            <a:r>
              <a:rPr lang="en-US" dirty="0"/>
              <a:t> </a:t>
            </a:r>
            <a:r>
              <a:rPr lang="en-US" dirty="0" err="1"/>
              <a:t>Társaság</a:t>
            </a:r>
            <a:endParaRPr lang="hu-HU" dirty="0"/>
          </a:p>
          <a:p>
            <a:pPr algn="l"/>
            <a:r>
              <a:rPr lang="hu-HU" b="1" dirty="0"/>
              <a:t>Székhely/telephely:		</a:t>
            </a:r>
            <a:r>
              <a:rPr lang="hu-HU" dirty="0"/>
              <a:t>Budapest, Victor Hugo u. 18-22, 1132</a:t>
            </a:r>
            <a:endParaRPr lang="en-GB" dirty="0"/>
          </a:p>
          <a:p>
            <a:pPr algn="l"/>
            <a:r>
              <a:rPr lang="hu-HU" b="1" dirty="0"/>
              <a:t>Működés kezdete:		</a:t>
            </a:r>
            <a:r>
              <a:rPr lang="hu-HU" dirty="0"/>
              <a:t>2018. szeptember 30.</a:t>
            </a:r>
            <a:endParaRPr lang="en-GB" dirty="0"/>
          </a:p>
          <a:p>
            <a:pPr algn="l"/>
            <a:r>
              <a:rPr lang="hu-HU" b="1" dirty="0"/>
              <a:t>Jegyzett tőke:		</a:t>
            </a:r>
            <a:r>
              <a:rPr lang="hu-HU" dirty="0"/>
              <a:t>19.500.000.- Ft</a:t>
            </a:r>
            <a:endParaRPr lang="en-GB" dirty="0"/>
          </a:p>
          <a:p>
            <a:pPr algn="l"/>
            <a:r>
              <a:rPr lang="hu-HU" b="1" dirty="0"/>
              <a:t>Tulajdonosok:		</a:t>
            </a:r>
            <a:r>
              <a:rPr lang="hu-HU" dirty="0"/>
              <a:t>Szász Csaba</a:t>
            </a:r>
            <a:endParaRPr lang="en-GB" dirty="0"/>
          </a:p>
          <a:p>
            <a:pPr algn="l"/>
            <a:r>
              <a:rPr lang="hu-HU" dirty="0"/>
              <a:t>			</a:t>
            </a:r>
            <a:r>
              <a:rPr lang="hu-HU" dirty="0" err="1"/>
              <a:t>Szilléry</a:t>
            </a:r>
            <a:r>
              <a:rPr lang="hu-HU" dirty="0"/>
              <a:t> Szabolcs</a:t>
            </a:r>
            <a:endParaRPr lang="en-GB" dirty="0"/>
          </a:p>
          <a:p>
            <a:pPr algn="l"/>
            <a:r>
              <a:rPr lang="hu-HU" dirty="0"/>
              <a:t>			</a:t>
            </a:r>
            <a:r>
              <a:rPr lang="hu-HU" dirty="0" err="1"/>
              <a:t>Pótz</a:t>
            </a:r>
            <a:r>
              <a:rPr lang="hu-HU" dirty="0"/>
              <a:t>-Nagy Ábel</a:t>
            </a:r>
            <a:endParaRPr lang="en-GB" dirty="0"/>
          </a:p>
          <a:p>
            <a:pPr algn="l"/>
            <a:r>
              <a:rPr lang="hu-HU" dirty="0"/>
              <a:t>			Petz Dávid</a:t>
            </a:r>
            <a:endParaRPr lang="en-GB" dirty="0"/>
          </a:p>
          <a:p>
            <a:pPr algn="l"/>
            <a:r>
              <a:rPr lang="hu-HU" b="1" dirty="0"/>
              <a:t>Tevékenységi kör:		</a:t>
            </a:r>
            <a:r>
              <a:rPr lang="hu-HU" dirty="0"/>
              <a:t>Számítógép szerelés, üzemeltetés, továbbképzések tartása</a:t>
            </a:r>
            <a:endParaRPr lang="en-GB" dirty="0"/>
          </a:p>
          <a:p>
            <a:endParaRPr lang="en-GB" dirty="0"/>
          </a:p>
        </p:txBody>
      </p:sp>
      <p:pic>
        <p:nvPicPr>
          <p:cNvPr id="8" name="Kép 7">
            <a:extLst>
              <a:ext uri="{FF2B5EF4-FFF2-40B4-BE49-F238E27FC236}">
                <a16:creationId xmlns:a16="http://schemas.microsoft.com/office/drawing/2014/main" id="{A8BE72ED-C2B2-46E3-B1A1-8D2970658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89503">
            <a:off x="8321949" y="1790409"/>
            <a:ext cx="2510363" cy="1506218"/>
          </a:xfrm>
          <a:prstGeom prst="rect">
            <a:avLst/>
          </a:prstGeom>
        </p:spPr>
      </p:pic>
    </p:spTree>
    <p:extLst>
      <p:ext uri="{BB962C8B-B14F-4D97-AF65-F5344CB8AC3E}">
        <p14:creationId xmlns:p14="http://schemas.microsoft.com/office/powerpoint/2010/main" val="40691315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8" dur="500"/>
                                        <p:tgtEl>
                                          <p:spTgt spid="3">
                                            <p:txEl>
                                              <p:pRg st="0" end="0"/>
                                            </p:txEl>
                                          </p:spTgt>
                                        </p:tgtEl>
                                      </p:cBhvr>
                                    </p:animEffect>
                                  </p:childTnLst>
                                </p:cTn>
                              </p:par>
                            </p:childTnLst>
                          </p:cTn>
                        </p:par>
                        <p:par>
                          <p:cTn id="19" fill="hold">
                            <p:stCondLst>
                              <p:cond delay="500"/>
                            </p:stCondLst>
                            <p:childTnLst>
                              <p:par>
                                <p:cTn id="20" presetID="14" presetClass="entr" presetSubtype="10" fill="hold" grpId="0" nodeType="after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2" dur="500"/>
                                        <p:tgtEl>
                                          <p:spTgt spid="3">
                                            <p:txEl>
                                              <p:pRg st="1" end="1"/>
                                            </p:txEl>
                                          </p:spTgt>
                                        </p:tgtEl>
                                      </p:cBhvr>
                                    </p:animEffect>
                                  </p:childTnLst>
                                </p:cTn>
                              </p:par>
                            </p:childTnLst>
                          </p:cTn>
                        </p:par>
                        <p:par>
                          <p:cTn id="23" fill="hold">
                            <p:stCondLst>
                              <p:cond delay="1000"/>
                            </p:stCondLst>
                            <p:childTnLst>
                              <p:par>
                                <p:cTn id="24" presetID="14" presetClass="entr" presetSubtype="10" fill="hold" grpId="0" nodeType="after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6" dur="500"/>
                                        <p:tgtEl>
                                          <p:spTgt spid="3">
                                            <p:txEl>
                                              <p:pRg st="2" end="2"/>
                                            </p:txEl>
                                          </p:spTgt>
                                        </p:tgtEl>
                                      </p:cBhvr>
                                    </p:animEffect>
                                  </p:childTnLst>
                                </p:cTn>
                              </p:par>
                            </p:childTnLst>
                          </p:cTn>
                        </p:par>
                        <p:par>
                          <p:cTn id="27" fill="hold">
                            <p:stCondLst>
                              <p:cond delay="1500"/>
                            </p:stCondLst>
                            <p:childTnLst>
                              <p:par>
                                <p:cTn id="28" presetID="14" presetClass="entr" presetSubtype="10" fill="hold" grpId="0" nodeType="after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30" dur="500"/>
                                        <p:tgtEl>
                                          <p:spTgt spid="3">
                                            <p:txEl>
                                              <p:pRg st="3" end="3"/>
                                            </p:txEl>
                                          </p:spTgt>
                                        </p:tgtEl>
                                      </p:cBhvr>
                                    </p:animEffect>
                                  </p:childTnLst>
                                </p:cTn>
                              </p:par>
                            </p:childTnLst>
                          </p:cTn>
                        </p:par>
                        <p:par>
                          <p:cTn id="31" fill="hold">
                            <p:stCondLst>
                              <p:cond delay="2000"/>
                            </p:stCondLst>
                            <p:childTnLst>
                              <p:par>
                                <p:cTn id="32" presetID="14" presetClass="entr" presetSubtype="10" fill="hold" grpId="0" nodeType="after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4" dur="500"/>
                                        <p:tgtEl>
                                          <p:spTgt spid="3">
                                            <p:txEl>
                                              <p:pRg st="4" end="4"/>
                                            </p:txEl>
                                          </p:spTgt>
                                        </p:tgtEl>
                                      </p:cBhvr>
                                    </p:animEffect>
                                  </p:childTnLst>
                                </p:cTn>
                              </p:par>
                            </p:childTnLst>
                          </p:cTn>
                        </p:par>
                        <p:par>
                          <p:cTn id="35" fill="hold">
                            <p:stCondLst>
                              <p:cond delay="2500"/>
                            </p:stCondLst>
                            <p:childTnLst>
                              <p:par>
                                <p:cTn id="36" presetID="14" presetClass="entr" presetSubtype="10" fill="hold" grpId="0" nodeType="after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8" dur="500"/>
                                        <p:tgtEl>
                                          <p:spTgt spid="3">
                                            <p:txEl>
                                              <p:pRg st="5" end="5"/>
                                            </p:txEl>
                                          </p:spTgt>
                                        </p:tgtEl>
                                      </p:cBhvr>
                                    </p:animEffect>
                                  </p:childTnLst>
                                </p:cTn>
                              </p:par>
                            </p:childTnLst>
                          </p:cTn>
                        </p:par>
                        <p:par>
                          <p:cTn id="39" fill="hold">
                            <p:stCondLst>
                              <p:cond delay="3000"/>
                            </p:stCondLst>
                            <p:childTnLst>
                              <p:par>
                                <p:cTn id="40" presetID="14" presetClass="entr" presetSubtype="10" fill="hold" grpId="0" nodeType="after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42" dur="500"/>
                                        <p:tgtEl>
                                          <p:spTgt spid="3">
                                            <p:txEl>
                                              <p:pRg st="6" end="6"/>
                                            </p:txEl>
                                          </p:spTgt>
                                        </p:tgtEl>
                                      </p:cBhvr>
                                    </p:animEffect>
                                  </p:childTnLst>
                                </p:cTn>
                              </p:par>
                            </p:childTnLst>
                          </p:cTn>
                        </p:par>
                        <p:par>
                          <p:cTn id="43" fill="hold">
                            <p:stCondLst>
                              <p:cond delay="3500"/>
                            </p:stCondLst>
                            <p:childTnLst>
                              <p:par>
                                <p:cTn id="44" presetID="14" presetClass="entr" presetSubtype="10" fill="hold" grpId="0" nodeType="after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6" dur="500"/>
                                        <p:tgtEl>
                                          <p:spTgt spid="3">
                                            <p:txEl>
                                              <p:pRg st="7" end="7"/>
                                            </p:txEl>
                                          </p:spTgt>
                                        </p:tgtEl>
                                      </p:cBhvr>
                                    </p:animEffect>
                                  </p:childTnLst>
                                </p:cTn>
                              </p:par>
                            </p:childTnLst>
                          </p:cTn>
                        </p:par>
                        <p:par>
                          <p:cTn id="47" fill="hold">
                            <p:stCondLst>
                              <p:cond delay="4000"/>
                            </p:stCondLst>
                            <p:childTnLst>
                              <p:par>
                                <p:cTn id="48" presetID="14" presetClass="entr" presetSubtype="10" fill="hold" grpId="0" nodeType="after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rot="21072144">
            <a:off x="379563" y="5226155"/>
            <a:ext cx="8560526" cy="1635713"/>
          </a:xfrm>
        </p:spPr>
        <p:txBody>
          <a:bodyPr>
            <a:normAutofit/>
          </a:bodyPr>
          <a:lstStyle/>
          <a:p>
            <a:pPr algn="just"/>
            <a:r>
              <a:rPr lang="hu-HU" sz="1800" dirty="0"/>
              <a:t>Nagyon rugalmasak vagyunk, ez azt jelenti, hogy bármiféle óhaj, sóhajt meghallgatunk, majd a mérlegelés után adunk rá egy választ. Nagyon magasan képzett szakemberekkel dolgozunk, legyen szó a gépek felújításáról vagy a hozzá szükséges hálózat kiépítésével. </a:t>
            </a:r>
            <a:endParaRPr lang="en-GB" sz="1800" dirty="0"/>
          </a:p>
        </p:txBody>
      </p:sp>
      <p:sp>
        <p:nvSpPr>
          <p:cNvPr id="7" name="Cím 6">
            <a:extLst>
              <a:ext uri="{FF2B5EF4-FFF2-40B4-BE49-F238E27FC236}">
                <a16:creationId xmlns:a16="http://schemas.microsoft.com/office/drawing/2014/main" id="{2F677020-C419-4FCA-9D9B-53BDCD65EB01}"/>
              </a:ext>
            </a:extLst>
          </p:cNvPr>
          <p:cNvSpPr>
            <a:spLocks noGrp="1"/>
          </p:cNvSpPr>
          <p:nvPr>
            <p:ph type="ctrTitle"/>
          </p:nvPr>
        </p:nvSpPr>
        <p:spPr>
          <a:xfrm>
            <a:off x="1524000" y="167942"/>
            <a:ext cx="9144000" cy="2387600"/>
          </a:xfrm>
        </p:spPr>
        <p:txBody>
          <a:bodyPr/>
          <a:lstStyle/>
          <a:p>
            <a:r>
              <a:rPr lang="hu-HU" b="1" dirty="0"/>
              <a:t>A cég tevékenysége:</a:t>
            </a:r>
            <a:br>
              <a:rPr lang="en-GB" dirty="0"/>
            </a:br>
            <a:endParaRPr lang="en-GB" dirty="0"/>
          </a:p>
        </p:txBody>
      </p:sp>
      <p:sp>
        <p:nvSpPr>
          <p:cNvPr id="11" name="Szövegdoboz 10">
            <a:extLst>
              <a:ext uri="{FF2B5EF4-FFF2-40B4-BE49-F238E27FC236}">
                <a16:creationId xmlns:a16="http://schemas.microsoft.com/office/drawing/2014/main" id="{7763F570-CC7E-4D91-838F-861EFEB89768}"/>
              </a:ext>
            </a:extLst>
          </p:cNvPr>
          <p:cNvSpPr txBox="1"/>
          <p:nvPr/>
        </p:nvSpPr>
        <p:spPr>
          <a:xfrm rot="21282194">
            <a:off x="400592" y="2435151"/>
            <a:ext cx="6635931" cy="646331"/>
          </a:xfrm>
          <a:prstGeom prst="rect">
            <a:avLst/>
          </a:prstGeom>
          <a:noFill/>
        </p:spPr>
        <p:txBody>
          <a:bodyPr wrap="square" rtlCol="0">
            <a:spAutoFit/>
          </a:bodyPr>
          <a:lstStyle/>
          <a:p>
            <a:r>
              <a:rPr lang="hu-HU" dirty="0"/>
              <a:t>Cégünk, az Érdekes... KFT. magas színvonalú géppark felújítás, illetve az ehhez szükséges hálózat megtervezésével, kiépítésével foglalkozik.</a:t>
            </a:r>
            <a:endParaRPr lang="en-GB" dirty="0"/>
          </a:p>
        </p:txBody>
      </p:sp>
      <p:sp>
        <p:nvSpPr>
          <p:cNvPr id="12" name="Szövegdoboz 11">
            <a:extLst>
              <a:ext uri="{FF2B5EF4-FFF2-40B4-BE49-F238E27FC236}">
                <a16:creationId xmlns:a16="http://schemas.microsoft.com/office/drawing/2014/main" id="{C067003B-DE37-41A4-AFB9-64840C2BC75D}"/>
              </a:ext>
            </a:extLst>
          </p:cNvPr>
          <p:cNvSpPr txBox="1"/>
          <p:nvPr/>
        </p:nvSpPr>
        <p:spPr>
          <a:xfrm rot="553509">
            <a:off x="5788292" y="3344415"/>
            <a:ext cx="6348549" cy="1200329"/>
          </a:xfrm>
          <a:prstGeom prst="rect">
            <a:avLst/>
          </a:prstGeom>
          <a:noFill/>
        </p:spPr>
        <p:txBody>
          <a:bodyPr wrap="square" rtlCol="0">
            <a:spAutoFit/>
          </a:bodyPr>
          <a:lstStyle/>
          <a:p>
            <a:r>
              <a:rPr lang="hu-HU" dirty="0"/>
              <a:t>Első opció, bizonyos alkatrészek kicserélése a meglévő gépekben. Második opció pedig a teljes géppark kicserélése, ehhez nyilván jár egy összerakott specifikációkból álló tervezet és a hozzá tartozó árajánlat, 50 számítógép felett 10%-os árengedményt ad a cégünk.</a:t>
            </a:r>
            <a:endParaRPr lang="en-GB" dirty="0"/>
          </a:p>
        </p:txBody>
      </p:sp>
      <p:pic>
        <p:nvPicPr>
          <p:cNvPr id="17" name="Kép 16">
            <a:extLst>
              <a:ext uri="{FF2B5EF4-FFF2-40B4-BE49-F238E27FC236}">
                <a16:creationId xmlns:a16="http://schemas.microsoft.com/office/drawing/2014/main" id="{64E64BF0-B6D6-4E6E-A7B8-E78193C71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3229" y="5604043"/>
            <a:ext cx="1008017" cy="1008017"/>
          </a:xfrm>
          <a:prstGeom prst="rect">
            <a:avLst/>
          </a:prstGeom>
        </p:spPr>
      </p:pic>
    </p:spTree>
    <p:extLst>
      <p:ext uri="{BB962C8B-B14F-4D97-AF65-F5344CB8AC3E}">
        <p14:creationId xmlns:p14="http://schemas.microsoft.com/office/powerpoint/2010/main" val="7475214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80">
                                          <p:stCondLst>
                                            <p:cond delay="0"/>
                                          </p:stCondLst>
                                        </p:cTn>
                                        <p:tgtEl>
                                          <p:spTgt spid="11"/>
                                        </p:tgtEl>
                                      </p:cBhvr>
                                    </p:animEffect>
                                    <p:anim calcmode="lin" valueType="num">
                                      <p:cBhvr>
                                        <p:cTn id="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3" dur="26">
                                          <p:stCondLst>
                                            <p:cond delay="650"/>
                                          </p:stCondLst>
                                        </p:cTn>
                                        <p:tgtEl>
                                          <p:spTgt spid="11"/>
                                        </p:tgtEl>
                                      </p:cBhvr>
                                      <p:to x="100000" y="60000"/>
                                    </p:animScale>
                                    <p:animScale>
                                      <p:cBhvr>
                                        <p:cTn id="14" dur="166" decel="50000">
                                          <p:stCondLst>
                                            <p:cond delay="676"/>
                                          </p:stCondLst>
                                        </p:cTn>
                                        <p:tgtEl>
                                          <p:spTgt spid="11"/>
                                        </p:tgtEl>
                                      </p:cBhvr>
                                      <p:to x="100000" y="100000"/>
                                    </p:animScale>
                                    <p:animScale>
                                      <p:cBhvr>
                                        <p:cTn id="15" dur="26">
                                          <p:stCondLst>
                                            <p:cond delay="1312"/>
                                          </p:stCondLst>
                                        </p:cTn>
                                        <p:tgtEl>
                                          <p:spTgt spid="11"/>
                                        </p:tgtEl>
                                      </p:cBhvr>
                                      <p:to x="100000" y="80000"/>
                                    </p:animScale>
                                    <p:animScale>
                                      <p:cBhvr>
                                        <p:cTn id="16" dur="166" decel="50000">
                                          <p:stCondLst>
                                            <p:cond delay="1338"/>
                                          </p:stCondLst>
                                        </p:cTn>
                                        <p:tgtEl>
                                          <p:spTgt spid="11"/>
                                        </p:tgtEl>
                                      </p:cBhvr>
                                      <p:to x="100000" y="100000"/>
                                    </p:animScale>
                                    <p:animScale>
                                      <p:cBhvr>
                                        <p:cTn id="17" dur="26">
                                          <p:stCondLst>
                                            <p:cond delay="1642"/>
                                          </p:stCondLst>
                                        </p:cTn>
                                        <p:tgtEl>
                                          <p:spTgt spid="11"/>
                                        </p:tgtEl>
                                      </p:cBhvr>
                                      <p:to x="100000" y="90000"/>
                                    </p:animScale>
                                    <p:animScale>
                                      <p:cBhvr>
                                        <p:cTn id="18" dur="166" decel="50000">
                                          <p:stCondLst>
                                            <p:cond delay="1668"/>
                                          </p:stCondLst>
                                        </p:cTn>
                                        <p:tgtEl>
                                          <p:spTgt spid="11"/>
                                        </p:tgtEl>
                                      </p:cBhvr>
                                      <p:to x="100000" y="100000"/>
                                    </p:animScale>
                                    <p:animScale>
                                      <p:cBhvr>
                                        <p:cTn id="19" dur="26">
                                          <p:stCondLst>
                                            <p:cond delay="1808"/>
                                          </p:stCondLst>
                                        </p:cTn>
                                        <p:tgtEl>
                                          <p:spTgt spid="11"/>
                                        </p:tgtEl>
                                      </p:cBhvr>
                                      <p:to x="100000" y="95000"/>
                                    </p:animScale>
                                    <p:animScale>
                                      <p:cBhvr>
                                        <p:cTn id="20" dur="166" decel="50000">
                                          <p:stCondLst>
                                            <p:cond delay="1834"/>
                                          </p:stCondLst>
                                        </p:cTn>
                                        <p:tgtEl>
                                          <p:spTgt spid="1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80">
                                          <p:stCondLst>
                                            <p:cond delay="0"/>
                                          </p:stCondLst>
                                        </p:cTn>
                                        <p:tgtEl>
                                          <p:spTgt spid="12"/>
                                        </p:tgtEl>
                                      </p:cBhvr>
                                    </p:animEffect>
                                    <p:anim calcmode="lin" valueType="num">
                                      <p:cBhvr>
                                        <p:cTn id="2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31" dur="26">
                                          <p:stCondLst>
                                            <p:cond delay="650"/>
                                          </p:stCondLst>
                                        </p:cTn>
                                        <p:tgtEl>
                                          <p:spTgt spid="12"/>
                                        </p:tgtEl>
                                      </p:cBhvr>
                                      <p:to x="100000" y="60000"/>
                                    </p:animScale>
                                    <p:animScale>
                                      <p:cBhvr>
                                        <p:cTn id="32" dur="166" decel="50000">
                                          <p:stCondLst>
                                            <p:cond delay="676"/>
                                          </p:stCondLst>
                                        </p:cTn>
                                        <p:tgtEl>
                                          <p:spTgt spid="12"/>
                                        </p:tgtEl>
                                      </p:cBhvr>
                                      <p:to x="100000" y="100000"/>
                                    </p:animScale>
                                    <p:animScale>
                                      <p:cBhvr>
                                        <p:cTn id="33" dur="26">
                                          <p:stCondLst>
                                            <p:cond delay="1312"/>
                                          </p:stCondLst>
                                        </p:cTn>
                                        <p:tgtEl>
                                          <p:spTgt spid="12"/>
                                        </p:tgtEl>
                                      </p:cBhvr>
                                      <p:to x="100000" y="80000"/>
                                    </p:animScale>
                                    <p:animScale>
                                      <p:cBhvr>
                                        <p:cTn id="34" dur="166" decel="50000">
                                          <p:stCondLst>
                                            <p:cond delay="1338"/>
                                          </p:stCondLst>
                                        </p:cTn>
                                        <p:tgtEl>
                                          <p:spTgt spid="12"/>
                                        </p:tgtEl>
                                      </p:cBhvr>
                                      <p:to x="100000" y="100000"/>
                                    </p:animScale>
                                    <p:animScale>
                                      <p:cBhvr>
                                        <p:cTn id="35" dur="26">
                                          <p:stCondLst>
                                            <p:cond delay="1642"/>
                                          </p:stCondLst>
                                        </p:cTn>
                                        <p:tgtEl>
                                          <p:spTgt spid="12"/>
                                        </p:tgtEl>
                                      </p:cBhvr>
                                      <p:to x="100000" y="90000"/>
                                    </p:animScale>
                                    <p:animScale>
                                      <p:cBhvr>
                                        <p:cTn id="36" dur="166" decel="50000">
                                          <p:stCondLst>
                                            <p:cond delay="1668"/>
                                          </p:stCondLst>
                                        </p:cTn>
                                        <p:tgtEl>
                                          <p:spTgt spid="12"/>
                                        </p:tgtEl>
                                      </p:cBhvr>
                                      <p:to x="100000" y="100000"/>
                                    </p:animScale>
                                    <p:animScale>
                                      <p:cBhvr>
                                        <p:cTn id="37" dur="26">
                                          <p:stCondLst>
                                            <p:cond delay="1808"/>
                                          </p:stCondLst>
                                        </p:cTn>
                                        <p:tgtEl>
                                          <p:spTgt spid="12"/>
                                        </p:tgtEl>
                                      </p:cBhvr>
                                      <p:to x="100000" y="95000"/>
                                    </p:animScale>
                                    <p:animScale>
                                      <p:cBhvr>
                                        <p:cTn id="38" dur="166" decel="50000">
                                          <p:stCondLst>
                                            <p:cond delay="1834"/>
                                          </p:stCondLst>
                                        </p:cTn>
                                        <p:tgtEl>
                                          <p:spTgt spid="1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animEffect transition="in" filter="wipe(down)">
                                      <p:cBhvr>
                                        <p:cTn id="43" dur="580">
                                          <p:stCondLst>
                                            <p:cond delay="0"/>
                                          </p:stCondLst>
                                        </p:cTn>
                                        <p:tgtEl>
                                          <p:spTgt spid="5">
                                            <p:txEl>
                                              <p:pRg st="0" end="0"/>
                                            </p:txEl>
                                          </p:spTgt>
                                        </p:tgtEl>
                                      </p:cBhvr>
                                    </p:animEffect>
                                    <p:anim calcmode="lin" valueType="num">
                                      <p:cBhvr>
                                        <p:cTn id="44"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5">
                                            <p:txEl>
                                              <p:pRg st="0" end="0"/>
                                            </p:txEl>
                                          </p:spTgt>
                                        </p:tgtEl>
                                      </p:cBhvr>
                                      <p:to x="100000" y="60000"/>
                                    </p:animScale>
                                    <p:animScale>
                                      <p:cBhvr>
                                        <p:cTn id="50" dur="166" decel="50000">
                                          <p:stCondLst>
                                            <p:cond delay="676"/>
                                          </p:stCondLst>
                                        </p:cTn>
                                        <p:tgtEl>
                                          <p:spTgt spid="5">
                                            <p:txEl>
                                              <p:pRg st="0" end="0"/>
                                            </p:txEl>
                                          </p:spTgt>
                                        </p:tgtEl>
                                      </p:cBhvr>
                                      <p:to x="100000" y="100000"/>
                                    </p:animScale>
                                    <p:animScale>
                                      <p:cBhvr>
                                        <p:cTn id="51" dur="26">
                                          <p:stCondLst>
                                            <p:cond delay="1312"/>
                                          </p:stCondLst>
                                        </p:cTn>
                                        <p:tgtEl>
                                          <p:spTgt spid="5">
                                            <p:txEl>
                                              <p:pRg st="0" end="0"/>
                                            </p:txEl>
                                          </p:spTgt>
                                        </p:tgtEl>
                                      </p:cBhvr>
                                      <p:to x="100000" y="80000"/>
                                    </p:animScale>
                                    <p:animScale>
                                      <p:cBhvr>
                                        <p:cTn id="52" dur="166" decel="50000">
                                          <p:stCondLst>
                                            <p:cond delay="1338"/>
                                          </p:stCondLst>
                                        </p:cTn>
                                        <p:tgtEl>
                                          <p:spTgt spid="5">
                                            <p:txEl>
                                              <p:pRg st="0" end="0"/>
                                            </p:txEl>
                                          </p:spTgt>
                                        </p:tgtEl>
                                      </p:cBhvr>
                                      <p:to x="100000" y="100000"/>
                                    </p:animScale>
                                    <p:animScale>
                                      <p:cBhvr>
                                        <p:cTn id="53" dur="26">
                                          <p:stCondLst>
                                            <p:cond delay="1642"/>
                                          </p:stCondLst>
                                        </p:cTn>
                                        <p:tgtEl>
                                          <p:spTgt spid="5">
                                            <p:txEl>
                                              <p:pRg st="0" end="0"/>
                                            </p:txEl>
                                          </p:spTgt>
                                        </p:tgtEl>
                                      </p:cBhvr>
                                      <p:to x="100000" y="90000"/>
                                    </p:animScale>
                                    <p:animScale>
                                      <p:cBhvr>
                                        <p:cTn id="54" dur="166" decel="50000">
                                          <p:stCondLst>
                                            <p:cond delay="1668"/>
                                          </p:stCondLst>
                                        </p:cTn>
                                        <p:tgtEl>
                                          <p:spTgt spid="5">
                                            <p:txEl>
                                              <p:pRg st="0" end="0"/>
                                            </p:txEl>
                                          </p:spTgt>
                                        </p:tgtEl>
                                      </p:cBhvr>
                                      <p:to x="100000" y="100000"/>
                                    </p:animScale>
                                    <p:animScale>
                                      <p:cBhvr>
                                        <p:cTn id="55" dur="26">
                                          <p:stCondLst>
                                            <p:cond delay="1808"/>
                                          </p:stCondLst>
                                        </p:cTn>
                                        <p:tgtEl>
                                          <p:spTgt spid="5">
                                            <p:txEl>
                                              <p:pRg st="0" end="0"/>
                                            </p:txEl>
                                          </p:spTgt>
                                        </p:tgtEl>
                                      </p:cBhvr>
                                      <p:to x="100000" y="95000"/>
                                    </p:animScale>
                                    <p:animScale>
                                      <p:cBhvr>
                                        <p:cTn id="56" dur="166" decel="50000">
                                          <p:stCondLst>
                                            <p:cond delay="1834"/>
                                          </p:stCondLst>
                                        </p:cTn>
                                        <p:tgtEl>
                                          <p:spTgt spid="5">
                                            <p:txEl>
                                              <p:pRg st="0" end="0"/>
                                            </p:txEl>
                                          </p:spTgt>
                                        </p:tgtEl>
                                      </p:cBhvr>
                                      <p:to x="100000" y="100000"/>
                                    </p:animScale>
                                  </p:childTnLst>
                                </p:cTn>
                              </p:par>
                              <p:par>
                                <p:cTn id="57" presetID="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8" presetClass="emph" presetSubtype="0" fill="hold" nodeType="withEffect">
                                  <p:stCondLst>
                                    <p:cond delay="0"/>
                                  </p:stCondLst>
                                  <p:childTnLst>
                                    <p:animRot by="21600000">
                                      <p:cBhvr>
                                        <p:cTn id="62" dur="2000" fill="hold"/>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Cím 6">
            <a:extLst>
              <a:ext uri="{FF2B5EF4-FFF2-40B4-BE49-F238E27FC236}">
                <a16:creationId xmlns:a16="http://schemas.microsoft.com/office/drawing/2014/main" id="{2F677020-C419-4FCA-9D9B-53BDCD65EB01}"/>
              </a:ext>
            </a:extLst>
          </p:cNvPr>
          <p:cNvSpPr>
            <a:spLocks noGrp="1"/>
          </p:cNvSpPr>
          <p:nvPr>
            <p:ph type="ctrTitle"/>
          </p:nvPr>
        </p:nvSpPr>
        <p:spPr>
          <a:xfrm>
            <a:off x="1524000" y="693532"/>
            <a:ext cx="9144000" cy="2387600"/>
          </a:xfrm>
        </p:spPr>
        <p:txBody>
          <a:bodyPr>
            <a:normAutofit/>
          </a:bodyPr>
          <a:lstStyle/>
          <a:p>
            <a:r>
              <a:rPr lang="hu-HU" b="1" dirty="0"/>
              <a:t>Tulajdonosok bemutatkozása:</a:t>
            </a:r>
            <a:br>
              <a:rPr lang="en-GB" dirty="0"/>
            </a:br>
            <a:endParaRPr lang="en-GB" dirty="0"/>
          </a:p>
        </p:txBody>
      </p:sp>
      <p:sp>
        <p:nvSpPr>
          <p:cNvPr id="6" name="Alcím 4">
            <a:extLst>
              <a:ext uri="{FF2B5EF4-FFF2-40B4-BE49-F238E27FC236}">
                <a16:creationId xmlns:a16="http://schemas.microsoft.com/office/drawing/2014/main" id="{E7A467BA-8EEB-43A7-ABA9-FFA3EB6F3DA9}"/>
              </a:ext>
            </a:extLst>
          </p:cNvPr>
          <p:cNvSpPr txBox="1">
            <a:spLocks/>
          </p:cNvSpPr>
          <p:nvPr/>
        </p:nvSpPr>
        <p:spPr>
          <a:xfrm>
            <a:off x="12313920" y="693532"/>
            <a:ext cx="9144000" cy="165576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u-HU" b="1" dirty="0"/>
              <a:t>Szász Csaba:</a:t>
            </a:r>
            <a:endParaRPr lang="en-GB" dirty="0"/>
          </a:p>
          <a:p>
            <a:r>
              <a:rPr lang="hu-HU" dirty="0"/>
              <a:t>Szász Csaba vagyok, az Érdekes Informatikai KFT nevezetű cég egyik tulajdonosa. Én felelek a hálózati rendszerek biztonságos működésért, illetve biztonsági rések megtalálása is az én feladatom, azonban emellett előadások tartásáért/szerevezésért egyaránt felelek. Célom, hogy mindenki tudatosabban használja az internetet és a rajta történő információ/adat cseréket.</a:t>
            </a:r>
            <a:endParaRPr lang="en-GB" dirty="0"/>
          </a:p>
          <a:p>
            <a:r>
              <a:rPr lang="hu-HU" dirty="0"/>
              <a:t>Szakmai Tapasztalataim:</a:t>
            </a:r>
            <a:endParaRPr lang="en-GB" dirty="0"/>
          </a:p>
          <a:p>
            <a:r>
              <a:rPr lang="hu-HU" dirty="0"/>
              <a:t>OSCP, CCNA vizsgák, illetve nagyobb cégeknél végzett rendszeres behatolási vizsgálat (5+ év)</a:t>
            </a:r>
            <a:endParaRPr lang="en-GB" dirty="0"/>
          </a:p>
          <a:p>
            <a:endParaRPr lang="en-GB" dirty="0"/>
          </a:p>
        </p:txBody>
      </p:sp>
      <p:sp>
        <p:nvSpPr>
          <p:cNvPr id="8" name="Alcím 4">
            <a:extLst>
              <a:ext uri="{FF2B5EF4-FFF2-40B4-BE49-F238E27FC236}">
                <a16:creationId xmlns:a16="http://schemas.microsoft.com/office/drawing/2014/main" id="{3F98B32C-3222-4D95-8A05-A1FB20FE319F}"/>
              </a:ext>
            </a:extLst>
          </p:cNvPr>
          <p:cNvSpPr txBox="1">
            <a:spLocks/>
          </p:cNvSpPr>
          <p:nvPr/>
        </p:nvSpPr>
        <p:spPr>
          <a:xfrm>
            <a:off x="12148457" y="2794318"/>
            <a:ext cx="9309463" cy="2032408"/>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u-HU" b="1"/>
              <a:t>Szilléry Szabolcs: </a:t>
            </a:r>
            <a:endParaRPr lang="en-GB"/>
          </a:p>
          <a:p>
            <a:r>
              <a:rPr lang="hu-HU"/>
              <a:t>Szilléry Szabolcs vagyok, az Érdekes Informatikai KFT vezető Szoftverfejlesztője. Én felelek a személyre szabott Linux operációsrendszerek fejlesztéséért, és a többi alkalmazottunk munkáinak kontrollálásáért és felügyeletéért. Elsődlegesen cégünk  új „Cloud Linux” termékcsaládjának fejlesztésén dolgozom, melynek célja, hogy bárhol is legyen a kliensünk, egy bárhonnan hozzáférhető és teljesen személyre szabott felhő-számítógép szolgáltatást nyújtsunk a lehető legrugalmasabb, és leghatékonyabb workflow érdekében.</a:t>
            </a:r>
            <a:endParaRPr lang="en-GB"/>
          </a:p>
          <a:p>
            <a:r>
              <a:rPr lang="hu-HU"/>
              <a:t>Szakmai Tapasztalataim:</a:t>
            </a:r>
            <a:endParaRPr lang="en-GB"/>
          </a:p>
          <a:p>
            <a:r>
              <a:rPr lang="hu-HU"/>
              <a:t>Linux-kernel fejlesztése: 5 éves tapasztalat különböző nagyobb cégeknél, mint például a Microsoft.</a:t>
            </a:r>
            <a:endParaRPr lang="en-GB"/>
          </a:p>
          <a:p>
            <a:r>
              <a:rPr lang="hu-HU"/>
              <a:t>Git: 3 éves tapasztalat, az operációs rendszereink verzió-felügyelete itt történik.</a:t>
            </a:r>
            <a:endParaRPr lang="en-GB"/>
          </a:p>
          <a:p>
            <a:endParaRPr lang="en-GB" dirty="0"/>
          </a:p>
        </p:txBody>
      </p:sp>
      <p:sp>
        <p:nvSpPr>
          <p:cNvPr id="9" name="Alcím 4">
            <a:extLst>
              <a:ext uri="{FF2B5EF4-FFF2-40B4-BE49-F238E27FC236}">
                <a16:creationId xmlns:a16="http://schemas.microsoft.com/office/drawing/2014/main" id="{76CDB517-7D07-49B8-A9C6-01FC64A3F4F3}"/>
              </a:ext>
            </a:extLst>
          </p:cNvPr>
          <p:cNvSpPr txBox="1">
            <a:spLocks/>
          </p:cNvSpPr>
          <p:nvPr/>
        </p:nvSpPr>
        <p:spPr>
          <a:xfrm>
            <a:off x="12192000" y="4826726"/>
            <a:ext cx="9144000" cy="1655762"/>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u-HU" b="1"/>
              <a:t>Pótz-Nagy Ábel:</a:t>
            </a:r>
            <a:endParaRPr lang="en-GB"/>
          </a:p>
          <a:p>
            <a:r>
              <a:rPr lang="hu-HU"/>
              <a:t>Pótz-Nagy Ábel vagyok és a hálózati tevékenységekkel foglalkozom az Érdekes Informatikai KFT-nél. Én gondoskodom a hálózat kiépítéséről és a hálózatot folyamatosan korszerűsítéséről. A hálózat folyamatos korszerű fenntartása nagyon fontos számunkra, mert egy cég ma már elképzelhetetlen korszerű informatikai hálózat nélkül. A célunk az hogy a legjobb ár-érték arányban, a legkedvezőbb árakkal szolgáljuk ki ügyfeleinket és ezt garantálni is tudjuk, mert cégünk nincs elkötelezve egyik gyártó termékei felé sem.</a:t>
            </a:r>
            <a:endParaRPr lang="en-GB"/>
          </a:p>
          <a:p>
            <a:r>
              <a:rPr lang="hu-HU"/>
              <a:t>Szakmai Tapasztalataim:</a:t>
            </a:r>
            <a:endParaRPr lang="en-GB"/>
          </a:p>
          <a:p>
            <a:r>
              <a:rPr lang="hu-HU"/>
              <a:t>Hálózat kiépítése, karbantartása és</a:t>
            </a:r>
            <a:r>
              <a:rPr lang="hu-HU" b="1"/>
              <a:t> </a:t>
            </a:r>
            <a:r>
              <a:rPr lang="hu-HU"/>
              <a:t>korszerűsítése 3,5 éves tapasztalattal kisebb-nagyobb cégeknél</a:t>
            </a:r>
            <a:endParaRPr lang="en-GB"/>
          </a:p>
          <a:p>
            <a:endParaRPr lang="en-GB" dirty="0"/>
          </a:p>
        </p:txBody>
      </p:sp>
      <p:sp>
        <p:nvSpPr>
          <p:cNvPr id="10" name="Alcím 4">
            <a:extLst>
              <a:ext uri="{FF2B5EF4-FFF2-40B4-BE49-F238E27FC236}">
                <a16:creationId xmlns:a16="http://schemas.microsoft.com/office/drawing/2014/main" id="{99F4BD20-7CFF-40F5-BC3E-7FB756585DB1}"/>
              </a:ext>
            </a:extLst>
          </p:cNvPr>
          <p:cNvSpPr txBox="1">
            <a:spLocks/>
          </p:cNvSpPr>
          <p:nvPr/>
        </p:nvSpPr>
        <p:spPr>
          <a:xfrm>
            <a:off x="12192000" y="6482488"/>
            <a:ext cx="9144000" cy="165576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u-HU" b="1"/>
              <a:t>Petz Dávid:</a:t>
            </a:r>
            <a:endParaRPr lang="en-GB"/>
          </a:p>
          <a:p>
            <a:r>
              <a:rPr lang="hu-HU"/>
              <a:t>Petz Dávid vagyok. Az operációs rendszerek telepítéséért felelek az Érdekes Informatikai KFT-nél. Az a célom, hogy megkönnyítsem az emberek dolgát, az operációs rendszer gyors és hatékony telepítésével. </a:t>
            </a:r>
            <a:endParaRPr lang="en-GB"/>
          </a:p>
          <a:p>
            <a:endParaRPr lang="hu-HU"/>
          </a:p>
          <a:p>
            <a:r>
              <a:rPr lang="hu-HU"/>
              <a:t>Szakmai Tapasztalataim:</a:t>
            </a:r>
            <a:endParaRPr lang="en-GB"/>
          </a:p>
          <a:p>
            <a:r>
              <a:rPr lang="hu-HU"/>
              <a:t>Windows operációs rendszerek telepítése: 2 éves tapasztalattal rendelkezem, leginkább nagyobb cégeknél.</a:t>
            </a:r>
            <a:endParaRPr lang="en-GB"/>
          </a:p>
          <a:p>
            <a:endParaRPr lang="en-GB" dirty="0"/>
          </a:p>
        </p:txBody>
      </p:sp>
    </p:spTree>
    <p:extLst>
      <p:ext uri="{BB962C8B-B14F-4D97-AF65-F5344CB8AC3E}">
        <p14:creationId xmlns:p14="http://schemas.microsoft.com/office/powerpoint/2010/main" val="35806599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3.95833E-6 7.40741E-7 L -0.88503 0.41829 " pathEditMode="relative" rAng="0" ptsTypes="AA">
                                      <p:cBhvr>
                                        <p:cTn id="6" dur="2000" fill="hold"/>
                                        <p:tgtEl>
                                          <p:spTgt spid="6"/>
                                        </p:tgtEl>
                                        <p:attrNameLst>
                                          <p:attrName>ppt_x</p:attrName>
                                          <p:attrName>ppt_y</p:attrName>
                                        </p:attrNameLst>
                                      </p:cBhvr>
                                      <p:rCtr x="-44258" y="20903"/>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grpId="1" nodeType="clickEffect">
                                  <p:stCondLst>
                                    <p:cond delay="0"/>
                                  </p:stCondLst>
                                  <p:childTnLst>
                                    <p:animMotion origin="layout" path="M -0.88503 0.41829 L -2.94903E-17 -4.07407E-6 " pathEditMode="relative" rAng="0" ptsTypes="AA">
                                      <p:cBhvr>
                                        <p:cTn id="10" dur="2000" fill="hold"/>
                                        <p:tgtEl>
                                          <p:spTgt spid="6"/>
                                        </p:tgtEl>
                                        <p:attrNameLst>
                                          <p:attrName>ppt_x</p:attrName>
                                          <p:attrName>ppt_y</p:attrName>
                                        </p:attrNameLst>
                                      </p:cBhvr>
                                      <p:rCtr x="44375" y="-21111"/>
                                    </p:animMotion>
                                  </p:childTnLst>
                                </p:cTn>
                              </p:par>
                              <p:par>
                                <p:cTn id="11" presetID="35" presetClass="path" presetSubtype="0" accel="50000" decel="50000" fill="hold" grpId="0" nodeType="withEffect">
                                  <p:stCondLst>
                                    <p:cond delay="0"/>
                                  </p:stCondLst>
                                  <p:childTnLst>
                                    <p:animMotion origin="layout" path="M 4.79167E-6 4.44444E-6 L -0.87826 0.08449 " pathEditMode="relative" rAng="0" ptsTypes="AA">
                                      <p:cBhvr>
                                        <p:cTn id="12" dur="2000" fill="hold"/>
                                        <p:tgtEl>
                                          <p:spTgt spid="8"/>
                                        </p:tgtEl>
                                        <p:attrNameLst>
                                          <p:attrName>ppt_x</p:attrName>
                                          <p:attrName>ppt_y</p:attrName>
                                        </p:attrNameLst>
                                      </p:cBhvr>
                                      <p:rCtr x="-43919" y="4444"/>
                                    </p:animMotion>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grpId="1" nodeType="clickEffect">
                                  <p:stCondLst>
                                    <p:cond delay="0"/>
                                  </p:stCondLst>
                                  <p:childTnLst>
                                    <p:animMotion origin="layout" path="M -0.87826 0.08449 L -2.08333E-6 -4.44444E-6 " pathEditMode="relative" rAng="0" ptsTypes="AA">
                                      <p:cBhvr>
                                        <p:cTn id="16" dur="2000" fill="hold"/>
                                        <p:tgtEl>
                                          <p:spTgt spid="8"/>
                                        </p:tgtEl>
                                        <p:attrNameLst>
                                          <p:attrName>ppt_x</p:attrName>
                                          <p:attrName>ppt_y</p:attrName>
                                        </p:attrNameLst>
                                      </p:cBhvr>
                                      <p:rCtr x="43815" y="-4468"/>
                                    </p:animMotion>
                                  </p:childTnLst>
                                </p:cTn>
                              </p:par>
                              <p:par>
                                <p:cTn id="17" presetID="35" presetClass="path" presetSubtype="0" accel="50000" decel="50000" fill="hold" grpId="0" nodeType="withEffect">
                                  <p:stCondLst>
                                    <p:cond delay="0"/>
                                  </p:stCondLst>
                                  <p:childTnLst>
                                    <p:animMotion origin="layout" path="M 0 4.44444E-6 L -0.875 -0.18426 " pathEditMode="relative" rAng="0" ptsTypes="AA">
                                      <p:cBhvr>
                                        <p:cTn id="18" dur="2000" fill="hold"/>
                                        <p:tgtEl>
                                          <p:spTgt spid="9"/>
                                        </p:tgtEl>
                                        <p:attrNameLst>
                                          <p:attrName>ppt_x</p:attrName>
                                          <p:attrName>ppt_y</p:attrName>
                                        </p:attrNameLst>
                                      </p:cBhvr>
                                      <p:rCtr x="-43815" y="-9213"/>
                                    </p:animMotion>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grpId="1" nodeType="clickEffect">
                                  <p:stCondLst>
                                    <p:cond delay="0"/>
                                  </p:stCondLst>
                                  <p:childTnLst>
                                    <p:animMotion origin="layout" path="M -0.875 -0.18426 L -2.08333E-6 -2.22222E-6 " pathEditMode="relative" rAng="0" ptsTypes="AA">
                                      <p:cBhvr>
                                        <p:cTn id="22" dur="2000" fill="hold"/>
                                        <p:tgtEl>
                                          <p:spTgt spid="9"/>
                                        </p:tgtEl>
                                        <p:attrNameLst>
                                          <p:attrName>ppt_x</p:attrName>
                                          <p:attrName>ppt_y</p:attrName>
                                        </p:attrNameLst>
                                      </p:cBhvr>
                                      <p:rCtr x="43815" y="9097"/>
                                    </p:animMotion>
                                  </p:childTnLst>
                                </p:cTn>
                              </p:par>
                              <p:par>
                                <p:cTn id="23" presetID="35" presetClass="path" presetSubtype="0" accel="50000" decel="50000" fill="hold" grpId="0" nodeType="withEffect">
                                  <p:stCondLst>
                                    <p:cond delay="0"/>
                                  </p:stCondLst>
                                  <p:childTnLst>
                                    <p:animMotion origin="layout" path="M 0 -7.40741E-7 L -0.875 -0.42569 " pathEditMode="relative" rAng="0" ptsTypes="AA">
                                      <p:cBhvr>
                                        <p:cTn id="24" dur="2000" fill="hold"/>
                                        <p:tgtEl>
                                          <p:spTgt spid="10"/>
                                        </p:tgtEl>
                                        <p:attrNameLst>
                                          <p:attrName>ppt_x</p:attrName>
                                          <p:attrName>ppt_y</p:attrName>
                                        </p:attrNameLst>
                                      </p:cBhvr>
                                      <p:rCtr x="-43945" y="-21296"/>
                                    </p:animMotion>
                                  </p:childTnLst>
                                </p:cTn>
                              </p:par>
                            </p:childTnLst>
                          </p:cTn>
                        </p:par>
                      </p:childTnLst>
                    </p:cTn>
                  </p:par>
                  <p:par>
                    <p:cTn id="25" fill="hold">
                      <p:stCondLst>
                        <p:cond delay="indefinite"/>
                      </p:stCondLst>
                      <p:childTnLst>
                        <p:par>
                          <p:cTn id="26" fill="hold">
                            <p:stCondLst>
                              <p:cond delay="0"/>
                            </p:stCondLst>
                            <p:childTnLst>
                              <p:par>
                                <p:cTn id="27" presetID="35" presetClass="path" presetSubtype="0" accel="50000" decel="50000" fill="hold" grpId="1" nodeType="clickEffect">
                                  <p:stCondLst>
                                    <p:cond delay="0"/>
                                  </p:stCondLst>
                                  <p:childTnLst>
                                    <p:animMotion origin="layout" path="M -0.875 -0.42569 L -2.08333E-6 -1.85185E-6 " pathEditMode="relative" rAng="0" ptsTypes="AA">
                                      <p:cBhvr>
                                        <p:cTn id="28" dur="2000" fill="hold"/>
                                        <p:tgtEl>
                                          <p:spTgt spid="10"/>
                                        </p:tgtEl>
                                        <p:attrNameLst>
                                          <p:attrName>ppt_x</p:attrName>
                                          <p:attrName>ppt_y</p:attrName>
                                        </p:attrNameLst>
                                      </p:cBhvr>
                                      <p:rCtr x="43815" y="2120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9" grpId="0"/>
      <p:bldP spid="9" grpId="1"/>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Cím 6">
            <a:extLst>
              <a:ext uri="{FF2B5EF4-FFF2-40B4-BE49-F238E27FC236}">
                <a16:creationId xmlns:a16="http://schemas.microsoft.com/office/drawing/2014/main" id="{2F677020-C419-4FCA-9D9B-53BDCD65EB01}"/>
              </a:ext>
            </a:extLst>
          </p:cNvPr>
          <p:cNvSpPr>
            <a:spLocks noGrp="1"/>
          </p:cNvSpPr>
          <p:nvPr>
            <p:ph type="ctrTitle"/>
          </p:nvPr>
        </p:nvSpPr>
        <p:spPr>
          <a:xfrm>
            <a:off x="1524000" y="693532"/>
            <a:ext cx="9144000" cy="2387600"/>
          </a:xfrm>
        </p:spPr>
        <p:txBody>
          <a:bodyPr/>
          <a:lstStyle/>
          <a:p>
            <a:r>
              <a:rPr lang="hu-HU" b="1" dirty="0"/>
              <a:t>Linux </a:t>
            </a:r>
            <a:r>
              <a:rPr lang="hu-HU" b="1" dirty="0" err="1"/>
              <a:t>vs</a:t>
            </a:r>
            <a:r>
              <a:rPr lang="hu-HU" b="1" dirty="0"/>
              <a:t>. Windows</a:t>
            </a:r>
            <a:br>
              <a:rPr lang="en-GB" dirty="0"/>
            </a:br>
            <a:endParaRPr lang="en-GB" dirty="0"/>
          </a:p>
        </p:txBody>
      </p:sp>
      <p:sp>
        <p:nvSpPr>
          <p:cNvPr id="2" name="Szövegdoboz 1">
            <a:extLst>
              <a:ext uri="{FF2B5EF4-FFF2-40B4-BE49-F238E27FC236}">
                <a16:creationId xmlns:a16="http://schemas.microsoft.com/office/drawing/2014/main" id="{8015230D-9865-48CE-B89A-1BF8828A46C1}"/>
              </a:ext>
            </a:extLst>
          </p:cNvPr>
          <p:cNvSpPr txBox="1"/>
          <p:nvPr/>
        </p:nvSpPr>
        <p:spPr>
          <a:xfrm rot="21266102" flipH="1">
            <a:off x="946964" y="2757966"/>
            <a:ext cx="5129786" cy="646331"/>
          </a:xfrm>
          <a:prstGeom prst="rect">
            <a:avLst/>
          </a:prstGeom>
          <a:noFill/>
        </p:spPr>
        <p:txBody>
          <a:bodyPr wrap="square" rtlCol="0">
            <a:spAutoFit/>
          </a:bodyPr>
          <a:lstStyle/>
          <a:p>
            <a:pPr algn="just"/>
            <a:r>
              <a:rPr lang="hu-HU" dirty="0"/>
              <a:t>Cégünk a korszerűsítés során kettő opciót kínál a gépekre felkerülő operációs rendszerek tekintetében.</a:t>
            </a:r>
            <a:endParaRPr lang="en-GB" dirty="0"/>
          </a:p>
        </p:txBody>
      </p:sp>
      <p:sp>
        <p:nvSpPr>
          <p:cNvPr id="3" name="Szövegdoboz 2">
            <a:extLst>
              <a:ext uri="{FF2B5EF4-FFF2-40B4-BE49-F238E27FC236}">
                <a16:creationId xmlns:a16="http://schemas.microsoft.com/office/drawing/2014/main" id="{FCC431FD-BB79-4869-A0A6-98E9EB318F9F}"/>
              </a:ext>
            </a:extLst>
          </p:cNvPr>
          <p:cNvSpPr txBox="1"/>
          <p:nvPr/>
        </p:nvSpPr>
        <p:spPr>
          <a:xfrm rot="477440">
            <a:off x="6006127" y="3897405"/>
            <a:ext cx="5168288" cy="646331"/>
          </a:xfrm>
          <a:prstGeom prst="rect">
            <a:avLst/>
          </a:prstGeom>
          <a:noFill/>
        </p:spPr>
        <p:txBody>
          <a:bodyPr wrap="square" rtlCol="0">
            <a:spAutoFit/>
          </a:bodyPr>
          <a:lstStyle/>
          <a:p>
            <a:pPr algn="just"/>
            <a:r>
              <a:rPr lang="hu-HU" dirty="0"/>
              <a:t>Egyik ilyen a sokak által ismert Windows 10, másik választható opció pedig a Linux(</a:t>
            </a:r>
            <a:r>
              <a:rPr lang="hu-HU" dirty="0" err="1"/>
              <a:t>Ubuntu</a:t>
            </a:r>
            <a:r>
              <a:rPr lang="hu-HU" dirty="0"/>
              <a:t> vagy </a:t>
            </a:r>
            <a:r>
              <a:rPr lang="hu-HU" dirty="0" err="1"/>
              <a:t>Debian</a:t>
            </a:r>
            <a:r>
              <a:rPr lang="hu-HU" dirty="0"/>
              <a:t>).</a:t>
            </a:r>
            <a:endParaRPr lang="en-GB" dirty="0"/>
          </a:p>
        </p:txBody>
      </p:sp>
      <p:sp>
        <p:nvSpPr>
          <p:cNvPr id="8" name="Szövegdoboz 7">
            <a:extLst>
              <a:ext uri="{FF2B5EF4-FFF2-40B4-BE49-F238E27FC236}">
                <a16:creationId xmlns:a16="http://schemas.microsoft.com/office/drawing/2014/main" id="{77201587-6150-41B6-BD12-3A23C87F0137}"/>
              </a:ext>
            </a:extLst>
          </p:cNvPr>
          <p:cNvSpPr txBox="1"/>
          <p:nvPr/>
        </p:nvSpPr>
        <p:spPr>
          <a:xfrm rot="21299898">
            <a:off x="1552795" y="5221908"/>
            <a:ext cx="6016752" cy="923330"/>
          </a:xfrm>
          <a:prstGeom prst="rect">
            <a:avLst/>
          </a:prstGeom>
          <a:noFill/>
        </p:spPr>
        <p:txBody>
          <a:bodyPr wrap="square" rtlCol="0">
            <a:spAutoFit/>
          </a:bodyPr>
          <a:lstStyle/>
          <a:p>
            <a:pPr algn="just"/>
            <a:r>
              <a:rPr lang="hu-HU" dirty="0"/>
              <a:t>Egyik sem tökéletes megoldás, hisz mind a kettőben fellelhetők hibák, azonban mi összeszedtük ezeket a pro kontra érveket:</a:t>
            </a:r>
            <a:endParaRPr lang="en-GB" dirty="0"/>
          </a:p>
          <a:p>
            <a:pPr algn="just"/>
            <a:endParaRPr lang="en-GB" dirty="0"/>
          </a:p>
        </p:txBody>
      </p:sp>
    </p:spTree>
    <p:extLst>
      <p:ext uri="{BB962C8B-B14F-4D97-AF65-F5344CB8AC3E}">
        <p14:creationId xmlns:p14="http://schemas.microsoft.com/office/powerpoint/2010/main" val="21399765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80">
                                          <p:stCondLst>
                                            <p:cond delay="0"/>
                                          </p:stCondLst>
                                        </p:cTn>
                                        <p:tgtEl>
                                          <p:spTgt spid="3"/>
                                        </p:tgtEl>
                                      </p:cBhvr>
                                    </p:animEffect>
                                    <p:anim calcmode="lin" valueType="num">
                                      <p:cBhvr>
                                        <p:cTn id="2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gtEl>
                                      </p:cBhvr>
                                      <p:to x="100000" y="60000"/>
                                    </p:animScale>
                                    <p:animScale>
                                      <p:cBhvr>
                                        <p:cTn id="32" dur="166" decel="50000">
                                          <p:stCondLst>
                                            <p:cond delay="676"/>
                                          </p:stCondLst>
                                        </p:cTn>
                                        <p:tgtEl>
                                          <p:spTgt spid="3"/>
                                        </p:tgtEl>
                                      </p:cBhvr>
                                      <p:to x="100000" y="100000"/>
                                    </p:animScale>
                                    <p:animScale>
                                      <p:cBhvr>
                                        <p:cTn id="33" dur="26">
                                          <p:stCondLst>
                                            <p:cond delay="1312"/>
                                          </p:stCondLst>
                                        </p:cTn>
                                        <p:tgtEl>
                                          <p:spTgt spid="3"/>
                                        </p:tgtEl>
                                      </p:cBhvr>
                                      <p:to x="100000" y="80000"/>
                                    </p:animScale>
                                    <p:animScale>
                                      <p:cBhvr>
                                        <p:cTn id="34" dur="166" decel="50000">
                                          <p:stCondLst>
                                            <p:cond delay="1338"/>
                                          </p:stCondLst>
                                        </p:cTn>
                                        <p:tgtEl>
                                          <p:spTgt spid="3"/>
                                        </p:tgtEl>
                                      </p:cBhvr>
                                      <p:to x="100000" y="100000"/>
                                    </p:animScale>
                                    <p:animScale>
                                      <p:cBhvr>
                                        <p:cTn id="35" dur="26">
                                          <p:stCondLst>
                                            <p:cond delay="1642"/>
                                          </p:stCondLst>
                                        </p:cTn>
                                        <p:tgtEl>
                                          <p:spTgt spid="3"/>
                                        </p:tgtEl>
                                      </p:cBhvr>
                                      <p:to x="100000" y="90000"/>
                                    </p:animScale>
                                    <p:animScale>
                                      <p:cBhvr>
                                        <p:cTn id="36" dur="166" decel="50000">
                                          <p:stCondLst>
                                            <p:cond delay="1668"/>
                                          </p:stCondLst>
                                        </p:cTn>
                                        <p:tgtEl>
                                          <p:spTgt spid="3"/>
                                        </p:tgtEl>
                                      </p:cBhvr>
                                      <p:to x="100000" y="100000"/>
                                    </p:animScale>
                                    <p:animScale>
                                      <p:cBhvr>
                                        <p:cTn id="37" dur="26">
                                          <p:stCondLst>
                                            <p:cond delay="1808"/>
                                          </p:stCondLst>
                                        </p:cTn>
                                        <p:tgtEl>
                                          <p:spTgt spid="3"/>
                                        </p:tgtEl>
                                      </p:cBhvr>
                                      <p:to x="100000" y="95000"/>
                                    </p:animScale>
                                    <p:animScale>
                                      <p:cBhvr>
                                        <p:cTn id="38" dur="166" decel="50000">
                                          <p:stCondLst>
                                            <p:cond delay="1834"/>
                                          </p:stCondLst>
                                        </p:cTn>
                                        <p:tgtEl>
                                          <p:spTgt spid="3"/>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80">
                                          <p:stCondLst>
                                            <p:cond delay="0"/>
                                          </p:stCondLst>
                                        </p:cTn>
                                        <p:tgtEl>
                                          <p:spTgt spid="8"/>
                                        </p:tgtEl>
                                      </p:cBhvr>
                                    </p:animEffect>
                                    <p:anim calcmode="lin" valueType="num">
                                      <p:cBhvr>
                                        <p:cTn id="4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9" dur="26">
                                          <p:stCondLst>
                                            <p:cond delay="650"/>
                                          </p:stCondLst>
                                        </p:cTn>
                                        <p:tgtEl>
                                          <p:spTgt spid="8"/>
                                        </p:tgtEl>
                                      </p:cBhvr>
                                      <p:to x="100000" y="60000"/>
                                    </p:animScale>
                                    <p:animScale>
                                      <p:cBhvr>
                                        <p:cTn id="50" dur="166" decel="50000">
                                          <p:stCondLst>
                                            <p:cond delay="676"/>
                                          </p:stCondLst>
                                        </p:cTn>
                                        <p:tgtEl>
                                          <p:spTgt spid="8"/>
                                        </p:tgtEl>
                                      </p:cBhvr>
                                      <p:to x="100000" y="100000"/>
                                    </p:animScale>
                                    <p:animScale>
                                      <p:cBhvr>
                                        <p:cTn id="51" dur="26">
                                          <p:stCondLst>
                                            <p:cond delay="1312"/>
                                          </p:stCondLst>
                                        </p:cTn>
                                        <p:tgtEl>
                                          <p:spTgt spid="8"/>
                                        </p:tgtEl>
                                      </p:cBhvr>
                                      <p:to x="100000" y="80000"/>
                                    </p:animScale>
                                    <p:animScale>
                                      <p:cBhvr>
                                        <p:cTn id="52" dur="166" decel="50000">
                                          <p:stCondLst>
                                            <p:cond delay="1338"/>
                                          </p:stCondLst>
                                        </p:cTn>
                                        <p:tgtEl>
                                          <p:spTgt spid="8"/>
                                        </p:tgtEl>
                                      </p:cBhvr>
                                      <p:to x="100000" y="100000"/>
                                    </p:animScale>
                                    <p:animScale>
                                      <p:cBhvr>
                                        <p:cTn id="53" dur="26">
                                          <p:stCondLst>
                                            <p:cond delay="1642"/>
                                          </p:stCondLst>
                                        </p:cTn>
                                        <p:tgtEl>
                                          <p:spTgt spid="8"/>
                                        </p:tgtEl>
                                      </p:cBhvr>
                                      <p:to x="100000" y="90000"/>
                                    </p:animScale>
                                    <p:animScale>
                                      <p:cBhvr>
                                        <p:cTn id="54" dur="166" decel="50000">
                                          <p:stCondLst>
                                            <p:cond delay="1668"/>
                                          </p:stCondLst>
                                        </p:cTn>
                                        <p:tgtEl>
                                          <p:spTgt spid="8"/>
                                        </p:tgtEl>
                                      </p:cBhvr>
                                      <p:to x="100000" y="100000"/>
                                    </p:animScale>
                                    <p:animScale>
                                      <p:cBhvr>
                                        <p:cTn id="55" dur="26">
                                          <p:stCondLst>
                                            <p:cond delay="1808"/>
                                          </p:stCondLst>
                                        </p:cTn>
                                        <p:tgtEl>
                                          <p:spTgt spid="8"/>
                                        </p:tgtEl>
                                      </p:cBhvr>
                                      <p:to x="100000" y="95000"/>
                                    </p:animScale>
                                    <p:animScale>
                                      <p:cBhvr>
                                        <p:cTn id="56"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p:txBody>
          <a:bodyPr/>
          <a:lstStyle/>
          <a:p>
            <a:endParaRPr lang="en-GB" dirty="0"/>
          </a:p>
        </p:txBody>
      </p:sp>
      <p:sp>
        <p:nvSpPr>
          <p:cNvPr id="7" name="Cím 6">
            <a:extLst>
              <a:ext uri="{FF2B5EF4-FFF2-40B4-BE49-F238E27FC236}">
                <a16:creationId xmlns:a16="http://schemas.microsoft.com/office/drawing/2014/main" id="{2F677020-C419-4FCA-9D9B-53BDCD65EB01}"/>
              </a:ext>
            </a:extLst>
          </p:cNvPr>
          <p:cNvSpPr>
            <a:spLocks noGrp="1"/>
          </p:cNvSpPr>
          <p:nvPr>
            <p:ph type="ctrTitle"/>
          </p:nvPr>
        </p:nvSpPr>
        <p:spPr>
          <a:xfrm>
            <a:off x="1414272" y="-1020817"/>
            <a:ext cx="9144000" cy="2387600"/>
          </a:xfrm>
        </p:spPr>
        <p:txBody>
          <a:bodyPr/>
          <a:lstStyle/>
          <a:p>
            <a:r>
              <a:rPr lang="hu-HU" b="1" dirty="0"/>
              <a:t>Linux	</a:t>
            </a:r>
            <a:r>
              <a:rPr lang="hu-HU" b="1" dirty="0" err="1"/>
              <a:t>vs</a:t>
            </a:r>
            <a:r>
              <a:rPr lang="hu-HU" b="1" dirty="0"/>
              <a:t>.	Windows</a:t>
            </a:r>
            <a:endParaRPr lang="en-GB" dirty="0"/>
          </a:p>
        </p:txBody>
      </p:sp>
      <p:graphicFrame>
        <p:nvGraphicFramePr>
          <p:cNvPr id="2" name="Táblázat 1">
            <a:extLst>
              <a:ext uri="{FF2B5EF4-FFF2-40B4-BE49-F238E27FC236}">
                <a16:creationId xmlns:a16="http://schemas.microsoft.com/office/drawing/2014/main" id="{57CFA9B9-EB16-439B-9ABE-18EC866F0516}"/>
              </a:ext>
            </a:extLst>
          </p:cNvPr>
          <p:cNvGraphicFramePr>
            <a:graphicFrameLocks noGrp="1"/>
          </p:cNvGraphicFramePr>
          <p:nvPr>
            <p:extLst>
              <p:ext uri="{D42A27DB-BD31-4B8C-83A1-F6EECF244321}">
                <p14:modId xmlns:p14="http://schemas.microsoft.com/office/powerpoint/2010/main" val="2775136509"/>
              </p:ext>
            </p:extLst>
          </p:nvPr>
        </p:nvGraphicFramePr>
        <p:xfrm>
          <a:off x="2068702" y="1706690"/>
          <a:ext cx="8054595" cy="3525011"/>
        </p:xfrm>
        <a:graphic>
          <a:graphicData uri="http://schemas.openxmlformats.org/drawingml/2006/table">
            <a:tbl>
              <a:tblPr firstRow="1" firstCol="1" bandRow="1">
                <a:tableStyleId>{5202B0CA-FC54-4496-8BCA-5EF66A818D29}</a:tableStyleId>
              </a:tblPr>
              <a:tblGrid>
                <a:gridCol w="4231323">
                  <a:extLst>
                    <a:ext uri="{9D8B030D-6E8A-4147-A177-3AD203B41FA5}">
                      <a16:colId xmlns:a16="http://schemas.microsoft.com/office/drawing/2014/main" val="3866389281"/>
                    </a:ext>
                  </a:extLst>
                </a:gridCol>
                <a:gridCol w="3823272">
                  <a:extLst>
                    <a:ext uri="{9D8B030D-6E8A-4147-A177-3AD203B41FA5}">
                      <a16:colId xmlns:a16="http://schemas.microsoft.com/office/drawing/2014/main" val="406961280"/>
                    </a:ext>
                  </a:extLst>
                </a:gridCol>
              </a:tblGrid>
              <a:tr h="251298">
                <a:tc>
                  <a:txBody>
                    <a:bodyPr/>
                    <a:lstStyle/>
                    <a:p>
                      <a:pPr algn="ctr">
                        <a:lnSpc>
                          <a:spcPct val="107000"/>
                        </a:lnSpc>
                        <a:spcAft>
                          <a:spcPts val="0"/>
                        </a:spcAft>
                      </a:pPr>
                      <a:r>
                        <a:rPr lang="hu-HU" sz="1200" dirty="0">
                          <a:effectLst/>
                        </a:rPr>
                        <a:t>Windows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200" dirty="0">
                          <a:effectLst/>
                        </a:rPr>
                        <a:t>Linux</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5209102"/>
                  </a:ext>
                </a:extLst>
              </a:tr>
              <a:tr h="281120">
                <a:tc>
                  <a:txBody>
                    <a:bodyPr/>
                    <a:lstStyle/>
                    <a:p>
                      <a:pPr algn="ctr">
                        <a:lnSpc>
                          <a:spcPct val="107000"/>
                        </a:lnSpc>
                        <a:spcAft>
                          <a:spcPts val="0"/>
                        </a:spcAft>
                      </a:pPr>
                      <a:r>
                        <a:rPr lang="hu-HU" sz="1400" b="0" dirty="0">
                          <a:effectLst/>
                        </a:rPr>
                        <a:t>Magas hardware költség</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Alacsony hardware költség</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8931333"/>
                  </a:ext>
                </a:extLst>
              </a:tr>
              <a:tr h="320040">
                <a:tc>
                  <a:txBody>
                    <a:bodyPr/>
                    <a:lstStyle/>
                    <a:p>
                      <a:pPr algn="ctr">
                        <a:lnSpc>
                          <a:spcPct val="107000"/>
                        </a:lnSpc>
                        <a:spcAft>
                          <a:spcPts val="0"/>
                        </a:spcAft>
                      </a:pPr>
                      <a:r>
                        <a:rPr lang="hu-HU" sz="1400" b="0" dirty="0">
                          <a:effectLst/>
                        </a:rPr>
                        <a:t>Zárt forráskód</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Nyílt forráskód</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179370"/>
                  </a:ext>
                </a:extLst>
              </a:tr>
              <a:tr h="320040">
                <a:tc>
                  <a:txBody>
                    <a:bodyPr/>
                    <a:lstStyle/>
                    <a:p>
                      <a:pPr algn="ctr">
                        <a:lnSpc>
                          <a:spcPct val="107000"/>
                        </a:lnSpc>
                        <a:spcAft>
                          <a:spcPts val="0"/>
                        </a:spcAft>
                      </a:pPr>
                      <a:r>
                        <a:rPr lang="hu-HU" sz="1400" b="0" dirty="0">
                          <a:effectLst/>
                        </a:rPr>
                        <a:t>(Fizetős szoftverek)</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a:effectLst/>
                        </a:rPr>
                        <a:t>(Ingyenes szoftverek)</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3197685"/>
                  </a:ext>
                </a:extLst>
              </a:tr>
              <a:tr h="594360">
                <a:tc>
                  <a:txBody>
                    <a:bodyPr/>
                    <a:lstStyle/>
                    <a:p>
                      <a:pPr algn="ctr">
                        <a:lnSpc>
                          <a:spcPct val="107000"/>
                        </a:lnSpc>
                        <a:spcAft>
                          <a:spcPts val="0"/>
                        </a:spcAft>
                      </a:pPr>
                      <a:r>
                        <a:rPr lang="hu-HU" sz="1400" b="0" dirty="0">
                          <a:effectLst/>
                        </a:rPr>
                        <a:t>Kevés személyre szabási lehetőség (pl.: színek, asztal átállítgatása)</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Rengeteg személyre szabási lehetőség (pl.: akár pár parancs kiadásával kaphatunk </a:t>
                      </a:r>
                      <a:r>
                        <a:rPr lang="hu-HU" sz="1400" dirty="0" err="1">
                          <a:effectLst/>
                        </a:rPr>
                        <a:t>MacOS</a:t>
                      </a:r>
                      <a:r>
                        <a:rPr lang="hu-HU" sz="1400" dirty="0">
                          <a:effectLst/>
                        </a:rPr>
                        <a:t> kinézetet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5096733"/>
                  </a:ext>
                </a:extLst>
              </a:tr>
              <a:tr h="566928">
                <a:tc>
                  <a:txBody>
                    <a:bodyPr/>
                    <a:lstStyle/>
                    <a:p>
                      <a:pPr algn="ctr">
                        <a:lnSpc>
                          <a:spcPct val="107000"/>
                        </a:lnSpc>
                        <a:spcAft>
                          <a:spcPts val="0"/>
                        </a:spcAft>
                      </a:pPr>
                      <a:r>
                        <a:rPr lang="hu-HU" sz="1400" b="0" dirty="0">
                          <a:effectLst/>
                        </a:rPr>
                        <a:t>Magas frissítési idő, nincsen korlát a frissítések felett</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Alacsony frissítési idő, nem igényel folytonos újra indítást, teljes kontroll a frissítések felett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0746453"/>
                  </a:ext>
                </a:extLst>
              </a:tr>
              <a:tr h="502920">
                <a:tc>
                  <a:txBody>
                    <a:bodyPr/>
                    <a:lstStyle/>
                    <a:p>
                      <a:pPr algn="ctr">
                        <a:lnSpc>
                          <a:spcPct val="107000"/>
                        </a:lnSpc>
                        <a:spcAft>
                          <a:spcPts val="0"/>
                        </a:spcAft>
                      </a:pPr>
                      <a:r>
                        <a:rPr lang="hu-HU" sz="1400" b="0" dirty="0">
                          <a:effectLst/>
                        </a:rPr>
                        <a:t>Fő célpont a vírusok fejlesztésénél</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Azért itt is vannak ám vírusok, de messze menően kevesebb</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5532956"/>
                  </a:ext>
                </a:extLst>
              </a:tr>
              <a:tr h="356616">
                <a:tc>
                  <a:txBody>
                    <a:bodyPr/>
                    <a:lstStyle/>
                    <a:p>
                      <a:pPr algn="ctr">
                        <a:lnSpc>
                          <a:spcPct val="107000"/>
                        </a:lnSpc>
                        <a:spcAft>
                          <a:spcPts val="0"/>
                        </a:spcAft>
                      </a:pPr>
                      <a:r>
                        <a:rPr lang="hu-HU" sz="1400" b="0" dirty="0">
                          <a:effectLst/>
                        </a:rPr>
                        <a:t>Felhasználó barát</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Felhasználó barát tud lenni</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2890753"/>
                  </a:ext>
                </a:extLst>
              </a:tr>
              <a:tr h="251298">
                <a:tc>
                  <a:txBody>
                    <a:bodyPr/>
                    <a:lstStyle/>
                    <a:p>
                      <a:pPr algn="ctr">
                        <a:lnSpc>
                          <a:spcPct val="107000"/>
                        </a:lnSpc>
                        <a:spcAft>
                          <a:spcPts val="0"/>
                        </a:spcAft>
                      </a:pPr>
                      <a:r>
                        <a:rPr lang="hu-HU" sz="1400" b="0" dirty="0">
                          <a:effectLst/>
                        </a:rPr>
                        <a:t>Erős beépített </a:t>
                      </a:r>
                      <a:r>
                        <a:rPr lang="hu-HU" sz="1400" b="0" dirty="0" err="1">
                          <a:effectLst/>
                        </a:rPr>
                        <a:t>anti</a:t>
                      </a:r>
                      <a:r>
                        <a:rPr lang="hu-HU" sz="1400" b="0" dirty="0">
                          <a:effectLst/>
                        </a:rPr>
                        <a:t>-vírus rendszer</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hu-HU" sz="1400" dirty="0">
                          <a:effectLst/>
                        </a:rPr>
                        <a:t>Nincsen beépített </a:t>
                      </a:r>
                      <a:r>
                        <a:rPr lang="hu-HU" sz="1400" dirty="0" err="1">
                          <a:effectLst/>
                        </a:rPr>
                        <a:t>anti</a:t>
                      </a:r>
                      <a:r>
                        <a:rPr lang="hu-HU" sz="1400" dirty="0">
                          <a:effectLst/>
                        </a:rPr>
                        <a:t>-vírus rendszer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7879758"/>
                  </a:ext>
                </a:extLst>
              </a:tr>
            </a:tbl>
          </a:graphicData>
        </a:graphic>
      </p:graphicFrame>
      <p:sp>
        <p:nvSpPr>
          <p:cNvPr id="3" name="Szövegdoboz 2">
            <a:extLst>
              <a:ext uri="{FF2B5EF4-FFF2-40B4-BE49-F238E27FC236}">
                <a16:creationId xmlns:a16="http://schemas.microsoft.com/office/drawing/2014/main" id="{C767B7BE-3181-4EF6-BA78-6636B2C25AF1}"/>
              </a:ext>
            </a:extLst>
          </p:cNvPr>
          <p:cNvSpPr txBox="1"/>
          <p:nvPr/>
        </p:nvSpPr>
        <p:spPr>
          <a:xfrm>
            <a:off x="2774059" y="5406771"/>
            <a:ext cx="6789041" cy="923330"/>
          </a:xfrm>
          <a:prstGeom prst="rect">
            <a:avLst/>
          </a:prstGeom>
          <a:noFill/>
        </p:spPr>
        <p:txBody>
          <a:bodyPr wrap="square" rtlCol="0">
            <a:spAutoFit/>
          </a:bodyPr>
          <a:lstStyle/>
          <a:p>
            <a:pPr algn="just"/>
            <a:r>
              <a:rPr lang="hu-HU" dirty="0"/>
              <a:t>Akik a Linux rendszerek mellet döntöttek, azoknak jó hírünk van. Ugyan is cégünk egy 10 hetes tanfolyam során betekintést nyújt a Linux kezelésébe gyakorlati órák során, mind felhasználói és </a:t>
            </a:r>
            <a:r>
              <a:rPr lang="hu-HU" dirty="0" err="1"/>
              <a:t>root</a:t>
            </a:r>
            <a:r>
              <a:rPr lang="hu-HU" dirty="0"/>
              <a:t> szinten is.</a:t>
            </a:r>
            <a:endParaRPr lang="en-GB" dirty="0"/>
          </a:p>
        </p:txBody>
      </p:sp>
      <p:sp>
        <p:nvSpPr>
          <p:cNvPr id="4" name="Szövegdoboz 3">
            <a:extLst>
              <a:ext uri="{FF2B5EF4-FFF2-40B4-BE49-F238E27FC236}">
                <a16:creationId xmlns:a16="http://schemas.microsoft.com/office/drawing/2014/main" id="{7C7173BE-B369-46E8-A53B-EE985EFA8B53}"/>
              </a:ext>
            </a:extLst>
          </p:cNvPr>
          <p:cNvSpPr txBox="1"/>
          <p:nvPr/>
        </p:nvSpPr>
        <p:spPr>
          <a:xfrm>
            <a:off x="5216434" y="6330101"/>
            <a:ext cx="3108960" cy="369332"/>
          </a:xfrm>
          <a:prstGeom prst="rect">
            <a:avLst/>
          </a:prstGeom>
          <a:noFill/>
        </p:spPr>
        <p:txBody>
          <a:bodyPr wrap="square" rtlCol="0">
            <a:spAutoFit/>
          </a:bodyPr>
          <a:lstStyle/>
          <a:p>
            <a:r>
              <a:rPr lang="hu-HU" dirty="0"/>
              <a:t>(Ennek ára, 20.000Ft/fő)</a:t>
            </a:r>
            <a:endParaRPr lang="en-GB" dirty="0"/>
          </a:p>
        </p:txBody>
      </p:sp>
    </p:spTree>
    <p:extLst>
      <p:ext uri="{BB962C8B-B14F-4D97-AF65-F5344CB8AC3E}">
        <p14:creationId xmlns:p14="http://schemas.microsoft.com/office/powerpoint/2010/main" val="3202149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80">
                                          <p:stCondLst>
                                            <p:cond delay="0"/>
                                          </p:stCondLst>
                                        </p:cTn>
                                        <p:tgtEl>
                                          <p:spTgt spid="3"/>
                                        </p:tgtEl>
                                      </p:cBhvr>
                                    </p:animEffect>
                                    <p:anim calcmode="lin" valueType="num">
                                      <p:cBhvr>
                                        <p:cTn id="13"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8" dur="26">
                                          <p:stCondLst>
                                            <p:cond delay="650"/>
                                          </p:stCondLst>
                                        </p:cTn>
                                        <p:tgtEl>
                                          <p:spTgt spid="3"/>
                                        </p:tgtEl>
                                      </p:cBhvr>
                                      <p:to x="100000" y="60000"/>
                                    </p:animScale>
                                    <p:animScale>
                                      <p:cBhvr>
                                        <p:cTn id="19" dur="166" decel="50000">
                                          <p:stCondLst>
                                            <p:cond delay="676"/>
                                          </p:stCondLst>
                                        </p:cTn>
                                        <p:tgtEl>
                                          <p:spTgt spid="3"/>
                                        </p:tgtEl>
                                      </p:cBhvr>
                                      <p:to x="100000" y="100000"/>
                                    </p:animScale>
                                    <p:animScale>
                                      <p:cBhvr>
                                        <p:cTn id="20" dur="26">
                                          <p:stCondLst>
                                            <p:cond delay="1312"/>
                                          </p:stCondLst>
                                        </p:cTn>
                                        <p:tgtEl>
                                          <p:spTgt spid="3"/>
                                        </p:tgtEl>
                                      </p:cBhvr>
                                      <p:to x="100000" y="80000"/>
                                    </p:animScale>
                                    <p:animScale>
                                      <p:cBhvr>
                                        <p:cTn id="21" dur="166" decel="50000">
                                          <p:stCondLst>
                                            <p:cond delay="1338"/>
                                          </p:stCondLst>
                                        </p:cTn>
                                        <p:tgtEl>
                                          <p:spTgt spid="3"/>
                                        </p:tgtEl>
                                      </p:cBhvr>
                                      <p:to x="100000" y="100000"/>
                                    </p:animScale>
                                    <p:animScale>
                                      <p:cBhvr>
                                        <p:cTn id="22" dur="26">
                                          <p:stCondLst>
                                            <p:cond delay="1642"/>
                                          </p:stCondLst>
                                        </p:cTn>
                                        <p:tgtEl>
                                          <p:spTgt spid="3"/>
                                        </p:tgtEl>
                                      </p:cBhvr>
                                      <p:to x="100000" y="90000"/>
                                    </p:animScale>
                                    <p:animScale>
                                      <p:cBhvr>
                                        <p:cTn id="23" dur="166" decel="50000">
                                          <p:stCondLst>
                                            <p:cond delay="1668"/>
                                          </p:stCondLst>
                                        </p:cTn>
                                        <p:tgtEl>
                                          <p:spTgt spid="3"/>
                                        </p:tgtEl>
                                      </p:cBhvr>
                                      <p:to x="100000" y="100000"/>
                                    </p:animScale>
                                    <p:animScale>
                                      <p:cBhvr>
                                        <p:cTn id="24" dur="26">
                                          <p:stCondLst>
                                            <p:cond delay="1808"/>
                                          </p:stCondLst>
                                        </p:cTn>
                                        <p:tgtEl>
                                          <p:spTgt spid="3"/>
                                        </p:tgtEl>
                                      </p:cBhvr>
                                      <p:to x="100000" y="95000"/>
                                    </p:animScale>
                                    <p:animScale>
                                      <p:cBhvr>
                                        <p:cTn id="25" dur="166" decel="50000">
                                          <p:stCondLst>
                                            <p:cond delay="1834"/>
                                          </p:stCondLst>
                                        </p:cTn>
                                        <p:tgtEl>
                                          <p:spTgt spid="3"/>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80">
                                          <p:stCondLst>
                                            <p:cond delay="0"/>
                                          </p:stCondLst>
                                        </p:cTn>
                                        <p:tgtEl>
                                          <p:spTgt spid="4"/>
                                        </p:tgtEl>
                                      </p:cBhvr>
                                    </p:animEffect>
                                    <p:anim calcmode="lin" valueType="num">
                                      <p:cBhvr>
                                        <p:cTn id="31"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6" dur="26">
                                          <p:stCondLst>
                                            <p:cond delay="650"/>
                                          </p:stCondLst>
                                        </p:cTn>
                                        <p:tgtEl>
                                          <p:spTgt spid="4"/>
                                        </p:tgtEl>
                                      </p:cBhvr>
                                      <p:to x="100000" y="60000"/>
                                    </p:animScale>
                                    <p:animScale>
                                      <p:cBhvr>
                                        <p:cTn id="37" dur="166" decel="50000">
                                          <p:stCondLst>
                                            <p:cond delay="676"/>
                                          </p:stCondLst>
                                        </p:cTn>
                                        <p:tgtEl>
                                          <p:spTgt spid="4"/>
                                        </p:tgtEl>
                                      </p:cBhvr>
                                      <p:to x="100000" y="100000"/>
                                    </p:animScale>
                                    <p:animScale>
                                      <p:cBhvr>
                                        <p:cTn id="38" dur="26">
                                          <p:stCondLst>
                                            <p:cond delay="1312"/>
                                          </p:stCondLst>
                                        </p:cTn>
                                        <p:tgtEl>
                                          <p:spTgt spid="4"/>
                                        </p:tgtEl>
                                      </p:cBhvr>
                                      <p:to x="100000" y="80000"/>
                                    </p:animScale>
                                    <p:animScale>
                                      <p:cBhvr>
                                        <p:cTn id="39" dur="166" decel="50000">
                                          <p:stCondLst>
                                            <p:cond delay="1338"/>
                                          </p:stCondLst>
                                        </p:cTn>
                                        <p:tgtEl>
                                          <p:spTgt spid="4"/>
                                        </p:tgtEl>
                                      </p:cBhvr>
                                      <p:to x="100000" y="100000"/>
                                    </p:animScale>
                                    <p:animScale>
                                      <p:cBhvr>
                                        <p:cTn id="40" dur="26">
                                          <p:stCondLst>
                                            <p:cond delay="1642"/>
                                          </p:stCondLst>
                                        </p:cTn>
                                        <p:tgtEl>
                                          <p:spTgt spid="4"/>
                                        </p:tgtEl>
                                      </p:cBhvr>
                                      <p:to x="100000" y="90000"/>
                                    </p:animScale>
                                    <p:animScale>
                                      <p:cBhvr>
                                        <p:cTn id="41" dur="166" decel="50000">
                                          <p:stCondLst>
                                            <p:cond delay="1668"/>
                                          </p:stCondLst>
                                        </p:cTn>
                                        <p:tgtEl>
                                          <p:spTgt spid="4"/>
                                        </p:tgtEl>
                                      </p:cBhvr>
                                      <p:to x="100000" y="100000"/>
                                    </p:animScale>
                                    <p:animScale>
                                      <p:cBhvr>
                                        <p:cTn id="42" dur="26">
                                          <p:stCondLst>
                                            <p:cond delay="1808"/>
                                          </p:stCondLst>
                                        </p:cTn>
                                        <p:tgtEl>
                                          <p:spTgt spid="4"/>
                                        </p:tgtEl>
                                      </p:cBhvr>
                                      <p:to x="100000" y="95000"/>
                                    </p:animScale>
                                    <p:animScale>
                                      <p:cBhvr>
                                        <p:cTn id="43"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524000" y="314008"/>
            <a:ext cx="9144000" cy="1655762"/>
          </a:xfrm>
        </p:spPr>
        <p:txBody>
          <a:bodyPr>
            <a:normAutofit/>
          </a:bodyPr>
          <a:lstStyle/>
          <a:p>
            <a:r>
              <a:rPr lang="hu-HU" b="1" dirty="0"/>
              <a:t>Linux kezelése</a:t>
            </a:r>
            <a:endParaRPr lang="en-GB" dirty="0"/>
          </a:p>
          <a:p>
            <a:endParaRPr lang="en-GB" sz="1600" dirty="0"/>
          </a:p>
        </p:txBody>
      </p:sp>
      <p:sp>
        <p:nvSpPr>
          <p:cNvPr id="2" name="Szövegdoboz 1">
            <a:extLst>
              <a:ext uri="{FF2B5EF4-FFF2-40B4-BE49-F238E27FC236}">
                <a16:creationId xmlns:a16="http://schemas.microsoft.com/office/drawing/2014/main" id="{B706FCFF-A692-4E7E-8553-F9CA261B2063}"/>
              </a:ext>
            </a:extLst>
          </p:cNvPr>
          <p:cNvSpPr txBox="1"/>
          <p:nvPr/>
        </p:nvSpPr>
        <p:spPr>
          <a:xfrm>
            <a:off x="624840" y="960121"/>
            <a:ext cx="4797392" cy="646331"/>
          </a:xfrm>
          <a:prstGeom prst="rect">
            <a:avLst/>
          </a:prstGeom>
          <a:noFill/>
        </p:spPr>
        <p:txBody>
          <a:bodyPr wrap="square" rtlCol="0">
            <a:spAutoFit/>
          </a:bodyPr>
          <a:lstStyle/>
          <a:p>
            <a:r>
              <a:rPr lang="hu-HU" b="1" dirty="0"/>
              <a:t>Teljes fájlrendszer hierarchia megismerése:</a:t>
            </a:r>
            <a:endParaRPr lang="en-GB" dirty="0"/>
          </a:p>
          <a:p>
            <a:endParaRPr lang="en-GB" dirty="0"/>
          </a:p>
        </p:txBody>
      </p:sp>
      <p:graphicFrame>
        <p:nvGraphicFramePr>
          <p:cNvPr id="4" name="Táblázat 3">
            <a:extLst>
              <a:ext uri="{FF2B5EF4-FFF2-40B4-BE49-F238E27FC236}">
                <a16:creationId xmlns:a16="http://schemas.microsoft.com/office/drawing/2014/main" id="{5EE45966-6EFA-473D-A0D1-8DBC676B2FD5}"/>
              </a:ext>
            </a:extLst>
          </p:cNvPr>
          <p:cNvGraphicFramePr>
            <a:graphicFrameLocks noGrp="1"/>
          </p:cNvGraphicFramePr>
          <p:nvPr>
            <p:extLst>
              <p:ext uri="{D42A27DB-BD31-4B8C-83A1-F6EECF244321}">
                <p14:modId xmlns:p14="http://schemas.microsoft.com/office/powerpoint/2010/main" val="1072383476"/>
              </p:ext>
            </p:extLst>
          </p:nvPr>
        </p:nvGraphicFramePr>
        <p:xfrm>
          <a:off x="12377530" y="-13252"/>
          <a:ext cx="9936482" cy="4311313"/>
        </p:xfrm>
        <a:graphic>
          <a:graphicData uri="http://schemas.openxmlformats.org/drawingml/2006/table">
            <a:tbl>
              <a:tblPr firstCol="1" bandRow="1">
                <a:tableStyleId>{073A0DAA-6AF3-43AB-8588-CEC1D06C72B9}</a:tableStyleId>
              </a:tblPr>
              <a:tblGrid>
                <a:gridCol w="4968241">
                  <a:extLst>
                    <a:ext uri="{9D8B030D-6E8A-4147-A177-3AD203B41FA5}">
                      <a16:colId xmlns:a16="http://schemas.microsoft.com/office/drawing/2014/main" val="3251305339"/>
                    </a:ext>
                  </a:extLst>
                </a:gridCol>
                <a:gridCol w="4968241">
                  <a:extLst>
                    <a:ext uri="{9D8B030D-6E8A-4147-A177-3AD203B41FA5}">
                      <a16:colId xmlns:a16="http://schemas.microsoft.com/office/drawing/2014/main" val="2529207143"/>
                    </a:ext>
                  </a:extLst>
                </a:gridCol>
              </a:tblGrid>
              <a:tr h="666750">
                <a:tc>
                  <a:txBody>
                    <a:bodyPr/>
                    <a:lstStyle/>
                    <a:p>
                      <a:pPr>
                        <a:lnSpc>
                          <a:spcPct val="107000"/>
                        </a:lnSpc>
                        <a:spcAft>
                          <a:spcPts val="0"/>
                        </a:spcAft>
                      </a:pPr>
                      <a:r>
                        <a:rPr lang="hu-HU" sz="1200" dirty="0">
                          <a:effectLst/>
                        </a:rPr>
                        <a:t>’/</a:t>
                      </a:r>
                      <a:r>
                        <a:rPr lang="hu-HU" sz="1200" dirty="0" err="1">
                          <a:effectLst/>
                        </a:rPr>
                        <a:t>bin</a:t>
                      </a:r>
                      <a:r>
                        <a:rPr lang="hu-HU" sz="1200" dirty="0">
                          <a:effectLst/>
                        </a:rPr>
                        <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Az adott </a:t>
                      </a:r>
                      <a:r>
                        <a:rPr lang="hu-HU" sz="1200" dirty="0" err="1">
                          <a:effectLst/>
                        </a:rPr>
                        <a:t>distro</a:t>
                      </a:r>
                      <a:r>
                        <a:rPr lang="hu-HU" sz="1200" dirty="0">
                          <a:effectLst/>
                        </a:rPr>
                        <a:t>-ban fellelhető futtatható állományok amiket bármikor futtatni tudunk a terminálból(pl.: </a:t>
                      </a:r>
                      <a:r>
                        <a:rPr lang="hu-HU" sz="1200" dirty="0" err="1">
                          <a:effectLst/>
                        </a:rPr>
                        <a:t>vim</a:t>
                      </a:r>
                      <a:r>
                        <a:rPr lang="hu-HU" sz="1200" dirty="0">
                          <a:effectLst/>
                        </a:rPr>
                        <a:t>, </a:t>
                      </a:r>
                      <a:r>
                        <a:rPr lang="hu-HU" sz="1200" dirty="0" err="1">
                          <a:effectLst/>
                        </a:rPr>
                        <a:t>dpkg</a:t>
                      </a:r>
                      <a:r>
                        <a:rPr lang="hu-HU" sz="1200" dirty="0">
                          <a:effectLst/>
                        </a:rPr>
                        <a:t>,…stb.)</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563023679"/>
                  </a:ext>
                </a:extLst>
              </a:tr>
              <a:tr h="325854">
                <a:tc>
                  <a:txBody>
                    <a:bodyPr/>
                    <a:lstStyle/>
                    <a:p>
                      <a:pPr>
                        <a:lnSpc>
                          <a:spcPct val="107000"/>
                        </a:lnSpc>
                        <a:spcAft>
                          <a:spcPts val="0"/>
                        </a:spcAft>
                      </a:pPr>
                      <a:r>
                        <a:rPr lang="hu-HU" sz="1200" dirty="0">
                          <a:effectLst/>
                        </a:rPr>
                        <a:t>’/boot’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Statikus fájlok a bootloader számára</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45743134"/>
                  </a:ext>
                </a:extLst>
              </a:tr>
              <a:tr h="325854">
                <a:tc>
                  <a:txBody>
                    <a:bodyPr/>
                    <a:lstStyle/>
                    <a:p>
                      <a:pPr>
                        <a:lnSpc>
                          <a:spcPct val="107000"/>
                        </a:lnSpc>
                        <a:spcAft>
                          <a:spcPts val="0"/>
                        </a:spcAft>
                      </a:pPr>
                      <a:r>
                        <a:rPr lang="hu-HU" sz="1200">
                          <a:effectLst/>
                        </a:rPr>
                        <a:t>’/dev’</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Eszköz fájlok(driver-ek, meghajtók…stb.)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220014413"/>
                  </a:ext>
                </a:extLst>
              </a:tr>
              <a:tr h="666750">
                <a:tc>
                  <a:txBody>
                    <a:bodyPr/>
                    <a:lstStyle/>
                    <a:p>
                      <a:pPr>
                        <a:lnSpc>
                          <a:spcPct val="107000"/>
                        </a:lnSpc>
                        <a:spcAft>
                          <a:spcPts val="0"/>
                        </a:spcAft>
                      </a:pPr>
                      <a:r>
                        <a:rPr lang="hu-HU" sz="1200">
                          <a:effectLst/>
                        </a:rPr>
                        <a:t>’/etc’</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Itt megtalálhatók a .conf fájlok, melyek adott programokhoz tartozó konfigurációs fájlok(ezeket átlehet írni)</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3919562708"/>
                  </a:ext>
                </a:extLst>
              </a:tr>
              <a:tr h="1007647">
                <a:tc>
                  <a:txBody>
                    <a:bodyPr/>
                    <a:lstStyle/>
                    <a:p>
                      <a:pPr>
                        <a:lnSpc>
                          <a:spcPct val="107000"/>
                        </a:lnSpc>
                        <a:spcAft>
                          <a:spcPts val="0"/>
                        </a:spcAft>
                      </a:pPr>
                      <a:r>
                        <a:rPr lang="hu-HU" sz="1200">
                          <a:effectLst/>
                        </a:rPr>
                        <a:t>’/lib’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Ez a könyvtár egy megosztott könyvtárként működik, több programhoz tartozó szükséges </a:t>
                      </a:r>
                      <a:r>
                        <a:rPr lang="hu-HU" sz="1200" dirty="0" err="1">
                          <a:effectLst/>
                        </a:rPr>
                        <a:t>filelokat</a:t>
                      </a:r>
                      <a:r>
                        <a:rPr lang="hu-HU" sz="1200" dirty="0">
                          <a:effectLst/>
                        </a:rPr>
                        <a:t> tartalmaz, megtalálható itt a kernelhez tartozó </a:t>
                      </a:r>
                      <a:r>
                        <a:rPr lang="hu-HU" sz="1200" dirty="0" err="1">
                          <a:effectLst/>
                        </a:rPr>
                        <a:t>module</a:t>
                      </a:r>
                      <a:r>
                        <a:rPr lang="hu-HU" sz="1200" dirty="0">
                          <a:effectLst/>
                        </a:rPr>
                        <a:t> fájlok…stb. Olyan mint </a:t>
                      </a:r>
                      <a:r>
                        <a:rPr lang="hu-HU" sz="1200" dirty="0" err="1">
                          <a:effectLst/>
                        </a:rPr>
                        <a:t>windows-on</a:t>
                      </a:r>
                      <a:r>
                        <a:rPr lang="hu-HU" sz="1200" dirty="0">
                          <a:effectLst/>
                        </a:rPr>
                        <a:t> a DLL fájlok.</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3117235130"/>
                  </a:ext>
                </a:extLst>
              </a:tr>
              <a:tr h="325854">
                <a:tc>
                  <a:txBody>
                    <a:bodyPr/>
                    <a:lstStyle/>
                    <a:p>
                      <a:pPr>
                        <a:lnSpc>
                          <a:spcPct val="107000"/>
                        </a:lnSpc>
                        <a:spcAft>
                          <a:spcPts val="0"/>
                        </a:spcAft>
                      </a:pPr>
                      <a:r>
                        <a:rPr lang="hu-HU" sz="1200">
                          <a:effectLst/>
                        </a:rPr>
                        <a:t>’/media’</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Ideiglenes fájlhordozók könyvtára (pl.: pendrive, floppy…stb.)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083624583"/>
                  </a:ext>
                </a:extLst>
              </a:tr>
              <a:tr h="325854">
                <a:tc>
                  <a:txBody>
                    <a:bodyPr/>
                    <a:lstStyle/>
                    <a:p>
                      <a:pPr>
                        <a:lnSpc>
                          <a:spcPct val="107000"/>
                        </a:lnSpc>
                        <a:spcAft>
                          <a:spcPts val="0"/>
                        </a:spcAft>
                      </a:pPr>
                      <a:r>
                        <a:rPr lang="hu-HU" sz="1200">
                          <a:effectLst/>
                        </a:rPr>
                        <a:t>’/mnt’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Fix partíciók helye (mnt - mount)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3097822301"/>
                  </a:ext>
                </a:extLst>
              </a:tr>
              <a:tr h="666750">
                <a:tc>
                  <a:txBody>
                    <a:bodyPr/>
                    <a:lstStyle/>
                    <a:p>
                      <a:pPr>
                        <a:lnSpc>
                          <a:spcPct val="107000"/>
                        </a:lnSpc>
                        <a:spcAft>
                          <a:spcPts val="0"/>
                        </a:spcAft>
                      </a:pPr>
                      <a:r>
                        <a:rPr lang="hu-HU" sz="1200">
                          <a:effectLst/>
                        </a:rPr>
                        <a:t>’/opt’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Idegen forrásból származó felhasználói programok opcionális telepítési helye, ritkán használják</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499983919"/>
                  </a:ext>
                </a:extLst>
              </a:tr>
            </a:tbl>
          </a:graphicData>
        </a:graphic>
      </p:graphicFrame>
      <p:graphicFrame>
        <p:nvGraphicFramePr>
          <p:cNvPr id="6" name="Táblázat 5">
            <a:extLst>
              <a:ext uri="{FF2B5EF4-FFF2-40B4-BE49-F238E27FC236}">
                <a16:creationId xmlns:a16="http://schemas.microsoft.com/office/drawing/2014/main" id="{563BA5A1-6EEC-41FA-B828-7F118CA421F1}"/>
              </a:ext>
            </a:extLst>
          </p:cNvPr>
          <p:cNvGraphicFramePr>
            <a:graphicFrameLocks noGrp="1"/>
          </p:cNvGraphicFramePr>
          <p:nvPr>
            <p:extLst>
              <p:ext uri="{D42A27DB-BD31-4B8C-83A1-F6EECF244321}">
                <p14:modId xmlns:p14="http://schemas.microsoft.com/office/powerpoint/2010/main" val="29996822"/>
              </p:ext>
            </p:extLst>
          </p:nvPr>
        </p:nvGraphicFramePr>
        <p:xfrm>
          <a:off x="12377530" y="4419081"/>
          <a:ext cx="9936482" cy="4434727"/>
        </p:xfrm>
        <a:graphic>
          <a:graphicData uri="http://schemas.openxmlformats.org/drawingml/2006/table">
            <a:tbl>
              <a:tblPr firstCol="1" bandRow="1">
                <a:tableStyleId>{073A0DAA-6AF3-43AB-8588-CEC1D06C72B9}</a:tableStyleId>
              </a:tblPr>
              <a:tblGrid>
                <a:gridCol w="4968241">
                  <a:extLst>
                    <a:ext uri="{9D8B030D-6E8A-4147-A177-3AD203B41FA5}">
                      <a16:colId xmlns:a16="http://schemas.microsoft.com/office/drawing/2014/main" val="2996218690"/>
                    </a:ext>
                  </a:extLst>
                </a:gridCol>
                <a:gridCol w="4968241">
                  <a:extLst>
                    <a:ext uri="{9D8B030D-6E8A-4147-A177-3AD203B41FA5}">
                      <a16:colId xmlns:a16="http://schemas.microsoft.com/office/drawing/2014/main" val="2583845717"/>
                    </a:ext>
                  </a:extLst>
                </a:gridCol>
              </a:tblGrid>
              <a:tr h="383202">
                <a:tc>
                  <a:txBody>
                    <a:bodyPr/>
                    <a:lstStyle/>
                    <a:p>
                      <a:pPr>
                        <a:lnSpc>
                          <a:spcPct val="107000"/>
                        </a:lnSpc>
                        <a:spcAft>
                          <a:spcPts val="0"/>
                        </a:spcAft>
                      </a:pPr>
                      <a:r>
                        <a:rPr lang="hu-HU" sz="1200">
                          <a:effectLst/>
                        </a:rPr>
                        <a:t>’/sbin’</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Ugyan azt a célt szolgálja mint a ’/</a:t>
                      </a:r>
                      <a:r>
                        <a:rPr lang="hu-HU" sz="1200" dirty="0" err="1">
                          <a:effectLst/>
                        </a:rPr>
                        <a:t>bin</a:t>
                      </a:r>
                      <a:r>
                        <a:rPr lang="hu-HU" sz="1200" dirty="0">
                          <a:effectLst/>
                        </a:rPr>
                        <a:t>’ azzal a különbséggel, hogy ebben a könyvtárban lévő parancsokat csak </a:t>
                      </a:r>
                      <a:r>
                        <a:rPr lang="hu-HU" sz="1200" dirty="0" err="1">
                          <a:effectLst/>
                        </a:rPr>
                        <a:t>root</a:t>
                      </a:r>
                      <a:r>
                        <a:rPr lang="hu-HU" sz="1200" dirty="0">
                          <a:effectLst/>
                        </a:rPr>
                        <a:t> jogosultságú személy tudja </a:t>
                      </a:r>
                      <a:r>
                        <a:rPr lang="hu-HU" sz="1200" dirty="0" err="1">
                          <a:effectLst/>
                        </a:rPr>
                        <a:t>futtani</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41094690"/>
                  </a:ext>
                </a:extLst>
              </a:tr>
              <a:tr h="383202">
                <a:tc>
                  <a:txBody>
                    <a:bodyPr/>
                    <a:lstStyle/>
                    <a:p>
                      <a:pPr>
                        <a:lnSpc>
                          <a:spcPct val="107000"/>
                        </a:lnSpc>
                        <a:spcAft>
                          <a:spcPts val="0"/>
                        </a:spcAft>
                      </a:pPr>
                      <a:r>
                        <a:rPr lang="hu-HU" sz="1200">
                          <a:effectLst/>
                        </a:rPr>
                        <a:t>’/tmp’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Átmeneti fájlok, melyek szükségesek lehetnek néhány folyamat/alkalmazás számára(újra indításkor törlődik ez a memória egység !)</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4222282463"/>
                  </a:ext>
                </a:extLst>
              </a:tr>
              <a:tr h="579126">
                <a:tc>
                  <a:txBody>
                    <a:bodyPr/>
                    <a:lstStyle/>
                    <a:p>
                      <a:pPr>
                        <a:lnSpc>
                          <a:spcPct val="107000"/>
                        </a:lnSpc>
                        <a:spcAft>
                          <a:spcPts val="0"/>
                        </a:spcAft>
                      </a:pPr>
                      <a:r>
                        <a:rPr lang="hu-HU" sz="1200" dirty="0">
                          <a:effectLst/>
                        </a:rPr>
                        <a:t>’/</a:t>
                      </a:r>
                      <a:r>
                        <a:rPr lang="hu-HU" sz="1200" dirty="0" err="1">
                          <a:effectLst/>
                        </a:rPr>
                        <a:t>usr</a:t>
                      </a:r>
                      <a:r>
                        <a:rPr lang="hu-HU" sz="1200" dirty="0">
                          <a:effectLst/>
                        </a:rPr>
                        <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Felhasználói állományok, dokumentumaik, könyvtárak,…stb.(csak olvasható, majdnem minden megtalálható itt pl.: ikonok, dokumentációk…stb.) felhasználó programok, mint a telnet, ftp…stb. (usr - User System Resources)</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2954221663"/>
                  </a:ext>
                </a:extLst>
              </a:tr>
              <a:tr h="925396">
                <a:tc>
                  <a:txBody>
                    <a:bodyPr/>
                    <a:lstStyle/>
                    <a:p>
                      <a:pPr>
                        <a:lnSpc>
                          <a:spcPct val="107000"/>
                        </a:lnSpc>
                        <a:spcAft>
                          <a:spcPts val="0"/>
                        </a:spcAft>
                      </a:pPr>
                      <a:r>
                        <a:rPr lang="hu-HU" sz="1200">
                          <a:effectLst/>
                        </a:rPr>
                        <a:t>’/root’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Root-nak a saját könyvtára, bármihez hozzáfér és mindenhova írási joga van. Azért nem a /home könyvtár alatt van, mert ha a /home könyvtár tegyük fel, más fizikai tároló egységen van és megsérül, akkor nem biztos, hogy valaha is vissza tudjuk csatolni a /root könyvtárat.</a:t>
                      </a:r>
                      <a:endParaRPr lang="en-GB" sz="1200">
                        <a:effectLst/>
                      </a:endParaRPr>
                    </a:p>
                    <a:p>
                      <a:pPr>
                        <a:lnSpc>
                          <a:spcPct val="107000"/>
                        </a:lnSpc>
                        <a:spcAft>
                          <a:spcPts val="0"/>
                        </a:spcAft>
                      </a:pPr>
                      <a:r>
                        <a:rPr lang="hu-HU" sz="1200">
                          <a:effectLst/>
                        </a:rPr>
                        <a:t>(root – rendszeradminisztrátor)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2278772218"/>
                  </a:ext>
                </a:extLst>
              </a:tr>
              <a:tr h="187278">
                <a:tc>
                  <a:txBody>
                    <a:bodyPr/>
                    <a:lstStyle/>
                    <a:p>
                      <a:pPr>
                        <a:lnSpc>
                          <a:spcPct val="107000"/>
                        </a:lnSpc>
                        <a:spcAft>
                          <a:spcPts val="0"/>
                        </a:spcAft>
                      </a:pPr>
                      <a:r>
                        <a:rPr lang="hu-HU" sz="1200">
                          <a:effectLst/>
                        </a:rPr>
                        <a:t>’/var’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Gyűjtő könyvtár, itt megtalálhatók a naplófájlok, cache fájlok…stb.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228520756"/>
                  </a:ext>
                </a:extLst>
              </a:tr>
              <a:tr h="721389">
                <a:tc>
                  <a:txBody>
                    <a:bodyPr/>
                    <a:lstStyle/>
                    <a:p>
                      <a:pPr>
                        <a:lnSpc>
                          <a:spcPct val="107000"/>
                        </a:lnSpc>
                        <a:spcAft>
                          <a:spcPts val="0"/>
                        </a:spcAft>
                      </a:pPr>
                      <a:r>
                        <a:rPr lang="hu-HU" sz="1200">
                          <a:effectLst/>
                        </a:rPr>
                        <a:t>’/home’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a:effectLst/>
                        </a:rPr>
                        <a:t>Mivel a Linux támogatja a több felhasználót, ezért ebben a könyvtárban találhatóak a többi felhasználónak a névvel ellátott könyvtára és abban az általuk létrehozott dolgok(Az adott könyvtáron belül a felhasználónak korlátlan joga van)</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97948299"/>
                  </a:ext>
                </a:extLst>
              </a:tr>
              <a:tr h="775050">
                <a:tc>
                  <a:txBody>
                    <a:bodyPr/>
                    <a:lstStyle/>
                    <a:p>
                      <a:pPr>
                        <a:lnSpc>
                          <a:spcPct val="107000"/>
                        </a:lnSpc>
                        <a:spcAft>
                          <a:spcPts val="0"/>
                        </a:spcAft>
                      </a:pPr>
                      <a:r>
                        <a:rPr lang="hu-HU" sz="1200">
                          <a:effectLst/>
                        </a:rPr>
                        <a:t>’/lost+found’</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Minden egyes </a:t>
                      </a:r>
                      <a:r>
                        <a:rPr lang="hu-HU" sz="1200" dirty="0" err="1">
                          <a:effectLst/>
                        </a:rPr>
                        <a:t>ext</a:t>
                      </a:r>
                      <a:r>
                        <a:rPr lang="hu-HU" sz="1200" dirty="0">
                          <a:effectLst/>
                        </a:rPr>
                        <a:t> partíció gyökér könyvtárban van egy </a:t>
                      </a:r>
                      <a:r>
                        <a:rPr lang="hu-HU" sz="1200" dirty="0" err="1">
                          <a:effectLst/>
                        </a:rPr>
                        <a:t>lost+found</a:t>
                      </a:r>
                      <a:r>
                        <a:rPr lang="hu-HU" sz="1200" dirty="0">
                          <a:effectLst/>
                        </a:rPr>
                        <a:t> könyvtár. </a:t>
                      </a:r>
                      <a:br>
                        <a:rPr lang="hu-HU" sz="1200" dirty="0">
                          <a:effectLst/>
                        </a:rPr>
                      </a:br>
                      <a:br>
                        <a:rPr lang="hu-HU" sz="1200" dirty="0">
                          <a:effectLst/>
                        </a:rPr>
                      </a:br>
                      <a:r>
                        <a:rPr lang="hu-HU" sz="1200" dirty="0">
                          <a:effectLst/>
                        </a:rPr>
                        <a:t>Arra szolgál, hogy a rendszer fájlrendszer sérülés esetén ide állítja helyre a sérült állományokat.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910823578"/>
                  </a:ext>
                </a:extLst>
              </a:tr>
              <a:tr h="356671">
                <a:tc>
                  <a:txBody>
                    <a:bodyPr/>
                    <a:lstStyle/>
                    <a:p>
                      <a:pPr>
                        <a:lnSpc>
                          <a:spcPct val="107000"/>
                        </a:lnSpc>
                        <a:spcAft>
                          <a:spcPts val="0"/>
                        </a:spcAft>
                      </a:pPr>
                      <a:r>
                        <a:rPr lang="hu-HU" sz="1200">
                          <a:effectLst/>
                        </a:rPr>
                        <a:t>’/proc’</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tc>
                  <a:txBody>
                    <a:bodyPr/>
                    <a:lstStyle/>
                    <a:p>
                      <a:pPr>
                        <a:lnSpc>
                          <a:spcPct val="107000"/>
                        </a:lnSpc>
                        <a:spcAft>
                          <a:spcPts val="0"/>
                        </a:spcAft>
                      </a:pPr>
                      <a:r>
                        <a:rPr lang="hu-HU" sz="1200" dirty="0">
                          <a:effectLst/>
                        </a:rPr>
                        <a:t>Éppen futó műveletek fájlként + információk a rendszerről: processzor, memória…stb.</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3772" marR="23772" marT="0" marB="0"/>
                </a:tc>
                <a:extLst>
                  <a:ext uri="{0D108BD9-81ED-4DB2-BD59-A6C34878D82A}">
                    <a16:rowId xmlns:a16="http://schemas.microsoft.com/office/drawing/2014/main" val="1500430748"/>
                  </a:ext>
                </a:extLst>
              </a:tr>
            </a:tbl>
          </a:graphicData>
        </a:graphic>
      </p:graphicFrame>
    </p:spTree>
    <p:extLst>
      <p:ext uri="{BB962C8B-B14F-4D97-AF65-F5344CB8AC3E}">
        <p14:creationId xmlns:p14="http://schemas.microsoft.com/office/powerpoint/2010/main" val="19889645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75E-6 1.48148E-6 L -0.92266 0.24143 " pathEditMode="relative" rAng="0" ptsTypes="AA">
                                      <p:cBhvr>
                                        <p:cTn id="6" dur="2000" fill="hold"/>
                                        <p:tgtEl>
                                          <p:spTgt spid="4"/>
                                        </p:tgtEl>
                                        <p:attrNameLst>
                                          <p:attrName>ppt_x</p:attrName>
                                          <p:attrName>ppt_y</p:attrName>
                                        </p:attrNameLst>
                                      </p:cBhvr>
                                      <p:rCtr x="-46133" y="12060"/>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92266 0.24143 L 1.66667E-6 1.48148E-6 " pathEditMode="relative" rAng="0" ptsTypes="AA">
                                      <p:cBhvr>
                                        <p:cTn id="10" dur="2000" fill="hold"/>
                                        <p:tgtEl>
                                          <p:spTgt spid="4"/>
                                        </p:tgtEl>
                                        <p:attrNameLst>
                                          <p:attrName>ppt_x</p:attrName>
                                          <p:attrName>ppt_y</p:attrName>
                                        </p:attrNameLst>
                                      </p:cBhvr>
                                      <p:rCtr x="46198" y="-12083"/>
                                    </p:animMotion>
                                  </p:childTnLst>
                                </p:cTn>
                              </p:par>
                              <p:par>
                                <p:cTn id="11" presetID="35" presetClass="path" presetSubtype="0" accel="50000" decel="50000" fill="hold" nodeType="withEffect">
                                  <p:stCondLst>
                                    <p:cond delay="0"/>
                                  </p:stCondLst>
                                  <p:childTnLst>
                                    <p:animMotion origin="layout" path="M 3.75E-6 -2.59259E-6 L -0.92266 -0.41389 " pathEditMode="relative" rAng="0" ptsTypes="AA">
                                      <p:cBhvr>
                                        <p:cTn id="12" dur="2000" fill="hold"/>
                                        <p:tgtEl>
                                          <p:spTgt spid="6"/>
                                        </p:tgtEl>
                                        <p:attrNameLst>
                                          <p:attrName>ppt_x</p:attrName>
                                          <p:attrName>ppt_y</p:attrName>
                                        </p:attrNameLst>
                                      </p:cBhvr>
                                      <p:rCtr x="-46133" y="-208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562100" y="268288"/>
            <a:ext cx="9144000" cy="1655762"/>
          </a:xfrm>
        </p:spPr>
        <p:txBody>
          <a:bodyPr>
            <a:normAutofit/>
          </a:bodyPr>
          <a:lstStyle/>
          <a:p>
            <a:r>
              <a:rPr lang="hu-HU" b="1" dirty="0"/>
              <a:t>Alap terminál </a:t>
            </a:r>
            <a:r>
              <a:rPr lang="hu-HU" b="1"/>
              <a:t>parancsok bemutatása:</a:t>
            </a:r>
            <a:endParaRPr lang="en-GB" dirty="0"/>
          </a:p>
          <a:p>
            <a:endParaRPr lang="en-GB" sz="1600" dirty="0"/>
          </a:p>
        </p:txBody>
      </p:sp>
      <p:graphicFrame>
        <p:nvGraphicFramePr>
          <p:cNvPr id="3" name="Táblázat 2">
            <a:extLst>
              <a:ext uri="{FF2B5EF4-FFF2-40B4-BE49-F238E27FC236}">
                <a16:creationId xmlns:a16="http://schemas.microsoft.com/office/drawing/2014/main" id="{0BD54748-66D6-464B-BCEE-FA06147F52B8}"/>
              </a:ext>
            </a:extLst>
          </p:cNvPr>
          <p:cNvGraphicFramePr>
            <a:graphicFrameLocks noGrp="1"/>
          </p:cNvGraphicFramePr>
          <p:nvPr>
            <p:extLst>
              <p:ext uri="{D42A27DB-BD31-4B8C-83A1-F6EECF244321}">
                <p14:modId xmlns:p14="http://schemas.microsoft.com/office/powerpoint/2010/main" val="3398729910"/>
              </p:ext>
            </p:extLst>
          </p:nvPr>
        </p:nvGraphicFramePr>
        <p:xfrm>
          <a:off x="12567096" y="0"/>
          <a:ext cx="8287790" cy="5874829"/>
        </p:xfrm>
        <a:graphic>
          <a:graphicData uri="http://schemas.openxmlformats.org/drawingml/2006/table">
            <a:tbl>
              <a:tblPr firstCol="1" bandRow="1">
                <a:tableStyleId>{073A0DAA-6AF3-43AB-8588-CEC1D06C72B9}</a:tableStyleId>
              </a:tblPr>
              <a:tblGrid>
                <a:gridCol w="4143895">
                  <a:extLst>
                    <a:ext uri="{9D8B030D-6E8A-4147-A177-3AD203B41FA5}">
                      <a16:colId xmlns:a16="http://schemas.microsoft.com/office/drawing/2014/main" val="1022743803"/>
                    </a:ext>
                  </a:extLst>
                </a:gridCol>
                <a:gridCol w="4143895">
                  <a:extLst>
                    <a:ext uri="{9D8B030D-6E8A-4147-A177-3AD203B41FA5}">
                      <a16:colId xmlns:a16="http://schemas.microsoft.com/office/drawing/2014/main" val="2739553966"/>
                    </a:ext>
                  </a:extLst>
                </a:gridCol>
              </a:tblGrid>
              <a:tr h="402905">
                <a:tc>
                  <a:txBody>
                    <a:bodyPr/>
                    <a:lstStyle/>
                    <a:p>
                      <a:pPr>
                        <a:lnSpc>
                          <a:spcPct val="107000"/>
                        </a:lnSpc>
                        <a:spcAft>
                          <a:spcPts val="0"/>
                        </a:spcAft>
                      </a:pPr>
                      <a:r>
                        <a:rPr lang="hu-HU" sz="1200" dirty="0">
                          <a:effectLst/>
                        </a:rPr>
                        <a:t>cd</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dirty="0">
                          <a:effectLst/>
                        </a:rPr>
                        <a:t>Jelentése: </a:t>
                      </a:r>
                      <a:r>
                        <a:rPr lang="hu-HU" sz="1200" dirty="0" err="1">
                          <a:effectLst/>
                        </a:rPr>
                        <a:t>Change</a:t>
                      </a:r>
                      <a:r>
                        <a:rPr lang="hu-HU" sz="1200" dirty="0">
                          <a:effectLst/>
                        </a:rPr>
                        <a:t> </a:t>
                      </a:r>
                      <a:r>
                        <a:rPr lang="hu-HU" sz="1200" dirty="0" err="1">
                          <a:effectLst/>
                        </a:rPr>
                        <a:t>Directory</a:t>
                      </a:r>
                      <a:endParaRPr lang="en-GB" sz="1200" dirty="0">
                        <a:effectLst/>
                      </a:endParaRPr>
                    </a:p>
                    <a:p>
                      <a:pPr>
                        <a:lnSpc>
                          <a:spcPct val="107000"/>
                        </a:lnSpc>
                        <a:spcAft>
                          <a:spcPts val="0"/>
                        </a:spcAft>
                      </a:pPr>
                      <a:r>
                        <a:rPr lang="hu-HU" sz="1200" dirty="0">
                          <a:effectLst/>
                        </a:rPr>
                        <a:t>Művelet: Mászkálás a könyvtárak között</a:t>
                      </a:r>
                      <a:endParaRPr lang="en-GB" sz="1200" dirty="0">
                        <a:effectLst/>
                      </a:endParaRPr>
                    </a:p>
                    <a:p>
                      <a:pPr>
                        <a:lnSpc>
                          <a:spcPct val="107000"/>
                        </a:lnSpc>
                        <a:spcAft>
                          <a:spcPts val="0"/>
                        </a:spcAft>
                      </a:pPr>
                      <a:r>
                        <a:rPr lang="hu-HU" sz="1200" dirty="0">
                          <a:effectLst/>
                        </a:rPr>
                        <a:t>Használata: cd &lt;/</a:t>
                      </a:r>
                      <a:r>
                        <a:rPr lang="hu-HU" sz="1200" dirty="0" err="1">
                          <a:effectLst/>
                        </a:rPr>
                        <a:t>könyvtár_neve</a:t>
                      </a:r>
                      <a:r>
                        <a:rPr lang="hu-HU" sz="1200" dirty="0">
                          <a:effectLst/>
                        </a:rPr>
                        <a:t>&gt;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1115201656"/>
                  </a:ext>
                </a:extLst>
              </a:tr>
              <a:tr h="513371">
                <a:tc>
                  <a:txBody>
                    <a:bodyPr/>
                    <a:lstStyle/>
                    <a:p>
                      <a:pPr>
                        <a:lnSpc>
                          <a:spcPct val="107000"/>
                        </a:lnSpc>
                        <a:spcAft>
                          <a:spcPts val="0"/>
                        </a:spcAft>
                      </a:pPr>
                      <a:r>
                        <a:rPr lang="hu-HU" sz="1200">
                          <a:effectLst/>
                        </a:rPr>
                        <a:t>ls</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LiSt</a:t>
                      </a:r>
                      <a:endParaRPr lang="en-GB" sz="1200">
                        <a:effectLst/>
                      </a:endParaRPr>
                    </a:p>
                    <a:p>
                      <a:pPr>
                        <a:lnSpc>
                          <a:spcPct val="107000"/>
                        </a:lnSpc>
                        <a:spcAft>
                          <a:spcPts val="0"/>
                        </a:spcAft>
                      </a:pPr>
                      <a:r>
                        <a:rPr lang="hu-HU" sz="1200">
                          <a:effectLst/>
                        </a:rPr>
                        <a:t>Művelet: könyvtár tartalmának kilistázása</a:t>
                      </a:r>
                      <a:endParaRPr lang="en-GB" sz="1200">
                        <a:effectLst/>
                      </a:endParaRPr>
                    </a:p>
                    <a:p>
                      <a:pPr>
                        <a:lnSpc>
                          <a:spcPct val="107000"/>
                        </a:lnSpc>
                        <a:spcAft>
                          <a:spcPts val="0"/>
                        </a:spcAft>
                      </a:pPr>
                      <a:r>
                        <a:rPr lang="hu-HU" sz="1200">
                          <a:effectLst/>
                        </a:rPr>
                        <a:t>Használata: ls &lt;/könyvtár_neve&gt;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1354708704"/>
                  </a:ext>
                </a:extLst>
              </a:tr>
              <a:tr h="402905">
                <a:tc>
                  <a:txBody>
                    <a:bodyPr/>
                    <a:lstStyle/>
                    <a:p>
                      <a:pPr>
                        <a:lnSpc>
                          <a:spcPct val="107000"/>
                        </a:lnSpc>
                        <a:spcAft>
                          <a:spcPts val="0"/>
                        </a:spcAft>
                      </a:pPr>
                      <a:r>
                        <a:rPr lang="hu-HU" sz="1200">
                          <a:effectLst/>
                        </a:rPr>
                        <a:t>cat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ConcAtenaTe</a:t>
                      </a:r>
                      <a:endParaRPr lang="en-GB" sz="1200">
                        <a:effectLst/>
                      </a:endParaRPr>
                    </a:p>
                    <a:p>
                      <a:pPr>
                        <a:lnSpc>
                          <a:spcPct val="107000"/>
                        </a:lnSpc>
                        <a:spcAft>
                          <a:spcPts val="0"/>
                        </a:spcAft>
                      </a:pPr>
                      <a:r>
                        <a:rPr lang="hu-HU" sz="1200">
                          <a:effectLst/>
                        </a:rPr>
                        <a:t>Művelet: fájl tartalmának kiíratása</a:t>
                      </a:r>
                      <a:endParaRPr lang="en-GB" sz="1200">
                        <a:effectLst/>
                      </a:endParaRPr>
                    </a:p>
                    <a:p>
                      <a:pPr>
                        <a:lnSpc>
                          <a:spcPct val="107000"/>
                        </a:lnSpc>
                        <a:spcAft>
                          <a:spcPts val="0"/>
                        </a:spcAft>
                      </a:pPr>
                      <a:r>
                        <a:rPr lang="hu-HU" sz="1200">
                          <a:effectLst/>
                        </a:rPr>
                        <a:t>Használata: cat &lt;fájlnév&gt;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3295812652"/>
                  </a:ext>
                </a:extLst>
              </a:tr>
              <a:tr h="402905">
                <a:tc>
                  <a:txBody>
                    <a:bodyPr/>
                    <a:lstStyle/>
                    <a:p>
                      <a:pPr>
                        <a:lnSpc>
                          <a:spcPct val="107000"/>
                        </a:lnSpc>
                        <a:spcAft>
                          <a:spcPts val="0"/>
                        </a:spcAft>
                      </a:pPr>
                      <a:r>
                        <a:rPr lang="hu-HU" sz="1200">
                          <a:effectLst/>
                        </a:rPr>
                        <a:t>pwd</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Print Working Directory</a:t>
                      </a:r>
                      <a:endParaRPr lang="en-GB" sz="1200">
                        <a:effectLst/>
                      </a:endParaRPr>
                    </a:p>
                    <a:p>
                      <a:pPr>
                        <a:lnSpc>
                          <a:spcPct val="107000"/>
                        </a:lnSpc>
                        <a:spcAft>
                          <a:spcPts val="0"/>
                        </a:spcAft>
                      </a:pPr>
                      <a:r>
                        <a:rPr lang="hu-HU" sz="1200">
                          <a:effectLst/>
                        </a:rPr>
                        <a:t>Művelet: aktuális könyvtár kiíratása</a:t>
                      </a:r>
                      <a:endParaRPr lang="en-GB" sz="1200">
                        <a:effectLst/>
                      </a:endParaRPr>
                    </a:p>
                    <a:p>
                      <a:pPr>
                        <a:lnSpc>
                          <a:spcPct val="107000"/>
                        </a:lnSpc>
                        <a:spcAft>
                          <a:spcPts val="0"/>
                        </a:spcAft>
                      </a:pPr>
                      <a:r>
                        <a:rPr lang="hu-HU" sz="1200">
                          <a:effectLst/>
                        </a:rPr>
                        <a:t>Használata: pwd</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501843961"/>
                  </a:ext>
                </a:extLst>
              </a:tr>
              <a:tr h="643135">
                <a:tc>
                  <a:txBody>
                    <a:bodyPr/>
                    <a:lstStyle/>
                    <a:p>
                      <a:pPr>
                        <a:lnSpc>
                          <a:spcPct val="107000"/>
                        </a:lnSpc>
                        <a:spcAft>
                          <a:spcPts val="0"/>
                        </a:spcAft>
                      </a:pPr>
                      <a:r>
                        <a:rPr lang="hu-HU" sz="1200">
                          <a:effectLst/>
                        </a:rPr>
                        <a:t>cp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CoPy</a:t>
                      </a:r>
                      <a:endParaRPr lang="en-GB" sz="1200">
                        <a:effectLst/>
                      </a:endParaRPr>
                    </a:p>
                    <a:p>
                      <a:pPr>
                        <a:lnSpc>
                          <a:spcPct val="107000"/>
                        </a:lnSpc>
                        <a:spcAft>
                          <a:spcPts val="0"/>
                        </a:spcAft>
                      </a:pPr>
                      <a:r>
                        <a:rPr lang="hu-HU" sz="1200">
                          <a:effectLst/>
                        </a:rPr>
                        <a:t>Művelet: fájl másolása egyik helyről a másikra</a:t>
                      </a:r>
                      <a:endParaRPr lang="en-GB" sz="1200">
                        <a:effectLst/>
                      </a:endParaRPr>
                    </a:p>
                    <a:p>
                      <a:pPr>
                        <a:lnSpc>
                          <a:spcPct val="107000"/>
                        </a:lnSpc>
                        <a:spcAft>
                          <a:spcPts val="0"/>
                        </a:spcAft>
                      </a:pPr>
                      <a:r>
                        <a:rPr lang="hu-HU" sz="1200">
                          <a:effectLst/>
                        </a:rPr>
                        <a:t>Használata: cp &lt;fájlnév&gt; &lt;/könyvtár_neve&gt;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585826603"/>
                  </a:ext>
                </a:extLst>
              </a:tr>
              <a:tr h="603814">
                <a:tc>
                  <a:txBody>
                    <a:bodyPr/>
                    <a:lstStyle/>
                    <a:p>
                      <a:pPr>
                        <a:lnSpc>
                          <a:spcPct val="107000"/>
                        </a:lnSpc>
                        <a:spcAft>
                          <a:spcPts val="0"/>
                        </a:spcAft>
                      </a:pPr>
                      <a:r>
                        <a:rPr lang="hu-HU" sz="1200">
                          <a:effectLst/>
                        </a:rPr>
                        <a:t>mv</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MoVe</a:t>
                      </a:r>
                      <a:endParaRPr lang="en-GB" sz="1200">
                        <a:effectLst/>
                      </a:endParaRPr>
                    </a:p>
                    <a:p>
                      <a:pPr>
                        <a:lnSpc>
                          <a:spcPct val="107000"/>
                        </a:lnSpc>
                        <a:spcAft>
                          <a:spcPts val="0"/>
                        </a:spcAft>
                      </a:pPr>
                      <a:r>
                        <a:rPr lang="hu-HU" sz="1200">
                          <a:effectLst/>
                        </a:rPr>
                        <a:t>Művelet: fájl mozgatás könyvtárak között</a:t>
                      </a:r>
                      <a:endParaRPr lang="en-GB" sz="1200">
                        <a:effectLst/>
                      </a:endParaRPr>
                    </a:p>
                    <a:p>
                      <a:pPr>
                        <a:lnSpc>
                          <a:spcPct val="107000"/>
                        </a:lnSpc>
                        <a:spcAft>
                          <a:spcPts val="0"/>
                        </a:spcAft>
                      </a:pPr>
                      <a:r>
                        <a:rPr lang="hu-HU" sz="1200">
                          <a:effectLst/>
                        </a:rPr>
                        <a:t>Használata: mv &lt;fájlnév&gt; &lt;/könyvtár_neve&gt;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2291074458"/>
                  </a:ext>
                </a:extLst>
              </a:tr>
              <a:tr h="402905">
                <a:tc>
                  <a:txBody>
                    <a:bodyPr/>
                    <a:lstStyle/>
                    <a:p>
                      <a:pPr>
                        <a:lnSpc>
                          <a:spcPct val="107000"/>
                        </a:lnSpc>
                        <a:spcAft>
                          <a:spcPts val="0"/>
                        </a:spcAft>
                      </a:pPr>
                      <a:r>
                        <a:rPr lang="hu-HU" sz="1200">
                          <a:effectLst/>
                        </a:rPr>
                        <a:t>mkdir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MaKe DIRectory</a:t>
                      </a:r>
                      <a:endParaRPr lang="en-GB" sz="1200">
                        <a:effectLst/>
                      </a:endParaRPr>
                    </a:p>
                    <a:p>
                      <a:pPr>
                        <a:lnSpc>
                          <a:spcPct val="107000"/>
                        </a:lnSpc>
                        <a:spcAft>
                          <a:spcPts val="0"/>
                        </a:spcAft>
                      </a:pPr>
                      <a:r>
                        <a:rPr lang="hu-HU" sz="1200">
                          <a:effectLst/>
                        </a:rPr>
                        <a:t>Művelet: mappa létrehozás</a:t>
                      </a:r>
                      <a:endParaRPr lang="en-GB" sz="1200">
                        <a:effectLst/>
                      </a:endParaRPr>
                    </a:p>
                    <a:p>
                      <a:pPr>
                        <a:lnSpc>
                          <a:spcPct val="107000"/>
                        </a:lnSpc>
                        <a:spcAft>
                          <a:spcPts val="0"/>
                        </a:spcAft>
                      </a:pPr>
                      <a:r>
                        <a:rPr lang="hu-HU" sz="1200">
                          <a:effectLst/>
                        </a:rPr>
                        <a:t>Használata: mkdir &lt;könyvtárnév&gt;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590095531"/>
                  </a:ext>
                </a:extLst>
              </a:tr>
              <a:tr h="402905">
                <a:tc>
                  <a:txBody>
                    <a:bodyPr/>
                    <a:lstStyle/>
                    <a:p>
                      <a:pPr>
                        <a:lnSpc>
                          <a:spcPct val="107000"/>
                        </a:lnSpc>
                        <a:spcAft>
                          <a:spcPts val="0"/>
                        </a:spcAft>
                      </a:pPr>
                      <a:r>
                        <a:rPr lang="hu-HU" sz="1200">
                          <a:effectLst/>
                        </a:rPr>
                        <a:t>rmdir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ReMove DIRectory</a:t>
                      </a:r>
                      <a:endParaRPr lang="en-GB" sz="1200">
                        <a:effectLst/>
                      </a:endParaRPr>
                    </a:p>
                    <a:p>
                      <a:pPr>
                        <a:lnSpc>
                          <a:spcPct val="107000"/>
                        </a:lnSpc>
                        <a:spcAft>
                          <a:spcPts val="0"/>
                        </a:spcAft>
                      </a:pPr>
                      <a:r>
                        <a:rPr lang="hu-HU" sz="1200">
                          <a:effectLst/>
                        </a:rPr>
                        <a:t>Művelet: mappa törlés</a:t>
                      </a:r>
                      <a:endParaRPr lang="en-GB" sz="1200">
                        <a:effectLst/>
                      </a:endParaRPr>
                    </a:p>
                    <a:p>
                      <a:pPr>
                        <a:lnSpc>
                          <a:spcPct val="107000"/>
                        </a:lnSpc>
                        <a:spcAft>
                          <a:spcPts val="0"/>
                        </a:spcAft>
                      </a:pPr>
                      <a:r>
                        <a:rPr lang="hu-HU" sz="1200">
                          <a:effectLst/>
                        </a:rPr>
                        <a:t>Használata: rmdir &lt;könyvtárnév&gt;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787467262"/>
                  </a:ext>
                </a:extLst>
              </a:tr>
              <a:tr h="402905">
                <a:tc>
                  <a:txBody>
                    <a:bodyPr/>
                    <a:lstStyle/>
                    <a:p>
                      <a:pPr>
                        <a:lnSpc>
                          <a:spcPct val="107000"/>
                        </a:lnSpc>
                        <a:spcAft>
                          <a:spcPts val="0"/>
                        </a:spcAft>
                      </a:pPr>
                      <a:r>
                        <a:rPr lang="hu-HU" sz="1200">
                          <a:effectLst/>
                        </a:rPr>
                        <a:t>rm</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a:effectLst/>
                        </a:rPr>
                        <a:t>Jelentése: ReMove</a:t>
                      </a:r>
                      <a:endParaRPr lang="en-GB" sz="1200">
                        <a:effectLst/>
                      </a:endParaRPr>
                    </a:p>
                    <a:p>
                      <a:pPr>
                        <a:lnSpc>
                          <a:spcPct val="107000"/>
                        </a:lnSpc>
                        <a:spcAft>
                          <a:spcPts val="0"/>
                        </a:spcAft>
                      </a:pPr>
                      <a:r>
                        <a:rPr lang="hu-HU" sz="1200">
                          <a:effectLst/>
                        </a:rPr>
                        <a:t>Művelet: fájlok törlése</a:t>
                      </a:r>
                      <a:endParaRPr lang="en-GB" sz="1200">
                        <a:effectLst/>
                      </a:endParaRPr>
                    </a:p>
                    <a:p>
                      <a:pPr>
                        <a:lnSpc>
                          <a:spcPct val="107000"/>
                        </a:lnSpc>
                        <a:spcAft>
                          <a:spcPts val="0"/>
                        </a:spcAft>
                      </a:pPr>
                      <a:r>
                        <a:rPr lang="hu-HU" sz="1200">
                          <a:effectLst/>
                        </a:rPr>
                        <a:t>Használata: rm &lt;fájlnév&gt;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3243923318"/>
                  </a:ext>
                </a:extLst>
              </a:tr>
              <a:tr h="513371">
                <a:tc>
                  <a:txBody>
                    <a:bodyPr/>
                    <a:lstStyle/>
                    <a:p>
                      <a:pPr>
                        <a:lnSpc>
                          <a:spcPct val="107000"/>
                        </a:lnSpc>
                        <a:spcAft>
                          <a:spcPts val="0"/>
                        </a:spcAft>
                      </a:pPr>
                      <a:r>
                        <a:rPr lang="hu-HU" sz="1200">
                          <a:effectLst/>
                        </a:rPr>
                        <a:t>touch</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tc>
                  <a:txBody>
                    <a:bodyPr/>
                    <a:lstStyle/>
                    <a:p>
                      <a:pPr>
                        <a:lnSpc>
                          <a:spcPct val="107000"/>
                        </a:lnSpc>
                        <a:spcAft>
                          <a:spcPts val="0"/>
                        </a:spcAft>
                      </a:pPr>
                      <a:r>
                        <a:rPr lang="hu-HU" sz="1200" dirty="0">
                          <a:effectLst/>
                        </a:rPr>
                        <a:t>Jelentése:</a:t>
                      </a:r>
                      <a:endParaRPr lang="en-GB" sz="1200" dirty="0">
                        <a:effectLst/>
                      </a:endParaRPr>
                    </a:p>
                    <a:p>
                      <a:pPr>
                        <a:lnSpc>
                          <a:spcPct val="107000"/>
                        </a:lnSpc>
                        <a:spcAft>
                          <a:spcPts val="0"/>
                        </a:spcAft>
                      </a:pPr>
                      <a:r>
                        <a:rPr lang="hu-HU" sz="1200" dirty="0">
                          <a:effectLst/>
                        </a:rPr>
                        <a:t>Művelet: üres fájl létrehozása</a:t>
                      </a:r>
                      <a:endParaRPr lang="en-GB" sz="1200" dirty="0">
                        <a:effectLst/>
                      </a:endParaRPr>
                    </a:p>
                    <a:p>
                      <a:pPr>
                        <a:lnSpc>
                          <a:spcPct val="107000"/>
                        </a:lnSpc>
                        <a:spcAft>
                          <a:spcPts val="0"/>
                        </a:spcAft>
                      </a:pPr>
                      <a:r>
                        <a:rPr lang="hu-HU" sz="1200" dirty="0" err="1">
                          <a:effectLst/>
                        </a:rPr>
                        <a:t>Használata:touch</a:t>
                      </a:r>
                      <a:r>
                        <a:rPr lang="hu-HU" sz="1200" dirty="0">
                          <a:effectLst/>
                        </a:rPr>
                        <a:t> &lt;fájlnév&gt;.&lt;kiterjesztés&gt;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2995" marR="42995" marT="0" marB="0"/>
                </a:tc>
                <a:extLst>
                  <a:ext uri="{0D108BD9-81ED-4DB2-BD59-A6C34878D82A}">
                    <a16:rowId xmlns:a16="http://schemas.microsoft.com/office/drawing/2014/main" val="2223978562"/>
                  </a:ext>
                </a:extLst>
              </a:tr>
            </a:tbl>
          </a:graphicData>
        </a:graphic>
      </p:graphicFrame>
      <p:graphicFrame>
        <p:nvGraphicFramePr>
          <p:cNvPr id="4" name="Táblázat 3">
            <a:extLst>
              <a:ext uri="{FF2B5EF4-FFF2-40B4-BE49-F238E27FC236}">
                <a16:creationId xmlns:a16="http://schemas.microsoft.com/office/drawing/2014/main" id="{F3C389E7-B7DA-4D14-B639-A5CDB5A76BE7}"/>
              </a:ext>
            </a:extLst>
          </p:cNvPr>
          <p:cNvGraphicFramePr>
            <a:graphicFrameLocks noGrp="1"/>
          </p:cNvGraphicFramePr>
          <p:nvPr>
            <p:extLst>
              <p:ext uri="{D42A27DB-BD31-4B8C-83A1-F6EECF244321}">
                <p14:modId xmlns:p14="http://schemas.microsoft.com/office/powerpoint/2010/main" val="2167352264"/>
              </p:ext>
            </p:extLst>
          </p:nvPr>
        </p:nvGraphicFramePr>
        <p:xfrm>
          <a:off x="12567096" y="5874829"/>
          <a:ext cx="11155680" cy="6210808"/>
        </p:xfrm>
        <a:graphic>
          <a:graphicData uri="http://schemas.openxmlformats.org/drawingml/2006/table">
            <a:tbl>
              <a:tblPr firstCol="1" bandRow="1">
                <a:tableStyleId>{073A0DAA-6AF3-43AB-8588-CEC1D06C72B9}</a:tableStyleId>
              </a:tblPr>
              <a:tblGrid>
                <a:gridCol w="5577840">
                  <a:extLst>
                    <a:ext uri="{9D8B030D-6E8A-4147-A177-3AD203B41FA5}">
                      <a16:colId xmlns:a16="http://schemas.microsoft.com/office/drawing/2014/main" val="106862257"/>
                    </a:ext>
                  </a:extLst>
                </a:gridCol>
                <a:gridCol w="5577840">
                  <a:extLst>
                    <a:ext uri="{9D8B030D-6E8A-4147-A177-3AD203B41FA5}">
                      <a16:colId xmlns:a16="http://schemas.microsoft.com/office/drawing/2014/main" val="3407101181"/>
                    </a:ext>
                  </a:extLst>
                </a:gridCol>
              </a:tblGrid>
              <a:tr h="334683">
                <a:tc>
                  <a:txBody>
                    <a:bodyPr/>
                    <a:lstStyle/>
                    <a:p>
                      <a:pPr>
                        <a:lnSpc>
                          <a:spcPct val="107000"/>
                        </a:lnSpc>
                        <a:spcAft>
                          <a:spcPts val="0"/>
                        </a:spcAft>
                      </a:pPr>
                      <a:r>
                        <a:rPr lang="hu-HU" sz="1200" dirty="0" err="1">
                          <a:effectLst/>
                        </a:rPr>
                        <a:t>locate</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a:t>
                      </a:r>
                      <a:endParaRPr lang="en-GB" sz="1200">
                        <a:effectLst/>
                      </a:endParaRPr>
                    </a:p>
                    <a:p>
                      <a:pPr>
                        <a:lnSpc>
                          <a:spcPct val="107000"/>
                        </a:lnSpc>
                        <a:spcAft>
                          <a:spcPts val="0"/>
                        </a:spcAft>
                      </a:pPr>
                      <a:r>
                        <a:rPr lang="hu-HU" sz="1200">
                          <a:effectLst/>
                        </a:rPr>
                        <a:t>Művelet: adatbázisból keresi meg a keresendő fájlt (24 óránként frissül ez az adatbázis v. ha kiadjuk az alábbi parancsot, akkor is megtörténik: ’updatedb’)</a:t>
                      </a:r>
                      <a:endParaRPr lang="en-GB" sz="1200">
                        <a:effectLst/>
                      </a:endParaRPr>
                    </a:p>
                    <a:p>
                      <a:pPr>
                        <a:lnSpc>
                          <a:spcPct val="107000"/>
                        </a:lnSpc>
                        <a:spcAft>
                          <a:spcPts val="0"/>
                        </a:spcAft>
                      </a:pPr>
                      <a:r>
                        <a:rPr lang="hu-HU" sz="1200">
                          <a:effectLst/>
                        </a:rPr>
                        <a:t>(pl. ha létrehozunk egy fájlt és megpróbáljuk megkeresni ezzel a paranccsal, akkor addig nem fog találatot dobni, amíg nem frissítjük az adatbázist)</a:t>
                      </a:r>
                      <a:endParaRPr lang="en-GB" sz="1200">
                        <a:effectLst/>
                      </a:endParaRPr>
                    </a:p>
                    <a:p>
                      <a:pPr>
                        <a:lnSpc>
                          <a:spcPct val="107000"/>
                        </a:lnSpc>
                        <a:spcAft>
                          <a:spcPts val="0"/>
                        </a:spcAft>
                      </a:pPr>
                      <a:r>
                        <a:rPr lang="hu-HU" sz="1200">
                          <a:effectLst/>
                        </a:rPr>
                        <a:t>Használata: locate &lt;fájlnév&gt;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530473622"/>
                  </a:ext>
                </a:extLst>
              </a:tr>
              <a:tr h="502774">
                <a:tc>
                  <a:txBody>
                    <a:bodyPr/>
                    <a:lstStyle/>
                    <a:p>
                      <a:pPr>
                        <a:lnSpc>
                          <a:spcPct val="107000"/>
                        </a:lnSpc>
                        <a:spcAft>
                          <a:spcPts val="0"/>
                        </a:spcAft>
                      </a:pPr>
                      <a:r>
                        <a:rPr lang="hu-HU" sz="1200">
                          <a:effectLst/>
                        </a:rPr>
                        <a:t>find</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a:t>
                      </a:r>
                      <a:endParaRPr lang="en-GB" sz="1200">
                        <a:effectLst/>
                      </a:endParaRPr>
                    </a:p>
                    <a:p>
                      <a:pPr>
                        <a:lnSpc>
                          <a:spcPct val="107000"/>
                        </a:lnSpc>
                        <a:spcAft>
                          <a:spcPts val="0"/>
                        </a:spcAft>
                      </a:pPr>
                      <a:r>
                        <a:rPr lang="hu-HU" sz="1200">
                          <a:effectLst/>
                        </a:rPr>
                        <a:t>Művelet: megkeresi az adott fájlt (sokkal agresszívabb keresést hajt végre mint a ’locate’, képesek vagyunk kiterjesztés, dátum, csoport…stb. alapján fájlokat keresni, nyilván ez valamivel több időbe fog kerülni)</a:t>
                      </a:r>
                      <a:endParaRPr lang="en-GB" sz="1200">
                        <a:effectLst/>
                      </a:endParaRPr>
                    </a:p>
                    <a:p>
                      <a:pPr>
                        <a:lnSpc>
                          <a:spcPct val="107000"/>
                        </a:lnSpc>
                        <a:spcAft>
                          <a:spcPts val="0"/>
                        </a:spcAft>
                      </a:pPr>
                      <a:r>
                        <a:rPr lang="hu-HU" sz="1200">
                          <a:effectLst/>
                        </a:rPr>
                        <a:t>Használata: find -name &lt;fájlnév&gt;</a:t>
                      </a:r>
                      <a:endParaRPr lang="en-GB" sz="1200">
                        <a:effectLst/>
                      </a:endParaRPr>
                    </a:p>
                    <a:p>
                      <a:pPr>
                        <a:lnSpc>
                          <a:spcPct val="107000"/>
                        </a:lnSpc>
                        <a:spcAft>
                          <a:spcPts val="0"/>
                        </a:spcAft>
                      </a:pPr>
                      <a:r>
                        <a:rPr lang="hu-HU" sz="1200">
                          <a:effectLst/>
                        </a:rPr>
                        <a:t>(-name kapcsolóval tudatjuk a programmal, hogy fájl nevet fogunk megadni(és ha a végére beírjuk azt, hogy: 2&gt;dev/null/ akkor ezzel azt érjük el, hogy amely fájlokhoz nincsen jogosultságunk azokat nem fogja visszaadni a terminál, hasznos tud lenni, ha pontosan tudjuk, hogy mihez férünk hozzá és pontosan mit keresünk))</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3430056500"/>
                  </a:ext>
                </a:extLst>
              </a:tr>
              <a:tr h="194607">
                <a:tc>
                  <a:txBody>
                    <a:bodyPr/>
                    <a:lstStyle/>
                    <a:p>
                      <a:pPr>
                        <a:lnSpc>
                          <a:spcPct val="107000"/>
                        </a:lnSpc>
                        <a:spcAft>
                          <a:spcPts val="0"/>
                        </a:spcAft>
                      </a:pPr>
                      <a:r>
                        <a:rPr lang="hu-HU" sz="1200">
                          <a:effectLst/>
                        </a:rPr>
                        <a:t>grep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dirty="0">
                          <a:effectLst/>
                        </a:rPr>
                        <a:t>Jelentése: </a:t>
                      </a:r>
                      <a:r>
                        <a:rPr lang="en-GB" sz="1200" dirty="0">
                          <a:effectLst/>
                        </a:rPr>
                        <a:t>Global Regular Expression Print</a:t>
                      </a:r>
                    </a:p>
                    <a:p>
                      <a:pPr>
                        <a:lnSpc>
                          <a:spcPct val="107000"/>
                        </a:lnSpc>
                        <a:spcAft>
                          <a:spcPts val="0"/>
                        </a:spcAft>
                      </a:pPr>
                      <a:r>
                        <a:rPr lang="hu-HU" sz="1200" dirty="0">
                          <a:effectLst/>
                        </a:rPr>
                        <a:t>Művelet: szöveg megkeresése adott fájlokban</a:t>
                      </a:r>
                      <a:endParaRPr lang="en-GB" sz="1200" dirty="0">
                        <a:effectLst/>
                      </a:endParaRPr>
                    </a:p>
                    <a:p>
                      <a:pPr>
                        <a:lnSpc>
                          <a:spcPct val="107000"/>
                        </a:lnSpc>
                        <a:spcAft>
                          <a:spcPts val="0"/>
                        </a:spcAft>
                      </a:pPr>
                      <a:r>
                        <a:rPr lang="hu-HU" sz="1200" dirty="0">
                          <a:effectLst/>
                        </a:rPr>
                        <a:t>Használata: </a:t>
                      </a:r>
                      <a:r>
                        <a:rPr lang="hu-HU" sz="1200" dirty="0" err="1">
                          <a:effectLst/>
                        </a:rPr>
                        <a:t>grep</a:t>
                      </a:r>
                      <a:r>
                        <a:rPr lang="hu-HU" sz="1200">
                          <a:effectLst/>
                        </a:rPr>
                        <a:t> ’</a:t>
                      </a:r>
                      <a:r>
                        <a:rPr lang="hu-HU" sz="1200" dirty="0" err="1">
                          <a:effectLst/>
                        </a:rPr>
                        <a:t>keresett_szó</a:t>
                      </a:r>
                      <a:r>
                        <a:rPr lang="hu-HU" sz="1200" dirty="0">
                          <a:effectLst/>
                        </a:rPr>
                        <a:t>’ &lt;fájlnév&gt;</a:t>
                      </a:r>
                      <a:endParaRPr lang="en-GB" sz="1200" dirty="0">
                        <a:effectLst/>
                      </a:endParaRPr>
                    </a:p>
                    <a:p>
                      <a:pPr>
                        <a:lnSpc>
                          <a:spcPct val="107000"/>
                        </a:lnSpc>
                        <a:spcAft>
                          <a:spcPts val="0"/>
                        </a:spcAft>
                      </a:pPr>
                      <a:r>
                        <a:rPr lang="en-GB" sz="1200" dirty="0">
                          <a:effectLst/>
                        </a:rPr>
                        <a:t>(</a:t>
                      </a:r>
                      <a:r>
                        <a:rPr lang="en-GB" sz="1200" dirty="0" err="1">
                          <a:effectLst/>
                        </a:rPr>
                        <a:t>fontos</a:t>
                      </a:r>
                      <a:r>
                        <a:rPr lang="en-GB" sz="1200" dirty="0">
                          <a:effectLst/>
                        </a:rPr>
                        <a:t> a</a:t>
                      </a:r>
                      <a:r>
                        <a:rPr lang="hu-HU" sz="1200" dirty="0">
                          <a:effectLst/>
                        </a:rPr>
                        <a:t> felsővonás!)</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3403333237"/>
                  </a:ext>
                </a:extLst>
              </a:tr>
              <a:tr h="250638">
                <a:tc>
                  <a:txBody>
                    <a:bodyPr/>
                    <a:lstStyle/>
                    <a:p>
                      <a:pPr>
                        <a:lnSpc>
                          <a:spcPct val="107000"/>
                        </a:lnSpc>
                        <a:spcAft>
                          <a:spcPts val="0"/>
                        </a:spcAft>
                      </a:pPr>
                      <a:r>
                        <a:rPr lang="hu-HU" sz="1200">
                          <a:effectLst/>
                        </a:rPr>
                        <a:t>sudo</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dirty="0">
                          <a:effectLst/>
                        </a:rPr>
                        <a:t>Jelentése: </a:t>
                      </a:r>
                      <a:r>
                        <a:rPr lang="hu-HU" sz="1200" dirty="0" err="1">
                          <a:effectLst/>
                        </a:rPr>
                        <a:t>SuperUser</a:t>
                      </a:r>
                      <a:r>
                        <a:rPr lang="hu-HU" sz="1200" dirty="0">
                          <a:effectLst/>
                        </a:rPr>
                        <a:t> DO</a:t>
                      </a:r>
                      <a:endParaRPr lang="en-GB" sz="1200" dirty="0">
                        <a:effectLst/>
                      </a:endParaRPr>
                    </a:p>
                    <a:p>
                      <a:pPr>
                        <a:lnSpc>
                          <a:spcPct val="107000"/>
                        </a:lnSpc>
                        <a:spcAft>
                          <a:spcPts val="0"/>
                        </a:spcAft>
                      </a:pPr>
                      <a:r>
                        <a:rPr lang="hu-HU" sz="1200" dirty="0">
                          <a:effectLst/>
                        </a:rPr>
                        <a:t>Művelet: adminisztratív jogok adása/kérése</a:t>
                      </a:r>
                      <a:endParaRPr lang="en-GB" sz="1200" dirty="0">
                        <a:effectLst/>
                      </a:endParaRPr>
                    </a:p>
                    <a:p>
                      <a:pPr>
                        <a:lnSpc>
                          <a:spcPct val="107000"/>
                        </a:lnSpc>
                        <a:spcAft>
                          <a:spcPts val="0"/>
                        </a:spcAft>
                      </a:pPr>
                      <a:r>
                        <a:rPr lang="hu-HU" sz="1200" dirty="0">
                          <a:effectLst/>
                        </a:rPr>
                        <a:t>Használata: </a:t>
                      </a:r>
                      <a:r>
                        <a:rPr lang="hu-HU" sz="1200" dirty="0" err="1">
                          <a:effectLst/>
                        </a:rPr>
                        <a:t>sudo</a:t>
                      </a:r>
                      <a:r>
                        <a:rPr lang="hu-HU" sz="1200" dirty="0">
                          <a:effectLst/>
                        </a:rPr>
                        <a:t> </a:t>
                      </a:r>
                      <a:r>
                        <a:rPr lang="hu-HU" sz="1200" dirty="0" err="1">
                          <a:effectLst/>
                        </a:rPr>
                        <a:t>su</a:t>
                      </a:r>
                      <a:r>
                        <a:rPr lang="hu-HU" sz="1200" dirty="0">
                          <a:effectLst/>
                        </a:rPr>
                        <a:t> (ekkor teljes </a:t>
                      </a:r>
                      <a:r>
                        <a:rPr lang="hu-HU" sz="1200" dirty="0" err="1">
                          <a:effectLst/>
                        </a:rPr>
                        <a:t>root</a:t>
                      </a:r>
                      <a:r>
                        <a:rPr lang="hu-HU" sz="1200" dirty="0">
                          <a:effectLst/>
                        </a:rPr>
                        <a:t> jogokat kapunk amennyiben megadjuk a helyes jelszót, használata azonban nem ajánlott, sőt kifejezetten veszélyes is). (vagy) </a:t>
                      </a:r>
                      <a:r>
                        <a:rPr lang="hu-HU" sz="1200" dirty="0" err="1">
                          <a:effectLst/>
                        </a:rPr>
                        <a:t>sudo</a:t>
                      </a:r>
                      <a:r>
                        <a:rPr lang="hu-HU" sz="1200" dirty="0">
                          <a:effectLst/>
                        </a:rPr>
                        <a:t> </a:t>
                      </a:r>
                      <a:r>
                        <a:rPr lang="hu-HU" sz="1200" dirty="0" err="1">
                          <a:effectLst/>
                        </a:rPr>
                        <a:t>vim</a:t>
                      </a:r>
                      <a:endParaRPr lang="en-GB" sz="1200" dirty="0">
                        <a:effectLst/>
                      </a:endParaRPr>
                    </a:p>
                    <a:p>
                      <a:pPr>
                        <a:lnSpc>
                          <a:spcPct val="107000"/>
                        </a:lnSpc>
                        <a:spcAft>
                          <a:spcPts val="0"/>
                        </a:spcAft>
                      </a:pPr>
                      <a:r>
                        <a:rPr lang="hu-HU" sz="1200" dirty="0">
                          <a:effectLst/>
                        </a:rPr>
                        <a:t>(ekkor csak a </a:t>
                      </a:r>
                      <a:r>
                        <a:rPr lang="hu-HU" sz="1200" dirty="0" err="1">
                          <a:effectLst/>
                        </a:rPr>
                        <a:t>vim</a:t>
                      </a:r>
                      <a:r>
                        <a:rPr lang="hu-HU" sz="1200" dirty="0">
                          <a:effectLst/>
                        </a:rPr>
                        <a:t> kap </a:t>
                      </a:r>
                      <a:r>
                        <a:rPr lang="hu-HU" sz="1200" dirty="0" err="1">
                          <a:effectLst/>
                        </a:rPr>
                        <a:t>root</a:t>
                      </a:r>
                      <a:r>
                        <a:rPr lang="hu-HU" sz="1200" dirty="0">
                          <a:effectLst/>
                        </a:rPr>
                        <a:t> jogokat)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3033492720"/>
                  </a:ext>
                </a:extLst>
              </a:tr>
              <a:tr h="166591">
                <a:tc>
                  <a:txBody>
                    <a:bodyPr/>
                    <a:lstStyle/>
                    <a:p>
                      <a:pPr>
                        <a:lnSpc>
                          <a:spcPct val="107000"/>
                        </a:lnSpc>
                        <a:spcAft>
                          <a:spcPts val="0"/>
                        </a:spcAft>
                      </a:pPr>
                      <a:r>
                        <a:rPr lang="hu-HU" sz="1200">
                          <a:effectLst/>
                        </a:rPr>
                        <a:t>df</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 Disk Filesystem</a:t>
                      </a:r>
                      <a:endParaRPr lang="en-GB" sz="1200">
                        <a:effectLst/>
                      </a:endParaRPr>
                    </a:p>
                    <a:p>
                      <a:pPr>
                        <a:lnSpc>
                          <a:spcPct val="107000"/>
                        </a:lnSpc>
                        <a:spcAft>
                          <a:spcPts val="0"/>
                        </a:spcAft>
                      </a:pPr>
                      <a:r>
                        <a:rPr lang="hu-HU" sz="1200">
                          <a:effectLst/>
                        </a:rPr>
                        <a:t>Művelet: lemez használatról ad információt</a:t>
                      </a:r>
                      <a:endParaRPr lang="en-GB" sz="1200">
                        <a:effectLst/>
                      </a:endParaRPr>
                    </a:p>
                    <a:p>
                      <a:pPr>
                        <a:lnSpc>
                          <a:spcPct val="107000"/>
                        </a:lnSpc>
                        <a:spcAft>
                          <a:spcPts val="0"/>
                        </a:spcAft>
                      </a:pPr>
                      <a:r>
                        <a:rPr lang="hu-HU" sz="1200">
                          <a:effectLst/>
                        </a:rPr>
                        <a:t>Használata: df -m</a:t>
                      </a:r>
                      <a:endParaRPr lang="en-GB" sz="1200">
                        <a:effectLst/>
                      </a:endParaRPr>
                    </a:p>
                    <a:p>
                      <a:pPr>
                        <a:lnSpc>
                          <a:spcPct val="107000"/>
                        </a:lnSpc>
                        <a:spcAft>
                          <a:spcPts val="0"/>
                        </a:spcAft>
                      </a:pPr>
                      <a:r>
                        <a:rPr lang="hu-HU" sz="1200">
                          <a:effectLst/>
                        </a:rPr>
                        <a:t>(-m kapcsoló megabájt-ban fogja kiírni az értékeket)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2619367980"/>
                  </a:ext>
                </a:extLst>
              </a:tr>
              <a:tr h="166591">
                <a:tc>
                  <a:txBody>
                    <a:bodyPr/>
                    <a:lstStyle/>
                    <a:p>
                      <a:pPr>
                        <a:lnSpc>
                          <a:spcPct val="107000"/>
                        </a:lnSpc>
                        <a:spcAft>
                          <a:spcPts val="0"/>
                        </a:spcAft>
                      </a:pPr>
                      <a:r>
                        <a:rPr lang="hu-HU" sz="1200">
                          <a:effectLst/>
                        </a:rPr>
                        <a:t>du</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dirty="0">
                          <a:effectLst/>
                        </a:rPr>
                        <a:t>Jelentése: </a:t>
                      </a:r>
                      <a:r>
                        <a:rPr lang="hu-HU" sz="1200" dirty="0" err="1">
                          <a:effectLst/>
                        </a:rPr>
                        <a:t>Disk</a:t>
                      </a:r>
                      <a:r>
                        <a:rPr lang="hu-HU" sz="1200" dirty="0">
                          <a:effectLst/>
                        </a:rPr>
                        <a:t> </a:t>
                      </a:r>
                      <a:r>
                        <a:rPr lang="hu-HU" sz="1200" dirty="0" err="1">
                          <a:effectLst/>
                        </a:rPr>
                        <a:t>Usage</a:t>
                      </a:r>
                      <a:endParaRPr lang="en-GB" sz="1200" dirty="0">
                        <a:effectLst/>
                      </a:endParaRPr>
                    </a:p>
                    <a:p>
                      <a:pPr>
                        <a:lnSpc>
                          <a:spcPct val="107000"/>
                        </a:lnSpc>
                        <a:spcAft>
                          <a:spcPts val="0"/>
                        </a:spcAft>
                      </a:pPr>
                      <a:r>
                        <a:rPr lang="hu-HU" sz="1200" dirty="0">
                          <a:effectLst/>
                        </a:rPr>
                        <a:t>Művelet: kiírja a fájlok méretét/lemez használatát</a:t>
                      </a:r>
                      <a:endParaRPr lang="en-GB" sz="1200" dirty="0">
                        <a:effectLst/>
                      </a:endParaRPr>
                    </a:p>
                    <a:p>
                      <a:pPr>
                        <a:lnSpc>
                          <a:spcPct val="107000"/>
                        </a:lnSpc>
                        <a:spcAft>
                          <a:spcPts val="0"/>
                        </a:spcAft>
                      </a:pPr>
                      <a:r>
                        <a:rPr lang="hu-HU" sz="1200" dirty="0">
                          <a:effectLst/>
                        </a:rPr>
                        <a:t>Használata: du -m</a:t>
                      </a:r>
                      <a:endParaRPr lang="en-GB" sz="1200" dirty="0">
                        <a:effectLst/>
                      </a:endParaRPr>
                    </a:p>
                    <a:p>
                      <a:pPr>
                        <a:lnSpc>
                          <a:spcPct val="107000"/>
                        </a:lnSpc>
                        <a:spcAft>
                          <a:spcPts val="0"/>
                        </a:spcAft>
                      </a:pPr>
                      <a:r>
                        <a:rPr lang="hu-HU" sz="1200" dirty="0">
                          <a:effectLst/>
                        </a:rPr>
                        <a:t>((-m kapcsoló megabájt-ban fogja kiírni az értékeket)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2811565961"/>
                  </a:ext>
                </a:extLst>
              </a:tr>
            </a:tbl>
          </a:graphicData>
        </a:graphic>
      </p:graphicFrame>
      <p:graphicFrame>
        <p:nvGraphicFramePr>
          <p:cNvPr id="6" name="Táblázat 5">
            <a:extLst>
              <a:ext uri="{FF2B5EF4-FFF2-40B4-BE49-F238E27FC236}">
                <a16:creationId xmlns:a16="http://schemas.microsoft.com/office/drawing/2014/main" id="{B96BCD42-F01A-4523-AF4F-1C000CC279B8}"/>
              </a:ext>
            </a:extLst>
          </p:cNvPr>
          <p:cNvGraphicFramePr>
            <a:graphicFrameLocks noGrp="1"/>
          </p:cNvGraphicFramePr>
          <p:nvPr>
            <p:extLst>
              <p:ext uri="{D42A27DB-BD31-4B8C-83A1-F6EECF244321}">
                <p14:modId xmlns:p14="http://schemas.microsoft.com/office/powerpoint/2010/main" val="949674689"/>
              </p:ext>
            </p:extLst>
          </p:nvPr>
        </p:nvGraphicFramePr>
        <p:xfrm>
          <a:off x="2251273" y="7458604"/>
          <a:ext cx="10101350" cy="5810758"/>
        </p:xfrm>
        <a:graphic>
          <a:graphicData uri="http://schemas.openxmlformats.org/drawingml/2006/table">
            <a:tbl>
              <a:tblPr firstCol="1" bandRow="1">
                <a:tableStyleId>{073A0DAA-6AF3-43AB-8588-CEC1D06C72B9}</a:tableStyleId>
              </a:tblPr>
              <a:tblGrid>
                <a:gridCol w="5050675">
                  <a:extLst>
                    <a:ext uri="{9D8B030D-6E8A-4147-A177-3AD203B41FA5}">
                      <a16:colId xmlns:a16="http://schemas.microsoft.com/office/drawing/2014/main" val="2689322385"/>
                    </a:ext>
                  </a:extLst>
                </a:gridCol>
                <a:gridCol w="5050675">
                  <a:extLst>
                    <a:ext uri="{9D8B030D-6E8A-4147-A177-3AD203B41FA5}">
                      <a16:colId xmlns:a16="http://schemas.microsoft.com/office/drawing/2014/main" val="3499714159"/>
                    </a:ext>
                  </a:extLst>
                </a:gridCol>
              </a:tblGrid>
              <a:tr h="643992">
                <a:tc>
                  <a:txBody>
                    <a:bodyPr/>
                    <a:lstStyle/>
                    <a:p>
                      <a:pPr>
                        <a:lnSpc>
                          <a:spcPct val="107000"/>
                        </a:lnSpc>
                        <a:spcAft>
                          <a:spcPts val="0"/>
                        </a:spcAft>
                      </a:pPr>
                      <a:r>
                        <a:rPr lang="hu-HU" sz="1200" dirty="0" err="1">
                          <a:effectLst/>
                        </a:rPr>
                        <a:t>head</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Művelet: adott fájlnak megmutatja az első x sorát (alapértelmezett módban 10 sor)</a:t>
                      </a:r>
                      <a:endParaRPr lang="en-GB" sz="1200">
                        <a:effectLst/>
                      </a:endParaRPr>
                    </a:p>
                    <a:p>
                      <a:pPr>
                        <a:lnSpc>
                          <a:spcPct val="107000"/>
                        </a:lnSpc>
                        <a:spcAft>
                          <a:spcPts val="0"/>
                        </a:spcAft>
                      </a:pPr>
                      <a:r>
                        <a:rPr lang="hu-HU" sz="1200">
                          <a:effectLst/>
                        </a:rPr>
                        <a:t>Használata: head &lt;fájlnév&gt;</a:t>
                      </a:r>
                      <a:endParaRPr lang="en-GB" sz="1200">
                        <a:effectLst/>
                      </a:endParaRPr>
                    </a:p>
                    <a:p>
                      <a:pPr>
                        <a:lnSpc>
                          <a:spcPct val="107000"/>
                        </a:lnSpc>
                        <a:spcAft>
                          <a:spcPts val="0"/>
                        </a:spcAft>
                      </a:pPr>
                      <a:r>
                        <a:rPr lang="hu-HU" sz="1200">
                          <a:effectLst/>
                        </a:rPr>
                        <a:t>(-n &lt;szám&gt; kapcsolóval megadható, hogy hány sort írjon ki a fájlból)</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2054561753"/>
                  </a:ext>
                </a:extLst>
              </a:tr>
              <a:tr h="643992">
                <a:tc>
                  <a:txBody>
                    <a:bodyPr/>
                    <a:lstStyle/>
                    <a:p>
                      <a:pPr>
                        <a:lnSpc>
                          <a:spcPct val="107000"/>
                        </a:lnSpc>
                        <a:spcAft>
                          <a:spcPts val="0"/>
                        </a:spcAft>
                      </a:pPr>
                      <a:r>
                        <a:rPr lang="hu-HU" sz="1200" dirty="0" err="1">
                          <a:effectLst/>
                        </a:rPr>
                        <a:t>tail</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Művelet: adott fájlnak megmutatja az utolsó x sorát (alapértelmezett módban 10 sor)</a:t>
                      </a:r>
                      <a:endParaRPr lang="en-GB" sz="1200">
                        <a:effectLst/>
                      </a:endParaRPr>
                    </a:p>
                    <a:p>
                      <a:pPr>
                        <a:lnSpc>
                          <a:spcPct val="107000"/>
                        </a:lnSpc>
                        <a:spcAft>
                          <a:spcPts val="0"/>
                        </a:spcAft>
                      </a:pPr>
                      <a:r>
                        <a:rPr lang="hu-HU" sz="1200">
                          <a:effectLst/>
                        </a:rPr>
                        <a:t>Használata: tail &lt;fájlnév&gt;</a:t>
                      </a:r>
                      <a:endParaRPr lang="en-GB" sz="1200">
                        <a:effectLst/>
                      </a:endParaRPr>
                    </a:p>
                    <a:p>
                      <a:pPr>
                        <a:lnSpc>
                          <a:spcPct val="107000"/>
                        </a:lnSpc>
                        <a:spcAft>
                          <a:spcPts val="0"/>
                        </a:spcAft>
                      </a:pPr>
                      <a:r>
                        <a:rPr lang="hu-HU" sz="1200">
                          <a:effectLst/>
                        </a:rPr>
                        <a:t>(-n &lt;szám&gt; kapcsolóval megadható, hogy hány sort írjon ki a fájlból)</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3412318131"/>
                  </a:ext>
                </a:extLst>
              </a:tr>
              <a:tr h="481198">
                <a:tc>
                  <a:txBody>
                    <a:bodyPr/>
                    <a:lstStyle/>
                    <a:p>
                      <a:pPr>
                        <a:lnSpc>
                          <a:spcPct val="107000"/>
                        </a:lnSpc>
                        <a:spcAft>
                          <a:spcPts val="0"/>
                        </a:spcAft>
                      </a:pPr>
                      <a:r>
                        <a:rPr lang="hu-HU" sz="1200" dirty="0" err="1">
                          <a:effectLst/>
                        </a:rPr>
                        <a:t>diff</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 DIFFerence</a:t>
                      </a:r>
                      <a:endParaRPr lang="en-GB" sz="1200">
                        <a:effectLst/>
                      </a:endParaRPr>
                    </a:p>
                    <a:p>
                      <a:pPr>
                        <a:lnSpc>
                          <a:spcPct val="107000"/>
                        </a:lnSpc>
                        <a:spcAft>
                          <a:spcPts val="0"/>
                        </a:spcAft>
                      </a:pPr>
                      <a:r>
                        <a:rPr lang="hu-HU" sz="1200">
                          <a:effectLst/>
                        </a:rPr>
                        <a:t>Művelet: megmutatja két fájl különbségét sorról sorra</a:t>
                      </a:r>
                      <a:endParaRPr lang="en-GB" sz="1200">
                        <a:effectLst/>
                      </a:endParaRPr>
                    </a:p>
                    <a:p>
                      <a:pPr>
                        <a:lnSpc>
                          <a:spcPct val="107000"/>
                        </a:lnSpc>
                        <a:spcAft>
                          <a:spcPts val="0"/>
                        </a:spcAft>
                      </a:pPr>
                      <a:r>
                        <a:rPr lang="hu-HU" sz="1200">
                          <a:effectLst/>
                        </a:rPr>
                        <a:t>Használata: diff &lt;fájlnév1&gt; &lt;fájlnév2&gt;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227346725"/>
                  </a:ext>
                </a:extLst>
              </a:tr>
              <a:tr h="969580">
                <a:tc>
                  <a:txBody>
                    <a:bodyPr/>
                    <a:lstStyle/>
                    <a:p>
                      <a:pPr>
                        <a:lnSpc>
                          <a:spcPct val="107000"/>
                        </a:lnSpc>
                        <a:spcAft>
                          <a:spcPts val="0"/>
                        </a:spcAft>
                      </a:pPr>
                      <a:r>
                        <a:rPr lang="hu-HU" sz="1200">
                          <a:effectLst/>
                        </a:rPr>
                        <a:t>tar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 Tape ARchive</a:t>
                      </a:r>
                      <a:endParaRPr lang="en-GB" sz="1200">
                        <a:effectLst/>
                      </a:endParaRPr>
                    </a:p>
                    <a:p>
                      <a:pPr>
                        <a:lnSpc>
                          <a:spcPct val="107000"/>
                        </a:lnSpc>
                        <a:spcAft>
                          <a:spcPts val="0"/>
                        </a:spcAft>
                      </a:pPr>
                      <a:r>
                        <a:rPr lang="hu-HU" sz="1200">
                          <a:effectLst/>
                        </a:rPr>
                        <a:t>Művelet: .tar állományok kezelése</a:t>
                      </a:r>
                      <a:endParaRPr lang="en-GB" sz="1200">
                        <a:effectLst/>
                      </a:endParaRPr>
                    </a:p>
                    <a:p>
                      <a:pPr>
                        <a:lnSpc>
                          <a:spcPct val="107000"/>
                        </a:lnSpc>
                        <a:spcAft>
                          <a:spcPts val="0"/>
                        </a:spcAft>
                      </a:pPr>
                      <a:r>
                        <a:rPr lang="hu-HU" sz="1200">
                          <a:effectLst/>
                        </a:rPr>
                        <a:t>Használata: tar -zxvf &lt;fájlnév&gt;</a:t>
                      </a:r>
                      <a:endParaRPr lang="en-GB" sz="1200">
                        <a:effectLst/>
                      </a:endParaRPr>
                    </a:p>
                    <a:p>
                      <a:pPr>
                        <a:lnSpc>
                          <a:spcPct val="107000"/>
                        </a:lnSpc>
                        <a:spcAft>
                          <a:spcPts val="0"/>
                        </a:spcAft>
                      </a:pPr>
                      <a:r>
                        <a:rPr lang="hu-HU" sz="1200">
                          <a:effectLst/>
                        </a:rPr>
                        <a:t>(.tar vagy .tar.gz fájl kicsomagolása)</a:t>
                      </a:r>
                      <a:endParaRPr lang="en-GB" sz="1200">
                        <a:effectLst/>
                      </a:endParaRPr>
                    </a:p>
                    <a:p>
                      <a:pPr>
                        <a:lnSpc>
                          <a:spcPct val="107000"/>
                        </a:lnSpc>
                        <a:spcAft>
                          <a:spcPts val="0"/>
                        </a:spcAft>
                      </a:pPr>
                      <a:r>
                        <a:rPr lang="hu-HU" sz="1200">
                          <a:effectLst/>
                        </a:rPr>
                        <a:t>(tar -czvf &lt;fájlnév&gt;.tar.gz /útvonal/a/könyvtárhoz (tar.gz készítése megadott könyvtárból))</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1907006027"/>
                  </a:ext>
                </a:extLst>
              </a:tr>
              <a:tr h="969580">
                <a:tc>
                  <a:txBody>
                    <a:bodyPr/>
                    <a:lstStyle/>
                    <a:p>
                      <a:pPr>
                        <a:lnSpc>
                          <a:spcPct val="107000"/>
                        </a:lnSpc>
                        <a:spcAft>
                          <a:spcPts val="0"/>
                        </a:spcAft>
                      </a:pPr>
                      <a:r>
                        <a:rPr lang="hu-HU" sz="1200" dirty="0" err="1">
                          <a:effectLst/>
                        </a:rPr>
                        <a:t>chmod</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 CHange MODe</a:t>
                      </a:r>
                      <a:endParaRPr lang="en-GB" sz="1200">
                        <a:effectLst/>
                      </a:endParaRPr>
                    </a:p>
                    <a:p>
                      <a:pPr>
                        <a:lnSpc>
                          <a:spcPct val="107000"/>
                        </a:lnSpc>
                        <a:spcAft>
                          <a:spcPts val="0"/>
                        </a:spcAft>
                      </a:pPr>
                      <a:r>
                        <a:rPr lang="hu-HU" sz="1200">
                          <a:effectLst/>
                        </a:rPr>
                        <a:t>Művelet: adott fájlhoz tartozó jogosultságok megváltoztatása</a:t>
                      </a:r>
                      <a:endParaRPr lang="en-GB" sz="1200">
                        <a:effectLst/>
                      </a:endParaRPr>
                    </a:p>
                    <a:p>
                      <a:pPr>
                        <a:lnSpc>
                          <a:spcPct val="107000"/>
                        </a:lnSpc>
                        <a:spcAft>
                          <a:spcPts val="0"/>
                        </a:spcAft>
                      </a:pPr>
                      <a:r>
                        <a:rPr lang="hu-HU" sz="1200">
                          <a:effectLst/>
                        </a:rPr>
                        <a:t>Használata: chmod +777 &lt;fájlnév&gt;</a:t>
                      </a:r>
                      <a:endParaRPr lang="en-GB" sz="1200">
                        <a:effectLst/>
                      </a:endParaRPr>
                    </a:p>
                    <a:p>
                      <a:pPr>
                        <a:lnSpc>
                          <a:spcPct val="107000"/>
                        </a:lnSpc>
                        <a:spcAft>
                          <a:spcPts val="0"/>
                        </a:spcAft>
                      </a:pPr>
                      <a:r>
                        <a:rPr lang="hu-HU" sz="1200">
                          <a:effectLst/>
                        </a:rPr>
                        <a:t>(777, írási, olvasási és futtatási jogot ad) </a:t>
                      </a:r>
                      <a:endParaRPr lang="en-GB" sz="1200">
                        <a:effectLst/>
                      </a:endParaRPr>
                    </a:p>
                    <a:p>
                      <a:pPr>
                        <a:lnSpc>
                          <a:spcPct val="107000"/>
                        </a:lnSpc>
                        <a:spcAft>
                          <a:spcPts val="0"/>
                        </a:spcAft>
                      </a:pPr>
                      <a:r>
                        <a:rPr lang="hu-HU" sz="1200">
                          <a:effectLst/>
                        </a:rPr>
                        <a:t>(futtatás = 1, írás = 2, olvasás = 4)</a:t>
                      </a:r>
                      <a:endParaRPr lang="en-GB" sz="1200">
                        <a:effectLst/>
                      </a:endParaRPr>
                    </a:p>
                    <a:p>
                      <a:pPr>
                        <a:lnSpc>
                          <a:spcPct val="107000"/>
                        </a:lnSpc>
                        <a:spcAft>
                          <a:spcPts val="0"/>
                        </a:spcAft>
                      </a:pPr>
                      <a:r>
                        <a:rPr lang="hu-HU" sz="1200">
                          <a:effectLst/>
                        </a:rPr>
                        <a:t>(tulajdonos, csoport, egyéb)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1804964561"/>
                  </a:ext>
                </a:extLst>
              </a:tr>
              <a:tr h="643992">
                <a:tc>
                  <a:txBody>
                    <a:bodyPr/>
                    <a:lstStyle/>
                    <a:p>
                      <a:pPr>
                        <a:lnSpc>
                          <a:spcPct val="107000"/>
                        </a:lnSpc>
                        <a:spcAft>
                          <a:spcPts val="0"/>
                        </a:spcAft>
                      </a:pPr>
                      <a:r>
                        <a:rPr lang="hu-HU" sz="1200">
                          <a:effectLst/>
                        </a:rPr>
                        <a:t>chown</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a:effectLst/>
                        </a:rPr>
                        <a:t>Jelentése: CHange OWNer</a:t>
                      </a:r>
                      <a:endParaRPr lang="en-GB" sz="1200">
                        <a:effectLst/>
                      </a:endParaRPr>
                    </a:p>
                    <a:p>
                      <a:pPr>
                        <a:lnSpc>
                          <a:spcPct val="107000"/>
                        </a:lnSpc>
                        <a:spcAft>
                          <a:spcPts val="0"/>
                        </a:spcAft>
                      </a:pPr>
                      <a:r>
                        <a:rPr lang="hu-HU" sz="1200">
                          <a:effectLst/>
                        </a:rPr>
                        <a:t>Művelet: adott fájl tulajdonosának megváltoztatása</a:t>
                      </a:r>
                      <a:endParaRPr lang="en-GB" sz="1200">
                        <a:effectLst/>
                      </a:endParaRPr>
                    </a:p>
                    <a:p>
                      <a:pPr>
                        <a:lnSpc>
                          <a:spcPct val="107000"/>
                        </a:lnSpc>
                        <a:spcAft>
                          <a:spcPts val="0"/>
                        </a:spcAft>
                      </a:pPr>
                      <a:r>
                        <a:rPr lang="hu-HU" sz="1200">
                          <a:effectLst/>
                        </a:rPr>
                        <a:t>Használata: chown &lt;felhasználó&gt; /könyvtár</a:t>
                      </a:r>
                      <a:endParaRPr lang="en-GB" sz="1200">
                        <a:effectLst/>
                      </a:endParaRPr>
                    </a:p>
                    <a:p>
                      <a:pPr>
                        <a:lnSpc>
                          <a:spcPct val="107000"/>
                        </a:lnSpc>
                        <a:spcAft>
                          <a:spcPts val="0"/>
                        </a:spcAft>
                      </a:pPr>
                      <a:r>
                        <a:rPr lang="hu-HU" sz="1200">
                          <a:effectLst/>
                        </a:rPr>
                        <a:t>(/könyvtér tulajdonosa megváltoztatása &lt;felhasználó&gt;-ra)</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4178295187"/>
                  </a:ext>
                </a:extLst>
              </a:tr>
              <a:tr h="481198">
                <a:tc>
                  <a:txBody>
                    <a:bodyPr/>
                    <a:lstStyle/>
                    <a:p>
                      <a:pPr>
                        <a:lnSpc>
                          <a:spcPct val="107000"/>
                        </a:lnSpc>
                        <a:spcAft>
                          <a:spcPts val="0"/>
                        </a:spcAft>
                      </a:pPr>
                      <a:r>
                        <a:rPr lang="hu-HU" sz="1200">
                          <a:effectLst/>
                        </a:rPr>
                        <a:t>date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tc>
                  <a:txBody>
                    <a:bodyPr/>
                    <a:lstStyle/>
                    <a:p>
                      <a:pPr>
                        <a:lnSpc>
                          <a:spcPct val="107000"/>
                        </a:lnSpc>
                        <a:spcAft>
                          <a:spcPts val="0"/>
                        </a:spcAft>
                      </a:pPr>
                      <a:r>
                        <a:rPr lang="hu-HU" sz="1200" dirty="0">
                          <a:effectLst/>
                        </a:rPr>
                        <a:t>Jelentése: DATE</a:t>
                      </a:r>
                      <a:endParaRPr lang="en-GB" sz="1200" dirty="0">
                        <a:effectLst/>
                      </a:endParaRPr>
                    </a:p>
                    <a:p>
                      <a:pPr>
                        <a:lnSpc>
                          <a:spcPct val="107000"/>
                        </a:lnSpc>
                        <a:spcAft>
                          <a:spcPts val="0"/>
                        </a:spcAft>
                      </a:pPr>
                      <a:r>
                        <a:rPr lang="hu-HU" sz="1200" dirty="0">
                          <a:effectLst/>
                        </a:rPr>
                        <a:t>Művelet: megmutatja a jelenlegi(vagy amelyiket akarjuk) dátumot</a:t>
                      </a:r>
                      <a:endParaRPr lang="en-GB" sz="1200" dirty="0">
                        <a:effectLst/>
                      </a:endParaRPr>
                    </a:p>
                    <a:p>
                      <a:pPr>
                        <a:lnSpc>
                          <a:spcPct val="107000"/>
                        </a:lnSpc>
                        <a:spcAft>
                          <a:spcPts val="0"/>
                        </a:spcAft>
                      </a:pPr>
                      <a:r>
                        <a:rPr lang="hu-HU" sz="1200" dirty="0">
                          <a:effectLst/>
                        </a:rPr>
                        <a:t>Használata: </a:t>
                      </a:r>
                      <a:r>
                        <a:rPr lang="hu-HU" sz="1200" dirty="0" err="1">
                          <a:effectLst/>
                        </a:rPr>
                        <a:t>date</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629" marR="7629" marT="0" marB="0"/>
                </a:tc>
                <a:extLst>
                  <a:ext uri="{0D108BD9-81ED-4DB2-BD59-A6C34878D82A}">
                    <a16:rowId xmlns:a16="http://schemas.microsoft.com/office/drawing/2014/main" val="2396693683"/>
                  </a:ext>
                </a:extLst>
              </a:tr>
            </a:tbl>
          </a:graphicData>
        </a:graphic>
      </p:graphicFrame>
      <p:graphicFrame>
        <p:nvGraphicFramePr>
          <p:cNvPr id="7" name="Táblázat 6">
            <a:extLst>
              <a:ext uri="{FF2B5EF4-FFF2-40B4-BE49-F238E27FC236}">
                <a16:creationId xmlns:a16="http://schemas.microsoft.com/office/drawing/2014/main" id="{60175595-EFD3-4538-B440-697AC6C254A4}"/>
              </a:ext>
            </a:extLst>
          </p:cNvPr>
          <p:cNvGraphicFramePr>
            <a:graphicFrameLocks noGrp="1"/>
          </p:cNvGraphicFramePr>
          <p:nvPr>
            <p:extLst>
              <p:ext uri="{D42A27DB-BD31-4B8C-83A1-F6EECF244321}">
                <p14:modId xmlns:p14="http://schemas.microsoft.com/office/powerpoint/2010/main" val="3677943338"/>
              </p:ext>
            </p:extLst>
          </p:nvPr>
        </p:nvGraphicFramePr>
        <p:xfrm>
          <a:off x="-1829311" y="7629445"/>
          <a:ext cx="7732222" cy="5906427"/>
        </p:xfrm>
        <a:graphic>
          <a:graphicData uri="http://schemas.openxmlformats.org/drawingml/2006/table">
            <a:tbl>
              <a:tblPr firstCol="1" bandRow="1">
                <a:tableStyleId>{073A0DAA-6AF3-43AB-8588-CEC1D06C72B9}</a:tableStyleId>
              </a:tblPr>
              <a:tblGrid>
                <a:gridCol w="3866111">
                  <a:extLst>
                    <a:ext uri="{9D8B030D-6E8A-4147-A177-3AD203B41FA5}">
                      <a16:colId xmlns:a16="http://schemas.microsoft.com/office/drawing/2014/main" val="1063130944"/>
                    </a:ext>
                  </a:extLst>
                </a:gridCol>
                <a:gridCol w="3866111">
                  <a:extLst>
                    <a:ext uri="{9D8B030D-6E8A-4147-A177-3AD203B41FA5}">
                      <a16:colId xmlns:a16="http://schemas.microsoft.com/office/drawing/2014/main" val="991351317"/>
                    </a:ext>
                  </a:extLst>
                </a:gridCol>
              </a:tblGrid>
              <a:tr h="377457">
                <a:tc>
                  <a:txBody>
                    <a:bodyPr/>
                    <a:lstStyle/>
                    <a:p>
                      <a:pPr>
                        <a:lnSpc>
                          <a:spcPct val="107000"/>
                        </a:lnSpc>
                        <a:spcAft>
                          <a:spcPts val="0"/>
                        </a:spcAft>
                      </a:pPr>
                      <a:r>
                        <a:rPr lang="hu-HU" sz="1200" dirty="0" err="1">
                          <a:effectLst/>
                        </a:rPr>
                        <a:t>unzip</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dirty="0">
                          <a:effectLst/>
                        </a:rPr>
                        <a:t>Művelet: fájlok kicsomagolása</a:t>
                      </a:r>
                      <a:endParaRPr lang="en-GB" sz="1200" dirty="0">
                        <a:effectLst/>
                      </a:endParaRPr>
                    </a:p>
                    <a:p>
                      <a:pPr>
                        <a:lnSpc>
                          <a:spcPct val="107000"/>
                        </a:lnSpc>
                        <a:spcAft>
                          <a:spcPts val="0"/>
                        </a:spcAft>
                      </a:pPr>
                      <a:r>
                        <a:rPr lang="hu-HU" sz="1200" dirty="0">
                          <a:effectLst/>
                        </a:rPr>
                        <a:t>Használata: </a:t>
                      </a:r>
                      <a:r>
                        <a:rPr lang="hu-HU" sz="1200" dirty="0" err="1">
                          <a:effectLst/>
                        </a:rPr>
                        <a:t>unzip</a:t>
                      </a:r>
                      <a:r>
                        <a:rPr lang="hu-HU" sz="1200" dirty="0">
                          <a:effectLst/>
                        </a:rPr>
                        <a:t> &lt;fájlnév&gt;.</a:t>
                      </a:r>
                      <a:r>
                        <a:rPr lang="hu-HU" sz="1200" dirty="0" err="1">
                          <a:effectLst/>
                        </a:rPr>
                        <a:t>zip</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3835240110"/>
                  </a:ext>
                </a:extLst>
              </a:tr>
              <a:tr h="570443">
                <a:tc>
                  <a:txBody>
                    <a:bodyPr/>
                    <a:lstStyle/>
                    <a:p>
                      <a:pPr>
                        <a:lnSpc>
                          <a:spcPct val="107000"/>
                        </a:lnSpc>
                        <a:spcAft>
                          <a:spcPts val="0"/>
                        </a:spcAft>
                      </a:pPr>
                      <a:r>
                        <a:rPr lang="hu-HU" sz="1200" dirty="0" err="1">
                          <a:effectLst/>
                        </a:rPr>
                        <a:t>dpkg</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Jelentése: Debian PacKaGe</a:t>
                      </a:r>
                      <a:endParaRPr lang="en-GB" sz="1200">
                        <a:effectLst/>
                      </a:endParaRPr>
                    </a:p>
                    <a:p>
                      <a:pPr>
                        <a:lnSpc>
                          <a:spcPct val="107000"/>
                        </a:lnSpc>
                        <a:spcAft>
                          <a:spcPts val="0"/>
                        </a:spcAft>
                      </a:pPr>
                      <a:r>
                        <a:rPr lang="hu-HU" sz="1200">
                          <a:effectLst/>
                        </a:rPr>
                        <a:t>Művelet: .deb fájlok telepítése</a:t>
                      </a:r>
                      <a:endParaRPr lang="en-GB" sz="1200">
                        <a:effectLst/>
                      </a:endParaRPr>
                    </a:p>
                    <a:p>
                      <a:pPr>
                        <a:lnSpc>
                          <a:spcPct val="107000"/>
                        </a:lnSpc>
                        <a:spcAft>
                          <a:spcPts val="0"/>
                        </a:spcAft>
                      </a:pPr>
                      <a:r>
                        <a:rPr lang="hu-HU" sz="1200">
                          <a:effectLst/>
                        </a:rPr>
                        <a:t>Használata: dpkg -i &lt;fájlnév&gt;.deb</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2946189385"/>
                  </a:ext>
                </a:extLst>
              </a:tr>
              <a:tr h="377457">
                <a:tc>
                  <a:txBody>
                    <a:bodyPr/>
                    <a:lstStyle/>
                    <a:p>
                      <a:pPr>
                        <a:lnSpc>
                          <a:spcPct val="107000"/>
                        </a:lnSpc>
                        <a:spcAft>
                          <a:spcPts val="0"/>
                        </a:spcAft>
                      </a:pPr>
                      <a:r>
                        <a:rPr lang="hu-HU" sz="1200">
                          <a:effectLst/>
                        </a:rPr>
                        <a:t>hostname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Művelet: hostname kiíratása</a:t>
                      </a:r>
                      <a:endParaRPr lang="en-GB" sz="1200">
                        <a:effectLst/>
                      </a:endParaRPr>
                    </a:p>
                    <a:p>
                      <a:pPr>
                        <a:lnSpc>
                          <a:spcPct val="107000"/>
                        </a:lnSpc>
                        <a:spcAft>
                          <a:spcPts val="0"/>
                        </a:spcAft>
                      </a:pPr>
                      <a:r>
                        <a:rPr lang="hu-HU" sz="1200">
                          <a:effectLst/>
                        </a:rPr>
                        <a:t>Használata: hostname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390649195"/>
                  </a:ext>
                </a:extLst>
              </a:tr>
              <a:tr h="570443">
                <a:tc>
                  <a:txBody>
                    <a:bodyPr/>
                    <a:lstStyle/>
                    <a:p>
                      <a:pPr>
                        <a:lnSpc>
                          <a:spcPct val="107000"/>
                        </a:lnSpc>
                        <a:spcAft>
                          <a:spcPts val="0"/>
                        </a:spcAft>
                      </a:pPr>
                      <a:r>
                        <a:rPr lang="hu-HU" sz="1200">
                          <a:effectLst/>
                        </a:rPr>
                        <a:t>ip addr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Jelentése: IP ADDRess</a:t>
                      </a:r>
                      <a:endParaRPr lang="en-GB" sz="1200">
                        <a:effectLst/>
                      </a:endParaRPr>
                    </a:p>
                    <a:p>
                      <a:pPr>
                        <a:lnSpc>
                          <a:spcPct val="107000"/>
                        </a:lnSpc>
                        <a:spcAft>
                          <a:spcPts val="0"/>
                        </a:spcAft>
                      </a:pPr>
                      <a:r>
                        <a:rPr lang="hu-HU" sz="1200">
                          <a:effectLst/>
                        </a:rPr>
                        <a:t>Művelet: hálózati adatok kiíratása</a:t>
                      </a:r>
                      <a:endParaRPr lang="en-GB" sz="1200">
                        <a:effectLst/>
                      </a:endParaRPr>
                    </a:p>
                    <a:p>
                      <a:pPr>
                        <a:lnSpc>
                          <a:spcPct val="107000"/>
                        </a:lnSpc>
                        <a:spcAft>
                          <a:spcPts val="0"/>
                        </a:spcAft>
                      </a:pPr>
                      <a:r>
                        <a:rPr lang="hu-HU" sz="1200">
                          <a:effectLst/>
                        </a:rPr>
                        <a:t>Használata: ip addr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1309190395"/>
                  </a:ext>
                </a:extLst>
              </a:tr>
              <a:tr h="377457">
                <a:tc>
                  <a:txBody>
                    <a:bodyPr/>
                    <a:lstStyle/>
                    <a:p>
                      <a:pPr>
                        <a:lnSpc>
                          <a:spcPct val="107000"/>
                        </a:lnSpc>
                        <a:spcAft>
                          <a:spcPts val="0"/>
                        </a:spcAft>
                      </a:pPr>
                      <a:r>
                        <a:rPr lang="hu-HU" sz="1200">
                          <a:effectLst/>
                        </a:rPr>
                        <a:t>clear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Művelet: terminál letisztítása</a:t>
                      </a:r>
                      <a:endParaRPr lang="en-GB" sz="1200">
                        <a:effectLst/>
                      </a:endParaRPr>
                    </a:p>
                    <a:p>
                      <a:pPr>
                        <a:lnSpc>
                          <a:spcPct val="107000"/>
                        </a:lnSpc>
                        <a:spcAft>
                          <a:spcPts val="0"/>
                        </a:spcAft>
                      </a:pPr>
                      <a:r>
                        <a:rPr lang="hu-HU" sz="1200">
                          <a:effectLst/>
                        </a:rPr>
                        <a:t>Használata: clear</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249747666"/>
                  </a:ext>
                </a:extLst>
              </a:tr>
              <a:tr h="638429">
                <a:tc>
                  <a:txBody>
                    <a:bodyPr/>
                    <a:lstStyle/>
                    <a:p>
                      <a:pPr>
                        <a:lnSpc>
                          <a:spcPct val="107000"/>
                        </a:lnSpc>
                        <a:spcAft>
                          <a:spcPts val="0"/>
                        </a:spcAft>
                      </a:pPr>
                      <a:r>
                        <a:rPr lang="hu-HU" sz="1200" dirty="0" err="1">
                          <a:effectLst/>
                        </a:rPr>
                        <a:t>ssh</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Jelentése: SecureSHell</a:t>
                      </a:r>
                      <a:endParaRPr lang="en-GB" sz="1200">
                        <a:effectLst/>
                      </a:endParaRPr>
                    </a:p>
                    <a:p>
                      <a:pPr>
                        <a:lnSpc>
                          <a:spcPct val="107000"/>
                        </a:lnSpc>
                        <a:spcAft>
                          <a:spcPts val="0"/>
                        </a:spcAft>
                      </a:pPr>
                      <a:r>
                        <a:rPr lang="hu-HU" sz="1200">
                          <a:effectLst/>
                        </a:rPr>
                        <a:t>Művelet: szerverekhez csatlakozás</a:t>
                      </a:r>
                      <a:endParaRPr lang="en-GB" sz="1200">
                        <a:effectLst/>
                      </a:endParaRPr>
                    </a:p>
                    <a:p>
                      <a:pPr>
                        <a:lnSpc>
                          <a:spcPct val="107000"/>
                        </a:lnSpc>
                        <a:spcAft>
                          <a:spcPts val="0"/>
                        </a:spcAft>
                      </a:pPr>
                      <a:r>
                        <a:rPr lang="hu-HU" sz="1200">
                          <a:effectLst/>
                        </a:rPr>
                        <a:t>Használata: ssh &lt;felhasználó&gt;@&lt;szerver ip&gt;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3517319516"/>
                  </a:ext>
                </a:extLst>
              </a:tr>
              <a:tr h="1146605">
                <a:tc>
                  <a:txBody>
                    <a:bodyPr/>
                    <a:lstStyle/>
                    <a:p>
                      <a:pPr>
                        <a:lnSpc>
                          <a:spcPct val="107000"/>
                        </a:lnSpc>
                        <a:spcAft>
                          <a:spcPts val="0"/>
                        </a:spcAft>
                      </a:pPr>
                      <a:r>
                        <a:rPr lang="hu-HU" sz="1200">
                          <a:effectLst/>
                        </a:rPr>
                        <a:t>ftp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a:effectLst/>
                        </a:rPr>
                        <a:t>Jelentése: FileTransferProtocol</a:t>
                      </a:r>
                      <a:endParaRPr lang="en-GB" sz="1200">
                        <a:effectLst/>
                      </a:endParaRPr>
                    </a:p>
                    <a:p>
                      <a:pPr>
                        <a:lnSpc>
                          <a:spcPct val="107000"/>
                        </a:lnSpc>
                        <a:spcAft>
                          <a:spcPts val="0"/>
                        </a:spcAft>
                      </a:pPr>
                      <a:r>
                        <a:rPr lang="hu-HU" sz="1200">
                          <a:effectLst/>
                        </a:rPr>
                        <a:t>Művelet: fájlok kezelése ftp szerveren</a:t>
                      </a:r>
                      <a:endParaRPr lang="en-GB" sz="1200">
                        <a:effectLst/>
                      </a:endParaRPr>
                    </a:p>
                    <a:p>
                      <a:pPr>
                        <a:lnSpc>
                          <a:spcPct val="107000"/>
                        </a:lnSpc>
                        <a:spcAft>
                          <a:spcPts val="0"/>
                        </a:spcAft>
                      </a:pPr>
                      <a:r>
                        <a:rPr lang="hu-HU" sz="1200">
                          <a:effectLst/>
                        </a:rPr>
                        <a:t>Használata: ftp &lt;szerver ip&gt;</a:t>
                      </a:r>
                      <a:endParaRPr lang="en-GB" sz="1200">
                        <a:effectLst/>
                      </a:endParaRPr>
                    </a:p>
                    <a:p>
                      <a:pPr>
                        <a:lnSpc>
                          <a:spcPct val="107000"/>
                        </a:lnSpc>
                        <a:spcAft>
                          <a:spcPts val="0"/>
                        </a:spcAft>
                      </a:pPr>
                      <a:r>
                        <a:rPr lang="hu-HU" sz="1200">
                          <a:effectLst/>
                        </a:rPr>
                        <a:t>(ha nincsen letiltva az ”anonymous” opció, akkor akár jelszó nélkül is képesek vagyunk belépni az adott ftp szerverre)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1965822352"/>
                  </a:ext>
                </a:extLst>
              </a:tr>
              <a:tr h="901689">
                <a:tc>
                  <a:txBody>
                    <a:bodyPr/>
                    <a:lstStyle/>
                    <a:p>
                      <a:pPr>
                        <a:lnSpc>
                          <a:spcPct val="107000"/>
                        </a:lnSpc>
                        <a:spcAft>
                          <a:spcPts val="0"/>
                        </a:spcAft>
                      </a:pPr>
                      <a:r>
                        <a:rPr lang="hu-HU" sz="1200" dirty="0">
                          <a:effectLst/>
                        </a:rPr>
                        <a:t>man</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r>
                        <a:rPr lang="hu-HU" sz="1200" kern="1200" dirty="0">
                          <a:effectLst/>
                        </a:rPr>
                        <a:t>Jelentése: </a:t>
                      </a:r>
                      <a:r>
                        <a:rPr lang="hu-HU" sz="1200" kern="1200" dirty="0" err="1">
                          <a:effectLst/>
                        </a:rPr>
                        <a:t>MANual</a:t>
                      </a:r>
                      <a:endParaRPr lang="en-GB" sz="1200" kern="1200" dirty="0">
                        <a:effectLst/>
                      </a:endParaRPr>
                    </a:p>
                    <a:p>
                      <a:r>
                        <a:rPr lang="hu-HU" sz="1200" kern="1200" dirty="0">
                          <a:effectLst/>
                        </a:rPr>
                        <a:t>Művelet: adott parancshoz tartozó manuális oldal megjelenítése (-&gt; részletes leírást kapunk az adott parancsról)</a:t>
                      </a:r>
                      <a:endParaRPr lang="en-GB" sz="1200" kern="1200" dirty="0">
                        <a:effectLst/>
                      </a:endParaRPr>
                    </a:p>
                    <a:p>
                      <a:r>
                        <a:rPr lang="hu-HU" sz="1200" kern="1200" dirty="0">
                          <a:effectLst/>
                        </a:rPr>
                        <a:t>Használata: man &lt;parancs&gt;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3483223184"/>
                  </a:ext>
                </a:extLst>
              </a:tr>
              <a:tr h="901689">
                <a:tc>
                  <a:txBody>
                    <a:bodyPr/>
                    <a:lstStyle/>
                    <a:p>
                      <a:pPr>
                        <a:lnSpc>
                          <a:spcPct val="107000"/>
                        </a:lnSpc>
                        <a:spcAft>
                          <a:spcPts val="0"/>
                        </a:spcAft>
                      </a:pPr>
                      <a:r>
                        <a:rPr lang="hu-HU" sz="1200" dirty="0" err="1">
                          <a:effectLst/>
                          <a:latin typeface="Calibri" panose="020F0502020204030204" pitchFamily="34" charset="0"/>
                          <a:ea typeface="Calibri" panose="020F0502020204030204" pitchFamily="34" charset="0"/>
                          <a:cs typeface="Times New Roman" panose="02020603050405020304" pitchFamily="18" charset="0"/>
                        </a:rPr>
                        <a:t>kill</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tc>
                  <a:txBody>
                    <a:bodyPr/>
                    <a:lstStyle/>
                    <a:p>
                      <a:pPr>
                        <a:lnSpc>
                          <a:spcPct val="107000"/>
                        </a:lnSpc>
                        <a:spcAft>
                          <a:spcPts val="0"/>
                        </a:spcAft>
                      </a:pPr>
                      <a:r>
                        <a:rPr lang="hu-HU" sz="1200" dirty="0">
                          <a:effectLst/>
                        </a:rPr>
                        <a:t>Művelet: adott műveletek leállítása</a:t>
                      </a:r>
                      <a:endParaRPr lang="en-GB" sz="1200" dirty="0">
                        <a:effectLst/>
                      </a:endParaRPr>
                    </a:p>
                    <a:p>
                      <a:pPr>
                        <a:lnSpc>
                          <a:spcPct val="107000"/>
                        </a:lnSpc>
                        <a:spcAft>
                          <a:spcPts val="0"/>
                        </a:spcAft>
                      </a:pPr>
                      <a:r>
                        <a:rPr lang="hu-HU" sz="1200" dirty="0">
                          <a:effectLst/>
                        </a:rPr>
                        <a:t>Használata: </a:t>
                      </a:r>
                      <a:r>
                        <a:rPr lang="hu-HU" sz="1200" dirty="0" err="1">
                          <a:effectLst/>
                        </a:rPr>
                        <a:t>kill</a:t>
                      </a:r>
                      <a:r>
                        <a:rPr lang="hu-HU" sz="1200" dirty="0">
                          <a:effectLst/>
                        </a:rPr>
                        <a:t> &lt;PID&gt;</a:t>
                      </a:r>
                      <a:endParaRPr lang="en-GB" sz="1200" dirty="0">
                        <a:effectLst/>
                      </a:endParaRPr>
                    </a:p>
                    <a:p>
                      <a:pPr>
                        <a:lnSpc>
                          <a:spcPct val="107000"/>
                        </a:lnSpc>
                        <a:spcAft>
                          <a:spcPts val="0"/>
                        </a:spcAft>
                      </a:pPr>
                      <a:r>
                        <a:rPr lang="hu-HU" sz="1200" dirty="0">
                          <a:effectLst/>
                        </a:rPr>
                        <a:t>(&lt;PID&gt;(</a:t>
                      </a:r>
                      <a:r>
                        <a:rPr lang="hu-HU" sz="1200" dirty="0" err="1">
                          <a:effectLst/>
                        </a:rPr>
                        <a:t>Process</a:t>
                      </a:r>
                      <a:r>
                        <a:rPr lang="hu-HU" sz="1200" dirty="0">
                          <a:effectLst/>
                        </a:rPr>
                        <a:t> ID) top parancs által tudjuk megnézni ezeket az </a:t>
                      </a:r>
                      <a:r>
                        <a:rPr lang="hu-HU" sz="1200" dirty="0" err="1">
                          <a:effectLst/>
                        </a:rPr>
                        <a:t>id</a:t>
                      </a:r>
                      <a:r>
                        <a:rPr lang="hu-HU" sz="1200" dirty="0">
                          <a:effectLst/>
                        </a:rPr>
                        <a:t>-ket)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7384" marR="57384" marT="0" marB="0"/>
                </a:tc>
                <a:extLst>
                  <a:ext uri="{0D108BD9-81ED-4DB2-BD59-A6C34878D82A}">
                    <a16:rowId xmlns:a16="http://schemas.microsoft.com/office/drawing/2014/main" val="1141952797"/>
                  </a:ext>
                </a:extLst>
              </a:tr>
            </a:tbl>
          </a:graphicData>
        </a:graphic>
      </p:graphicFrame>
      <p:graphicFrame>
        <p:nvGraphicFramePr>
          <p:cNvPr id="8" name="Táblázat 7">
            <a:extLst>
              <a:ext uri="{FF2B5EF4-FFF2-40B4-BE49-F238E27FC236}">
                <a16:creationId xmlns:a16="http://schemas.microsoft.com/office/drawing/2014/main" id="{3140979A-98C6-43A4-85DD-DA50062338BD}"/>
              </a:ext>
            </a:extLst>
          </p:cNvPr>
          <p:cNvGraphicFramePr>
            <a:graphicFrameLocks noGrp="1"/>
          </p:cNvGraphicFramePr>
          <p:nvPr>
            <p:extLst>
              <p:ext uri="{D42A27DB-BD31-4B8C-83A1-F6EECF244321}">
                <p14:modId xmlns:p14="http://schemas.microsoft.com/office/powerpoint/2010/main" val="907366841"/>
              </p:ext>
            </p:extLst>
          </p:nvPr>
        </p:nvGraphicFramePr>
        <p:xfrm>
          <a:off x="-9019820" y="4839474"/>
          <a:ext cx="8645238" cy="5579942"/>
        </p:xfrm>
        <a:graphic>
          <a:graphicData uri="http://schemas.openxmlformats.org/drawingml/2006/table">
            <a:tbl>
              <a:tblPr firstCol="1" bandRow="1">
                <a:tableStyleId>{073A0DAA-6AF3-43AB-8588-CEC1D06C72B9}</a:tableStyleId>
              </a:tblPr>
              <a:tblGrid>
                <a:gridCol w="4322619">
                  <a:extLst>
                    <a:ext uri="{9D8B030D-6E8A-4147-A177-3AD203B41FA5}">
                      <a16:colId xmlns:a16="http://schemas.microsoft.com/office/drawing/2014/main" val="2000127223"/>
                    </a:ext>
                  </a:extLst>
                </a:gridCol>
                <a:gridCol w="4322619">
                  <a:extLst>
                    <a:ext uri="{9D8B030D-6E8A-4147-A177-3AD203B41FA5}">
                      <a16:colId xmlns:a16="http://schemas.microsoft.com/office/drawing/2014/main" val="2328620949"/>
                    </a:ext>
                  </a:extLst>
                </a:gridCol>
              </a:tblGrid>
              <a:tr h="425314">
                <a:tc>
                  <a:txBody>
                    <a:bodyPr/>
                    <a:lstStyle/>
                    <a:p>
                      <a:pPr>
                        <a:lnSpc>
                          <a:spcPct val="107000"/>
                        </a:lnSpc>
                        <a:spcAft>
                          <a:spcPts val="0"/>
                        </a:spcAft>
                      </a:pPr>
                      <a:r>
                        <a:rPr lang="hu-HU" sz="1200" dirty="0" err="1">
                          <a:effectLst/>
                        </a:rPr>
                        <a:t>ping</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dirty="0">
                          <a:effectLst/>
                        </a:rPr>
                        <a:t>Művelet: gépek, hálózatok…stb. </a:t>
                      </a:r>
                      <a:r>
                        <a:rPr lang="hu-HU" sz="1200" dirty="0" err="1">
                          <a:effectLst/>
                        </a:rPr>
                        <a:t>megpingelése</a:t>
                      </a:r>
                      <a:endParaRPr lang="en-GB" sz="1200" dirty="0">
                        <a:effectLst/>
                      </a:endParaRPr>
                    </a:p>
                    <a:p>
                      <a:pPr>
                        <a:lnSpc>
                          <a:spcPct val="107000"/>
                        </a:lnSpc>
                        <a:spcAft>
                          <a:spcPts val="0"/>
                        </a:spcAft>
                      </a:pPr>
                      <a:r>
                        <a:rPr lang="hu-HU" sz="1200" dirty="0">
                          <a:effectLst/>
                        </a:rPr>
                        <a:t>Használata: </a:t>
                      </a:r>
                      <a:r>
                        <a:rPr lang="hu-HU" sz="1200" dirty="0" err="1">
                          <a:effectLst/>
                        </a:rPr>
                        <a:t>ping</a:t>
                      </a:r>
                      <a:r>
                        <a:rPr lang="hu-HU" sz="1200" dirty="0">
                          <a:effectLst/>
                        </a:rPr>
                        <a:t> &lt;</a:t>
                      </a:r>
                      <a:r>
                        <a:rPr lang="hu-HU" sz="1200" dirty="0" err="1">
                          <a:effectLst/>
                        </a:rPr>
                        <a:t>ip</a:t>
                      </a:r>
                      <a:r>
                        <a:rPr lang="hu-HU" sz="1200" dirty="0">
                          <a:effectLst/>
                        </a:rPr>
                        <a:t>-cím&gt;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1163297373"/>
                  </a:ext>
                </a:extLst>
              </a:tr>
              <a:tr h="634528">
                <a:tc>
                  <a:txBody>
                    <a:bodyPr/>
                    <a:lstStyle/>
                    <a:p>
                      <a:pPr>
                        <a:lnSpc>
                          <a:spcPct val="107000"/>
                        </a:lnSpc>
                        <a:spcAft>
                          <a:spcPts val="0"/>
                        </a:spcAft>
                      </a:pPr>
                      <a:r>
                        <a:rPr lang="hu-HU" sz="1200" dirty="0" err="1">
                          <a:effectLst/>
                        </a:rPr>
                        <a:t>wget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a:effectLst/>
                        </a:rPr>
                        <a:t>Jelentése: world wide Web GET</a:t>
                      </a:r>
                      <a:endParaRPr lang="en-GB" sz="1200">
                        <a:effectLst/>
                      </a:endParaRPr>
                    </a:p>
                    <a:p>
                      <a:pPr>
                        <a:lnSpc>
                          <a:spcPct val="107000"/>
                        </a:lnSpc>
                        <a:spcAft>
                          <a:spcPts val="0"/>
                        </a:spcAft>
                      </a:pPr>
                      <a:r>
                        <a:rPr lang="hu-HU" sz="1200">
                          <a:effectLst/>
                        </a:rPr>
                        <a:t>Művelet: webes oldalak letöltése</a:t>
                      </a:r>
                      <a:endParaRPr lang="en-GB" sz="1200">
                        <a:effectLst/>
                      </a:endParaRPr>
                    </a:p>
                    <a:p>
                      <a:pPr>
                        <a:lnSpc>
                          <a:spcPct val="107000"/>
                        </a:lnSpc>
                        <a:spcAft>
                          <a:spcPts val="0"/>
                        </a:spcAft>
                      </a:pPr>
                      <a:r>
                        <a:rPr lang="hu-HU" sz="1200">
                          <a:effectLst/>
                        </a:rPr>
                        <a:t>Használata: wget http://asd.com</a:t>
                      </a:r>
                      <a:endParaRPr lang="en-GB" sz="1200">
                        <a:effectLst/>
                      </a:endParaRPr>
                    </a:p>
                    <a:p>
                      <a:pPr>
                        <a:lnSpc>
                          <a:spcPct val="107000"/>
                        </a:lnSpc>
                        <a:spcAft>
                          <a:spcPts val="0"/>
                        </a:spcAft>
                      </a:pPr>
                      <a:r>
                        <a:rPr lang="hu-HU" sz="1200">
                          <a:effectLst/>
                        </a:rPr>
                        <a:t>(http://asd.com letöltése fileként)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1843350390"/>
                  </a:ext>
                </a:extLst>
              </a:tr>
              <a:tr h="474139">
                <a:tc>
                  <a:txBody>
                    <a:bodyPr/>
                    <a:lstStyle/>
                    <a:p>
                      <a:pPr>
                        <a:lnSpc>
                          <a:spcPct val="107000"/>
                        </a:lnSpc>
                        <a:spcAft>
                          <a:spcPts val="0"/>
                        </a:spcAft>
                      </a:pPr>
                      <a:r>
                        <a:rPr lang="hu-HU" sz="1200">
                          <a:effectLst/>
                        </a:rPr>
                        <a:t>uname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a:effectLst/>
                        </a:rPr>
                        <a:t>Jelentése: Unix NAME</a:t>
                      </a:r>
                      <a:endParaRPr lang="en-GB" sz="1200">
                        <a:effectLst/>
                      </a:endParaRPr>
                    </a:p>
                    <a:p>
                      <a:pPr>
                        <a:lnSpc>
                          <a:spcPct val="107000"/>
                        </a:lnSpc>
                        <a:spcAft>
                          <a:spcPts val="0"/>
                        </a:spcAft>
                      </a:pPr>
                      <a:r>
                        <a:rPr lang="hu-HU" sz="1200">
                          <a:effectLst/>
                        </a:rPr>
                        <a:t>Művelet: unix nevének kiíratása</a:t>
                      </a:r>
                      <a:endParaRPr lang="en-GB" sz="1200">
                        <a:effectLst/>
                      </a:endParaRPr>
                    </a:p>
                    <a:p>
                      <a:pPr>
                        <a:lnSpc>
                          <a:spcPct val="107000"/>
                        </a:lnSpc>
                        <a:spcAft>
                          <a:spcPts val="0"/>
                        </a:spcAft>
                      </a:pPr>
                      <a:r>
                        <a:rPr lang="hu-HU" sz="1200">
                          <a:effectLst/>
                        </a:rPr>
                        <a:t>Használata: uname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4038368905"/>
                  </a:ext>
                </a:extLst>
              </a:tr>
              <a:tr h="569660">
                <a:tc>
                  <a:txBody>
                    <a:bodyPr/>
                    <a:lstStyle/>
                    <a:p>
                      <a:pPr>
                        <a:lnSpc>
                          <a:spcPct val="107000"/>
                        </a:lnSpc>
                        <a:spcAft>
                          <a:spcPts val="0"/>
                        </a:spcAft>
                      </a:pPr>
                      <a:r>
                        <a:rPr lang="hu-HU" sz="1200">
                          <a:effectLst/>
                        </a:rPr>
                        <a:t>top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a:effectLst/>
                        </a:rPr>
                        <a:t>Jelentése: Table Of Processes</a:t>
                      </a:r>
                      <a:endParaRPr lang="en-GB" sz="1200">
                        <a:effectLst/>
                      </a:endParaRPr>
                    </a:p>
                    <a:p>
                      <a:pPr>
                        <a:lnSpc>
                          <a:spcPct val="107000"/>
                        </a:lnSpc>
                        <a:spcAft>
                          <a:spcPts val="0"/>
                        </a:spcAft>
                      </a:pPr>
                      <a:r>
                        <a:rPr lang="hu-HU" sz="1200">
                          <a:effectLst/>
                        </a:rPr>
                        <a:t>Művelet: feladatkezelő(jelenlegi folyamatok monitorozása)</a:t>
                      </a:r>
                      <a:endParaRPr lang="en-GB" sz="1200">
                        <a:effectLst/>
                      </a:endParaRPr>
                    </a:p>
                    <a:p>
                      <a:pPr>
                        <a:lnSpc>
                          <a:spcPct val="107000"/>
                        </a:lnSpc>
                        <a:spcAft>
                          <a:spcPts val="0"/>
                        </a:spcAft>
                      </a:pPr>
                      <a:r>
                        <a:rPr lang="hu-HU" sz="1200">
                          <a:effectLst/>
                        </a:rPr>
                        <a:t>Használata: top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3448157064"/>
                  </a:ext>
                </a:extLst>
              </a:tr>
              <a:tr h="425314">
                <a:tc>
                  <a:txBody>
                    <a:bodyPr/>
                    <a:lstStyle/>
                    <a:p>
                      <a:pPr>
                        <a:lnSpc>
                          <a:spcPct val="107000"/>
                        </a:lnSpc>
                        <a:spcAft>
                          <a:spcPts val="0"/>
                        </a:spcAft>
                      </a:pPr>
                      <a:r>
                        <a:rPr lang="hu-HU" sz="1200">
                          <a:effectLst/>
                        </a:rPr>
                        <a:t>history</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a:effectLst/>
                        </a:rPr>
                        <a:t>Művelet: parancs előzmények megjelenítése</a:t>
                      </a:r>
                      <a:endParaRPr lang="en-GB" sz="1200">
                        <a:effectLst/>
                      </a:endParaRPr>
                    </a:p>
                    <a:p>
                      <a:pPr>
                        <a:lnSpc>
                          <a:spcPct val="107000"/>
                        </a:lnSpc>
                        <a:spcAft>
                          <a:spcPts val="0"/>
                        </a:spcAft>
                      </a:pPr>
                      <a:r>
                        <a:rPr lang="hu-HU" sz="1200">
                          <a:effectLst/>
                        </a:rPr>
                        <a:t>Használata: history</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1351782139"/>
                  </a:ext>
                </a:extLst>
              </a:tr>
              <a:tr h="858354">
                <a:tc>
                  <a:txBody>
                    <a:bodyPr/>
                    <a:lstStyle/>
                    <a:p>
                      <a:pPr>
                        <a:lnSpc>
                          <a:spcPct val="107000"/>
                        </a:lnSpc>
                        <a:spcAft>
                          <a:spcPts val="0"/>
                        </a:spcAft>
                      </a:pPr>
                      <a:r>
                        <a:rPr lang="hu-HU" sz="1200">
                          <a:effectLst/>
                        </a:rPr>
                        <a:t>man</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a:effectLst/>
                        </a:rPr>
                        <a:t>Jelentése: MANual</a:t>
                      </a:r>
                      <a:endParaRPr lang="en-GB" sz="1200">
                        <a:effectLst/>
                      </a:endParaRPr>
                    </a:p>
                    <a:p>
                      <a:pPr>
                        <a:lnSpc>
                          <a:spcPct val="107000"/>
                        </a:lnSpc>
                        <a:spcAft>
                          <a:spcPts val="0"/>
                        </a:spcAft>
                      </a:pPr>
                      <a:r>
                        <a:rPr lang="hu-HU" sz="1200">
                          <a:effectLst/>
                        </a:rPr>
                        <a:t>Művelet: adott parancshoz tartozó manuális oldal megjelenítése (-&gt; részletes leírást kapunk az adott parancsról)</a:t>
                      </a:r>
                      <a:endParaRPr lang="en-GB" sz="1200">
                        <a:effectLst/>
                      </a:endParaRPr>
                    </a:p>
                    <a:p>
                      <a:pPr>
                        <a:lnSpc>
                          <a:spcPct val="107000"/>
                        </a:lnSpc>
                        <a:spcAft>
                          <a:spcPts val="0"/>
                        </a:spcAft>
                      </a:pPr>
                      <a:r>
                        <a:rPr lang="hu-HU" sz="1200">
                          <a:effectLst/>
                        </a:rPr>
                        <a:t>Használata: man &lt;parancs&gt;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3345339787"/>
                  </a:ext>
                </a:extLst>
              </a:tr>
              <a:tr h="1147047">
                <a:tc>
                  <a:txBody>
                    <a:bodyPr/>
                    <a:lstStyle/>
                    <a:p>
                      <a:pPr>
                        <a:lnSpc>
                          <a:spcPct val="107000"/>
                        </a:lnSpc>
                        <a:spcAft>
                          <a:spcPts val="0"/>
                        </a:spcAft>
                      </a:pPr>
                      <a:r>
                        <a:rPr lang="hu-HU" sz="1200">
                          <a:effectLst/>
                        </a:rPr>
                        <a:t>echo</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dirty="0">
                          <a:effectLst/>
                        </a:rPr>
                        <a:t>Művelet: adatok kiíratása v. érték adás</a:t>
                      </a:r>
                      <a:endParaRPr lang="en-GB" sz="1200" dirty="0">
                        <a:effectLst/>
                      </a:endParaRPr>
                    </a:p>
                    <a:p>
                      <a:pPr>
                        <a:lnSpc>
                          <a:spcPct val="107000"/>
                        </a:lnSpc>
                        <a:spcAft>
                          <a:spcPts val="0"/>
                        </a:spcAft>
                      </a:pPr>
                      <a:r>
                        <a:rPr lang="hu-HU" sz="1200" dirty="0">
                          <a:effectLst/>
                        </a:rPr>
                        <a:t>Használata: </a:t>
                      </a:r>
                      <a:r>
                        <a:rPr lang="hu-HU" sz="1200" dirty="0" err="1">
                          <a:effectLst/>
                        </a:rPr>
                        <a:t>echo</a:t>
                      </a:r>
                      <a:r>
                        <a:rPr lang="hu-HU" sz="1200" dirty="0">
                          <a:effectLst/>
                        </a:rPr>
                        <a:t> ”szöveg”</a:t>
                      </a:r>
                      <a:endParaRPr lang="en-GB" sz="1200" dirty="0">
                        <a:effectLst/>
                      </a:endParaRPr>
                    </a:p>
                    <a:p>
                      <a:pPr>
                        <a:lnSpc>
                          <a:spcPct val="107000"/>
                        </a:lnSpc>
                        <a:spcAft>
                          <a:spcPts val="0"/>
                        </a:spcAft>
                      </a:pPr>
                      <a:r>
                        <a:rPr lang="hu-HU" sz="1200" dirty="0">
                          <a:effectLst/>
                        </a:rPr>
                        <a:t>Vagy</a:t>
                      </a:r>
                      <a:endParaRPr lang="en-GB" sz="1200" dirty="0">
                        <a:effectLst/>
                      </a:endParaRPr>
                    </a:p>
                    <a:p>
                      <a:pPr>
                        <a:lnSpc>
                          <a:spcPct val="107000"/>
                        </a:lnSpc>
                        <a:spcAft>
                          <a:spcPts val="0"/>
                        </a:spcAft>
                      </a:pPr>
                      <a:r>
                        <a:rPr lang="hu-HU" sz="1200" dirty="0" err="1">
                          <a:effectLst/>
                        </a:rPr>
                        <a:t>echo</a:t>
                      </a:r>
                      <a:r>
                        <a:rPr lang="hu-HU" sz="1200" dirty="0">
                          <a:effectLst/>
                        </a:rPr>
                        <a:t> ”szöveg”&gt; szia</a:t>
                      </a:r>
                      <a:endParaRPr lang="en-GB" sz="1200" dirty="0">
                        <a:effectLst/>
                      </a:endParaRPr>
                    </a:p>
                    <a:p>
                      <a:pPr>
                        <a:lnSpc>
                          <a:spcPct val="107000"/>
                        </a:lnSpc>
                        <a:spcAft>
                          <a:spcPts val="0"/>
                        </a:spcAft>
                      </a:pPr>
                      <a:r>
                        <a:rPr lang="hu-HU" sz="1200" dirty="0" err="1">
                          <a:effectLst/>
                        </a:rPr>
                        <a:t>cat</a:t>
                      </a:r>
                      <a:r>
                        <a:rPr lang="hu-HU" sz="1200" dirty="0">
                          <a:effectLst/>
                        </a:rPr>
                        <a:t> szia</a:t>
                      </a:r>
                      <a:endParaRPr lang="en-GB" sz="1200" dirty="0">
                        <a:effectLst/>
                      </a:endParaRPr>
                    </a:p>
                    <a:p>
                      <a:pPr>
                        <a:lnSpc>
                          <a:spcPct val="107000"/>
                        </a:lnSpc>
                        <a:spcAft>
                          <a:spcPts val="0"/>
                        </a:spcAft>
                      </a:pPr>
                      <a:r>
                        <a:rPr lang="hu-HU" sz="1200" dirty="0">
                          <a:effectLst/>
                        </a:rPr>
                        <a:t>(egy &lt;szia&gt; változó kap egy ”szöveg” értéket amit a </a:t>
                      </a:r>
                      <a:r>
                        <a:rPr lang="hu-HU" sz="1200" dirty="0" err="1">
                          <a:effectLst/>
                        </a:rPr>
                        <a:t>cat</a:t>
                      </a:r>
                      <a:r>
                        <a:rPr lang="hu-HU" sz="1200" dirty="0">
                          <a:effectLst/>
                        </a:rPr>
                        <a:t> paranccsal kitudunk </a:t>
                      </a:r>
                      <a:r>
                        <a:rPr lang="hu-HU" sz="1200" dirty="0" err="1">
                          <a:effectLst/>
                        </a:rPr>
                        <a:t>iratni</a:t>
                      </a:r>
                      <a:r>
                        <a:rPr lang="hu-HU" sz="1200" dirty="0">
                          <a:effectLst/>
                        </a:rPr>
                        <a:t>…stb.)</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3311999747"/>
                  </a:ext>
                </a:extLst>
              </a:tr>
              <a:tr h="569660">
                <a:tc>
                  <a:txBody>
                    <a:bodyPr/>
                    <a:lstStyle/>
                    <a:p>
                      <a:pPr>
                        <a:lnSpc>
                          <a:spcPct val="107000"/>
                        </a:lnSpc>
                        <a:spcAft>
                          <a:spcPts val="0"/>
                        </a:spcAft>
                      </a:pPr>
                      <a:r>
                        <a:rPr lang="hu-HU" sz="1200">
                          <a:effectLst/>
                        </a:rPr>
                        <a:t>zip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tc>
                  <a:txBody>
                    <a:bodyPr/>
                    <a:lstStyle/>
                    <a:p>
                      <a:pPr>
                        <a:lnSpc>
                          <a:spcPct val="107000"/>
                        </a:lnSpc>
                        <a:spcAft>
                          <a:spcPts val="0"/>
                        </a:spcAft>
                      </a:pPr>
                      <a:r>
                        <a:rPr lang="hu-HU" sz="1200" dirty="0">
                          <a:effectLst/>
                        </a:rPr>
                        <a:t>Jelentése: </a:t>
                      </a:r>
                      <a:r>
                        <a:rPr lang="en-GB" sz="1200" dirty="0">
                          <a:effectLst/>
                        </a:rPr>
                        <a:t>Zone Improvement Plan</a:t>
                      </a:r>
                    </a:p>
                    <a:p>
                      <a:pPr>
                        <a:lnSpc>
                          <a:spcPct val="107000"/>
                        </a:lnSpc>
                        <a:spcAft>
                          <a:spcPts val="0"/>
                        </a:spcAft>
                      </a:pPr>
                      <a:r>
                        <a:rPr lang="hu-HU" sz="1200" dirty="0">
                          <a:effectLst/>
                        </a:rPr>
                        <a:t>Művelet: fájlok becsomagolása </a:t>
                      </a:r>
                      <a:r>
                        <a:rPr lang="hu-HU" sz="1200" dirty="0" err="1">
                          <a:effectLst/>
                        </a:rPr>
                        <a:t>zip</a:t>
                      </a:r>
                      <a:r>
                        <a:rPr lang="hu-HU" sz="1200" dirty="0">
                          <a:effectLst/>
                        </a:rPr>
                        <a:t>-be</a:t>
                      </a:r>
                      <a:endParaRPr lang="en-GB" sz="1200" dirty="0">
                        <a:effectLst/>
                      </a:endParaRPr>
                    </a:p>
                    <a:p>
                      <a:pPr>
                        <a:lnSpc>
                          <a:spcPct val="107000"/>
                        </a:lnSpc>
                        <a:spcAft>
                          <a:spcPts val="0"/>
                        </a:spcAft>
                      </a:pPr>
                      <a:r>
                        <a:rPr lang="hu-HU" sz="1200" dirty="0">
                          <a:effectLst/>
                        </a:rPr>
                        <a:t>Használata: </a:t>
                      </a:r>
                      <a:r>
                        <a:rPr lang="hu-HU" sz="1200" dirty="0" err="1">
                          <a:effectLst/>
                        </a:rPr>
                        <a:t>zip</a:t>
                      </a:r>
                      <a:r>
                        <a:rPr lang="hu-HU" sz="1200" dirty="0">
                          <a:effectLst/>
                        </a:rPr>
                        <a:t> &lt;valami&gt;.</a:t>
                      </a:r>
                      <a:r>
                        <a:rPr lang="hu-HU" sz="1200" dirty="0" err="1">
                          <a:effectLst/>
                        </a:rPr>
                        <a:t>zip</a:t>
                      </a:r>
                      <a:r>
                        <a:rPr lang="hu-HU" sz="1200" dirty="0">
                          <a:effectLst/>
                        </a:rPr>
                        <a:t> &lt;</a:t>
                      </a:r>
                      <a:r>
                        <a:rPr lang="hu-HU" sz="1200" dirty="0" err="1">
                          <a:effectLst/>
                        </a:rPr>
                        <a:t>fájl_amit_a_zipbe_szeretnénk_tenni</a:t>
                      </a:r>
                      <a:r>
                        <a:rPr lang="hu-HU" sz="1200" dirty="0">
                          <a:effectLst/>
                        </a:rPr>
                        <a:t>&gt;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106" marR="44106" marT="0" marB="0"/>
                </a:tc>
                <a:extLst>
                  <a:ext uri="{0D108BD9-81ED-4DB2-BD59-A6C34878D82A}">
                    <a16:rowId xmlns:a16="http://schemas.microsoft.com/office/drawing/2014/main" val="2308756079"/>
                  </a:ext>
                </a:extLst>
              </a:tr>
            </a:tbl>
          </a:graphicData>
        </a:graphic>
      </p:graphicFrame>
    </p:spTree>
    <p:extLst>
      <p:ext uri="{BB962C8B-B14F-4D97-AF65-F5344CB8AC3E}">
        <p14:creationId xmlns:p14="http://schemas.microsoft.com/office/powerpoint/2010/main" val="21792044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91667E-6 -7.40741E-7 L -0.87057 0.11482 " pathEditMode="relative" rAng="0" ptsTypes="AA">
                                      <p:cBhvr>
                                        <p:cTn id="6" dur="2000" fill="hold"/>
                                        <p:tgtEl>
                                          <p:spTgt spid="3"/>
                                        </p:tgtEl>
                                        <p:attrNameLst>
                                          <p:attrName>ppt_x</p:attrName>
                                          <p:attrName>ppt_y</p:attrName>
                                        </p:attrNameLst>
                                      </p:cBhvr>
                                      <p:rCtr x="-43529" y="5741"/>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87057 0.11482 L -3.125E-6 -1.48148E-6 " pathEditMode="relative" rAng="0" ptsTypes="AA">
                                      <p:cBhvr>
                                        <p:cTn id="10" dur="2000" fill="hold"/>
                                        <p:tgtEl>
                                          <p:spTgt spid="3"/>
                                        </p:tgtEl>
                                        <p:attrNameLst>
                                          <p:attrName>ppt_x</p:attrName>
                                          <p:attrName>ppt_y</p:attrName>
                                        </p:attrNameLst>
                                      </p:cBhvr>
                                      <p:rCtr x="43529" y="-5903"/>
                                    </p:animMotion>
                                  </p:childTnLst>
                                </p:cTn>
                              </p:par>
                              <p:par>
                                <p:cTn id="11" presetID="35" presetClass="path" presetSubtype="0" accel="50000" decel="50000" fill="hold" nodeType="withEffect">
                                  <p:stCondLst>
                                    <p:cond delay="0"/>
                                  </p:stCondLst>
                                  <p:childTnLst>
                                    <p:animMotion origin="layout" path="M -1.04167E-6 -7.40741E-7 L -0.98815 -0.76644 " pathEditMode="relative" rAng="0" ptsTypes="AA">
                                      <p:cBhvr>
                                        <p:cTn id="12" dur="2000" fill="hold"/>
                                        <p:tgtEl>
                                          <p:spTgt spid="4"/>
                                        </p:tgtEl>
                                        <p:attrNameLst>
                                          <p:attrName>ppt_x</p:attrName>
                                          <p:attrName>ppt_y</p:attrName>
                                        </p:attrNameLst>
                                      </p:cBhvr>
                                      <p:rCtr x="-49414" y="-38519"/>
                                    </p:animMotion>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0.98815 -0.76643 L -2.70833E-6 4.81481E-6 " pathEditMode="relative" rAng="0" ptsTypes="AA">
                                      <p:cBhvr>
                                        <p:cTn id="16" dur="2000" fill="hold"/>
                                        <p:tgtEl>
                                          <p:spTgt spid="4"/>
                                        </p:tgtEl>
                                        <p:attrNameLst>
                                          <p:attrName>ppt_x</p:attrName>
                                          <p:attrName>ppt_y</p:attrName>
                                        </p:attrNameLst>
                                      </p:cBhvr>
                                      <p:rCtr x="49453" y="38356"/>
                                    </p:animMotion>
                                  </p:childTnLst>
                                </p:cTn>
                              </p:par>
                              <p:par>
                                <p:cTn id="17" presetID="64" presetClass="path" presetSubtype="0" accel="50000" decel="50000" fill="hold" nodeType="withEffect">
                                  <p:stCondLst>
                                    <p:cond delay="0"/>
                                  </p:stCondLst>
                                  <p:childTnLst>
                                    <p:animMotion origin="layout" path="M 1.875E-6 -1.11111E-6 L -0.09883 -0.96805 " pathEditMode="relative" rAng="0" ptsTypes="AA">
                                      <p:cBhvr>
                                        <p:cTn id="18" dur="2000" fill="hold"/>
                                        <p:tgtEl>
                                          <p:spTgt spid="6"/>
                                        </p:tgtEl>
                                        <p:attrNameLst>
                                          <p:attrName>ppt_x</p:attrName>
                                          <p:attrName>ppt_y</p:attrName>
                                        </p:attrNameLst>
                                      </p:cBhvr>
                                      <p:rCtr x="-4948" y="-48310"/>
                                    </p:animMotion>
                                  </p:childTnLst>
                                </p:cTn>
                              </p:par>
                            </p:childTnLst>
                          </p:cTn>
                        </p:par>
                      </p:childTnLst>
                    </p:cTn>
                  </p:par>
                  <p:par>
                    <p:cTn id="19" fill="hold">
                      <p:stCondLst>
                        <p:cond delay="indefinite"/>
                      </p:stCondLst>
                      <p:childTnLst>
                        <p:par>
                          <p:cTn id="20" fill="hold">
                            <p:stCondLst>
                              <p:cond delay="0"/>
                            </p:stCondLst>
                            <p:childTnLst>
                              <p:par>
                                <p:cTn id="21" presetID="64" presetClass="path" presetSubtype="0" accel="50000" decel="50000" fill="hold" nodeType="clickEffect">
                                  <p:stCondLst>
                                    <p:cond delay="0"/>
                                  </p:stCondLst>
                                  <p:childTnLst>
                                    <p:animMotion origin="layout" path="M -0.09883 -0.96805 L -4.79167E-6 -1.11111E-6 " pathEditMode="relative" rAng="0" ptsTypes="AA">
                                      <p:cBhvr>
                                        <p:cTn id="22" dur="2000" fill="hold"/>
                                        <p:tgtEl>
                                          <p:spTgt spid="6"/>
                                        </p:tgtEl>
                                        <p:attrNameLst>
                                          <p:attrName>ppt_x</p:attrName>
                                          <p:attrName>ppt_y</p:attrName>
                                        </p:attrNameLst>
                                      </p:cBhvr>
                                      <p:rCtr x="4831" y="48403"/>
                                    </p:animMotion>
                                  </p:childTnLst>
                                </p:cTn>
                              </p:par>
                              <p:par>
                                <p:cTn id="23" presetID="64" presetClass="path" presetSubtype="0" accel="50000" decel="50000" fill="hold" nodeType="withEffect">
                                  <p:stCondLst>
                                    <p:cond delay="0"/>
                                  </p:stCondLst>
                                  <p:childTnLst>
                                    <p:animMotion origin="layout" path="M 2.70833E-6 4.44444E-6 L 0.33294 -1 " pathEditMode="relative" rAng="0" ptsTypes="AA">
                                      <p:cBhvr>
                                        <p:cTn id="24" dur="2000" fill="hold"/>
                                        <p:tgtEl>
                                          <p:spTgt spid="7"/>
                                        </p:tgtEl>
                                        <p:attrNameLst>
                                          <p:attrName>ppt_x</p:attrName>
                                          <p:attrName>ppt_y</p:attrName>
                                        </p:attrNameLst>
                                      </p:cBhvr>
                                      <p:rCtr x="16641" y="-50116"/>
                                    </p:animMotion>
                                  </p:childTnLst>
                                </p:cTn>
                              </p:par>
                            </p:childTnLst>
                          </p:cTn>
                        </p:par>
                      </p:childTnLst>
                    </p:cTn>
                  </p:par>
                  <p:par>
                    <p:cTn id="25" fill="hold">
                      <p:stCondLst>
                        <p:cond delay="indefinite"/>
                      </p:stCondLst>
                      <p:childTnLst>
                        <p:par>
                          <p:cTn id="26" fill="hold">
                            <p:stCondLst>
                              <p:cond delay="0"/>
                            </p:stCondLst>
                            <p:childTnLst>
                              <p:par>
                                <p:cTn id="27" presetID="64" presetClass="path" presetSubtype="0" accel="50000" decel="50000" fill="hold" nodeType="clickEffect">
                                  <p:stCondLst>
                                    <p:cond delay="0"/>
                                  </p:stCondLst>
                                  <p:childTnLst>
                                    <p:animMotion origin="layout" path="M 0.33294 -1 L 2.70833E-6 -1.48148E-6 " pathEditMode="relative" rAng="0" ptsTypes="AA">
                                      <p:cBhvr>
                                        <p:cTn id="28" dur="2000" fill="hold"/>
                                        <p:tgtEl>
                                          <p:spTgt spid="7"/>
                                        </p:tgtEl>
                                        <p:attrNameLst>
                                          <p:attrName>ppt_x</p:attrName>
                                          <p:attrName>ppt_y</p:attrName>
                                        </p:attrNameLst>
                                      </p:cBhvr>
                                      <p:rCtr x="-16654" y="50046"/>
                                    </p:animMotion>
                                  </p:childTnLst>
                                </p:cTn>
                              </p:par>
                              <p:par>
                                <p:cTn id="29" presetID="63" presetClass="path" presetSubtype="0" accel="50000" decel="50000" fill="hold" nodeType="withEffect">
                                  <p:stCondLst>
                                    <p:cond delay="0"/>
                                  </p:stCondLst>
                                  <p:childTnLst>
                                    <p:animMotion origin="layout" path="M -3.54167E-6 1.48148E-6 L 0.88529 -0.56921 " pathEditMode="relative" rAng="0" ptsTypes="AA">
                                      <p:cBhvr>
                                        <p:cTn id="30" dur="2000" fill="hold"/>
                                        <p:tgtEl>
                                          <p:spTgt spid="8"/>
                                        </p:tgtEl>
                                        <p:attrNameLst>
                                          <p:attrName>ppt_x</p:attrName>
                                          <p:attrName>ppt_y</p:attrName>
                                        </p:attrNameLst>
                                      </p:cBhvr>
                                      <p:rCtr x="44258" y="-2838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6" name="Szövegdoboz 5">
            <a:extLst>
              <a:ext uri="{FF2B5EF4-FFF2-40B4-BE49-F238E27FC236}">
                <a16:creationId xmlns:a16="http://schemas.microsoft.com/office/drawing/2014/main" id="{FF850D77-5B2B-4EB5-8BDF-88305B78F575}"/>
              </a:ext>
            </a:extLst>
          </p:cNvPr>
          <p:cNvSpPr txBox="1"/>
          <p:nvPr/>
        </p:nvSpPr>
        <p:spPr>
          <a:xfrm>
            <a:off x="528918" y="430306"/>
            <a:ext cx="2456329" cy="369332"/>
          </a:xfrm>
          <a:prstGeom prst="rect">
            <a:avLst/>
          </a:prstGeom>
          <a:noFill/>
        </p:spPr>
        <p:txBody>
          <a:bodyPr wrap="square" rtlCol="0">
            <a:spAutoFit/>
          </a:bodyPr>
          <a:lstStyle/>
          <a:p>
            <a:r>
              <a:rPr lang="hu-HU" dirty="0"/>
              <a:t>Operátorok:</a:t>
            </a:r>
            <a:endParaRPr lang="en-GB" dirty="0"/>
          </a:p>
        </p:txBody>
      </p:sp>
      <p:graphicFrame>
        <p:nvGraphicFramePr>
          <p:cNvPr id="7" name="Táblázat 6">
            <a:extLst>
              <a:ext uri="{FF2B5EF4-FFF2-40B4-BE49-F238E27FC236}">
                <a16:creationId xmlns:a16="http://schemas.microsoft.com/office/drawing/2014/main" id="{68D2523A-1BF8-4F29-A76E-E475CED3EB0C}"/>
              </a:ext>
            </a:extLst>
          </p:cNvPr>
          <p:cNvGraphicFramePr>
            <a:graphicFrameLocks noGrp="1"/>
          </p:cNvGraphicFramePr>
          <p:nvPr>
            <p:extLst>
              <p:ext uri="{D42A27DB-BD31-4B8C-83A1-F6EECF244321}">
                <p14:modId xmlns:p14="http://schemas.microsoft.com/office/powerpoint/2010/main" val="3721023561"/>
              </p:ext>
            </p:extLst>
          </p:nvPr>
        </p:nvGraphicFramePr>
        <p:xfrm>
          <a:off x="1443317" y="799638"/>
          <a:ext cx="9305366" cy="5817321"/>
        </p:xfrm>
        <a:graphic>
          <a:graphicData uri="http://schemas.openxmlformats.org/drawingml/2006/table">
            <a:tbl>
              <a:tblPr firstCol="1" bandRow="1">
                <a:tableStyleId>{073A0DAA-6AF3-43AB-8588-CEC1D06C72B9}</a:tableStyleId>
              </a:tblPr>
              <a:tblGrid>
                <a:gridCol w="4652683">
                  <a:extLst>
                    <a:ext uri="{9D8B030D-6E8A-4147-A177-3AD203B41FA5}">
                      <a16:colId xmlns:a16="http://schemas.microsoft.com/office/drawing/2014/main" val="1640938108"/>
                    </a:ext>
                  </a:extLst>
                </a:gridCol>
                <a:gridCol w="4652683">
                  <a:extLst>
                    <a:ext uri="{9D8B030D-6E8A-4147-A177-3AD203B41FA5}">
                      <a16:colId xmlns:a16="http://schemas.microsoft.com/office/drawing/2014/main" val="3823032423"/>
                    </a:ext>
                  </a:extLst>
                </a:gridCol>
              </a:tblGrid>
              <a:tr h="683279">
                <a:tc>
                  <a:txBody>
                    <a:bodyPr/>
                    <a:lstStyle/>
                    <a:p>
                      <a:pPr>
                        <a:lnSpc>
                          <a:spcPct val="107000"/>
                        </a:lnSpc>
                        <a:spcAft>
                          <a:spcPts val="0"/>
                        </a:spcAft>
                      </a:pPr>
                      <a:r>
                        <a:rPr lang="hu-HU" sz="1200" dirty="0">
                          <a:effectLst/>
                        </a:rPr>
                        <a:t>&amp;&amp;</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dirty="0">
                          <a:effectLst/>
                        </a:rPr>
                        <a:t>Jelentése: és (and)</a:t>
                      </a:r>
                      <a:endParaRPr lang="en-GB" sz="1200" dirty="0">
                        <a:effectLst/>
                      </a:endParaRPr>
                    </a:p>
                    <a:p>
                      <a:pPr>
                        <a:lnSpc>
                          <a:spcPct val="107000"/>
                        </a:lnSpc>
                        <a:spcAft>
                          <a:spcPts val="0"/>
                        </a:spcAft>
                      </a:pPr>
                      <a:r>
                        <a:rPr lang="hu-HU" sz="1200" dirty="0">
                          <a:effectLst/>
                        </a:rPr>
                        <a:t>Művelet: több parancsot tudunk lefuttatni egymás után AMENNYIBEN AZ ELŐZŐ PARANCS SIKERESEN VÉGBE MENT</a:t>
                      </a:r>
                      <a:endParaRPr lang="en-GB" sz="1200" dirty="0">
                        <a:effectLst/>
                      </a:endParaRPr>
                    </a:p>
                    <a:p>
                      <a:pPr>
                        <a:lnSpc>
                          <a:spcPct val="107000"/>
                        </a:lnSpc>
                        <a:spcAft>
                          <a:spcPts val="0"/>
                        </a:spcAft>
                      </a:pPr>
                      <a:r>
                        <a:rPr lang="hu-HU" sz="1200" dirty="0">
                          <a:effectLst/>
                        </a:rPr>
                        <a:t>(pl.: </a:t>
                      </a:r>
                      <a:r>
                        <a:rPr lang="hu-HU" sz="1200" dirty="0" err="1">
                          <a:effectLst/>
                        </a:rPr>
                        <a:t>sudo</a:t>
                      </a:r>
                      <a:r>
                        <a:rPr lang="hu-HU" sz="1200" dirty="0">
                          <a:effectLst/>
                        </a:rPr>
                        <a:t> </a:t>
                      </a:r>
                      <a:r>
                        <a:rPr lang="hu-HU" sz="1200" dirty="0" err="1">
                          <a:effectLst/>
                        </a:rPr>
                        <a:t>apt-get</a:t>
                      </a:r>
                      <a:r>
                        <a:rPr lang="hu-HU" sz="1200" dirty="0">
                          <a:effectLst/>
                        </a:rPr>
                        <a:t> update &amp;&amp; </a:t>
                      </a:r>
                      <a:r>
                        <a:rPr lang="hu-HU" sz="1200" dirty="0" err="1">
                          <a:effectLst/>
                        </a:rPr>
                        <a:t>sudo</a:t>
                      </a:r>
                      <a:r>
                        <a:rPr lang="hu-HU" sz="1200" dirty="0">
                          <a:effectLst/>
                        </a:rPr>
                        <a:t> </a:t>
                      </a:r>
                      <a:r>
                        <a:rPr lang="hu-HU" sz="1200" dirty="0" err="1">
                          <a:effectLst/>
                        </a:rPr>
                        <a:t>apt-get</a:t>
                      </a:r>
                      <a:r>
                        <a:rPr lang="hu-HU" sz="1200" dirty="0">
                          <a:effectLst/>
                        </a:rPr>
                        <a:t> </a:t>
                      </a:r>
                      <a:r>
                        <a:rPr lang="hu-HU" sz="1200" dirty="0" err="1">
                          <a:effectLst/>
                        </a:rPr>
                        <a:t>install</a:t>
                      </a:r>
                      <a:r>
                        <a:rPr lang="hu-HU" sz="1200" dirty="0">
                          <a:effectLst/>
                        </a:rPr>
                        <a:t> -y)</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2172837730"/>
                  </a:ext>
                </a:extLst>
              </a:tr>
              <a:tr h="585048">
                <a:tc>
                  <a:txBody>
                    <a:bodyPr/>
                    <a:lstStyle/>
                    <a:p>
                      <a:pPr>
                        <a:lnSpc>
                          <a:spcPct val="107000"/>
                        </a:lnSpc>
                        <a:spcAft>
                          <a:spcPts val="0"/>
                        </a:spcAft>
                      </a:pPr>
                      <a:r>
                        <a:rPr lang="hu-HU" sz="1200">
                          <a:effectLst/>
                        </a:rPr>
                        <a:t>&amp;</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a:effectLst/>
                        </a:rPr>
                        <a:t>Jelentése: és (and)</a:t>
                      </a:r>
                      <a:endParaRPr lang="en-GB" sz="1200">
                        <a:effectLst/>
                      </a:endParaRPr>
                    </a:p>
                    <a:p>
                      <a:pPr>
                        <a:lnSpc>
                          <a:spcPct val="107000"/>
                        </a:lnSpc>
                        <a:spcAft>
                          <a:spcPts val="0"/>
                        </a:spcAft>
                      </a:pPr>
                      <a:r>
                        <a:rPr lang="hu-HU" sz="1200">
                          <a:effectLst/>
                        </a:rPr>
                        <a:t>Művelet: egy terminálban egyszerre tudunk több parancsot futtatni (nem ugyan az mint a &amp;&amp;)</a:t>
                      </a:r>
                      <a:endParaRPr lang="en-GB" sz="1200">
                        <a:effectLst/>
                      </a:endParaRPr>
                    </a:p>
                    <a:p>
                      <a:pPr>
                        <a:lnSpc>
                          <a:spcPct val="107000"/>
                        </a:lnSpc>
                        <a:spcAft>
                          <a:spcPts val="0"/>
                        </a:spcAft>
                      </a:pPr>
                      <a:r>
                        <a:rPr lang="hu-HU" sz="1200">
                          <a:effectLst/>
                        </a:rPr>
                        <a:t>((pl.: sudo apt-get update &amp; sudo apt-get install -y))</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192475191"/>
                  </a:ext>
                </a:extLst>
              </a:tr>
              <a:tr h="585048">
                <a:tc>
                  <a:txBody>
                    <a:bodyPr/>
                    <a:lstStyle/>
                    <a:p>
                      <a:pPr>
                        <a:lnSpc>
                          <a:spcPct val="107000"/>
                        </a:lnSpc>
                        <a:spcAft>
                          <a:spcPts val="0"/>
                        </a:spcAft>
                      </a:pPr>
                      <a:r>
                        <a:rPr lang="hu-HU" sz="1200">
                          <a:effectLst/>
                        </a:rPr>
                        <a: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a:effectLst/>
                        </a:rPr>
                        <a:t>Jelentése: környezeti változó (environment var)</a:t>
                      </a:r>
                      <a:endParaRPr lang="en-GB" sz="1200">
                        <a:effectLst/>
                      </a:endParaRPr>
                    </a:p>
                    <a:p>
                      <a:pPr>
                        <a:lnSpc>
                          <a:spcPct val="107000"/>
                        </a:lnSpc>
                        <a:spcAft>
                          <a:spcPts val="0"/>
                        </a:spcAft>
                      </a:pPr>
                      <a:r>
                        <a:rPr lang="hu-HU" sz="1200">
                          <a:effectLst/>
                        </a:rPr>
                        <a:t>Művelet: saját/meglévő változókkal tudunk műveleteket végezni </a:t>
                      </a:r>
                      <a:endParaRPr lang="en-GB" sz="1200">
                        <a:effectLst/>
                      </a:endParaRPr>
                    </a:p>
                    <a:p>
                      <a:pPr>
                        <a:lnSpc>
                          <a:spcPct val="107000"/>
                        </a:lnSpc>
                        <a:spcAft>
                          <a:spcPts val="0"/>
                        </a:spcAft>
                      </a:pPr>
                      <a:r>
                        <a:rPr lang="hu-HU" sz="1200">
                          <a:effectLst/>
                        </a:rPr>
                        <a:t>(pl.: echo $USER (ekkor megkapjuk a felhasználó nevét))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78155399"/>
                  </a:ext>
                </a:extLst>
              </a:tr>
              <a:tr h="1076200">
                <a:tc>
                  <a:txBody>
                    <a:bodyPr/>
                    <a:lstStyle/>
                    <a:p>
                      <a:pPr>
                        <a:lnSpc>
                          <a:spcPct val="107000"/>
                        </a:lnSpc>
                        <a:spcAft>
                          <a:spcPts val="0"/>
                        </a:spcAft>
                      </a:pPr>
                      <a:r>
                        <a:rPr lang="hu-HU" sz="1200">
                          <a:effectLst/>
                        </a:rPr>
                        <a: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dirty="0">
                          <a:effectLst/>
                        </a:rPr>
                        <a:t>Jelentése: </a:t>
                      </a:r>
                      <a:r>
                        <a:rPr lang="hu-HU" sz="1200" dirty="0" err="1">
                          <a:effectLst/>
                        </a:rPr>
                        <a:t>pipeline</a:t>
                      </a:r>
                      <a:endParaRPr lang="en-GB" sz="1200" dirty="0">
                        <a:effectLst/>
                      </a:endParaRPr>
                    </a:p>
                    <a:p>
                      <a:pPr>
                        <a:lnSpc>
                          <a:spcPct val="107000"/>
                        </a:lnSpc>
                        <a:spcAft>
                          <a:spcPts val="0"/>
                        </a:spcAft>
                      </a:pPr>
                      <a:r>
                        <a:rPr lang="hu-HU" sz="1200" dirty="0">
                          <a:effectLst/>
                        </a:rPr>
                        <a:t>Művelet: értéket ad át egy másik parancsnak</a:t>
                      </a:r>
                      <a:endParaRPr lang="en-GB" sz="1200" dirty="0">
                        <a:effectLst/>
                      </a:endParaRPr>
                    </a:p>
                    <a:p>
                      <a:pPr>
                        <a:lnSpc>
                          <a:spcPct val="107000"/>
                        </a:lnSpc>
                        <a:spcAft>
                          <a:spcPts val="0"/>
                        </a:spcAft>
                      </a:pPr>
                      <a:r>
                        <a:rPr lang="hu-HU" sz="1200" dirty="0">
                          <a:effectLst/>
                        </a:rPr>
                        <a:t>(pl.: </a:t>
                      </a:r>
                      <a:r>
                        <a:rPr lang="hu-HU" sz="1200" dirty="0" err="1">
                          <a:effectLst/>
                        </a:rPr>
                        <a:t>ifconfig</a:t>
                      </a:r>
                      <a:r>
                        <a:rPr lang="hu-HU" sz="1200" dirty="0">
                          <a:effectLst/>
                        </a:rPr>
                        <a:t> wlan0 | </a:t>
                      </a:r>
                      <a:r>
                        <a:rPr lang="hu-HU" sz="1200" dirty="0" err="1">
                          <a:effectLst/>
                        </a:rPr>
                        <a:t>grep</a:t>
                      </a:r>
                      <a:r>
                        <a:rPr lang="hu-HU" sz="1200" dirty="0">
                          <a:effectLst/>
                        </a:rPr>
                        <a:t> -i ’</a:t>
                      </a:r>
                      <a:r>
                        <a:rPr lang="hu-HU" sz="1200" dirty="0" err="1">
                          <a:effectLst/>
                        </a:rPr>
                        <a:t>ether</a:t>
                      </a:r>
                      <a:r>
                        <a:rPr lang="hu-HU" sz="1200" dirty="0">
                          <a:effectLst/>
                        </a:rPr>
                        <a:t>’ (csak a wlan0 MAC címét fogja kiírni a terminál))</a:t>
                      </a:r>
                      <a:endParaRPr lang="en-GB" sz="1200" dirty="0">
                        <a:effectLst/>
                      </a:endParaRPr>
                    </a:p>
                    <a:p>
                      <a:pPr>
                        <a:lnSpc>
                          <a:spcPct val="107000"/>
                        </a:lnSpc>
                        <a:spcAft>
                          <a:spcPts val="0"/>
                        </a:spcAft>
                      </a:pPr>
                      <a:r>
                        <a:rPr lang="hu-HU" sz="1200" dirty="0">
                          <a:effectLst/>
                        </a:rPr>
                        <a:t>(gyakorlatban az történik, hogy kiíródik a wlan0 specifikációi, de a </a:t>
                      </a:r>
                      <a:r>
                        <a:rPr lang="hu-HU" sz="1200" dirty="0" err="1">
                          <a:effectLst/>
                        </a:rPr>
                        <a:t>pipeline</a:t>
                      </a:r>
                      <a:r>
                        <a:rPr lang="hu-HU" sz="1200" dirty="0">
                          <a:effectLst/>
                        </a:rPr>
                        <a:t> ezt az értéket átadja a </a:t>
                      </a:r>
                      <a:r>
                        <a:rPr lang="hu-HU" sz="1200" dirty="0" err="1">
                          <a:effectLst/>
                        </a:rPr>
                        <a:t>grep</a:t>
                      </a:r>
                      <a:r>
                        <a:rPr lang="hu-HU" sz="1200" dirty="0">
                          <a:effectLst/>
                        </a:rPr>
                        <a:t> parancsnak, aminek azt mondtuk, hogy az </a:t>
                      </a:r>
                      <a:r>
                        <a:rPr lang="hu-HU" sz="1200" dirty="0" err="1">
                          <a:effectLst/>
                        </a:rPr>
                        <a:t>ether</a:t>
                      </a:r>
                      <a:r>
                        <a:rPr lang="hu-HU" sz="1200" dirty="0">
                          <a:effectLst/>
                        </a:rPr>
                        <a:t> (MAC cím) részt írja ki)</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977311492"/>
                  </a:ext>
                </a:extLst>
              </a:tr>
              <a:tr h="486818">
                <a:tc>
                  <a:txBody>
                    <a:bodyPr/>
                    <a:lstStyle/>
                    <a:p>
                      <a:pPr>
                        <a:lnSpc>
                          <a:spcPct val="107000"/>
                        </a:lnSpc>
                        <a:spcAft>
                          <a:spcPts val="0"/>
                        </a:spcAft>
                      </a:pPr>
                      <a:r>
                        <a:rPr lang="hu-HU" sz="1200">
                          <a:effectLst/>
                        </a:rPr>
                        <a: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a:effectLst/>
                        </a:rPr>
                        <a:t>Jelentése: és (and)</a:t>
                      </a:r>
                      <a:endParaRPr lang="en-GB" sz="1200">
                        <a:effectLst/>
                      </a:endParaRPr>
                    </a:p>
                    <a:p>
                      <a:pPr>
                        <a:lnSpc>
                          <a:spcPct val="107000"/>
                        </a:lnSpc>
                        <a:spcAft>
                          <a:spcPts val="0"/>
                        </a:spcAft>
                      </a:pPr>
                      <a:r>
                        <a:rPr lang="hu-HU" sz="1200">
                          <a:effectLst/>
                        </a:rPr>
                        <a:t>Művelet: több parancsot tudunk lefuttatni egymás után és itt NEM SZÜKSÉGES, HOGY SIKERES LEGYEN AZ ELŐZŐ PARANCS !</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133509325"/>
                  </a:ext>
                </a:extLst>
              </a:tr>
              <a:tr h="781509">
                <a:tc>
                  <a:txBody>
                    <a:bodyPr/>
                    <a:lstStyle/>
                    <a:p>
                      <a:pPr>
                        <a:lnSpc>
                          <a:spcPct val="107000"/>
                        </a:lnSpc>
                        <a:spcAft>
                          <a:spcPts val="0"/>
                        </a:spcAft>
                      </a:pPr>
                      <a:r>
                        <a:rPr lang="hu-HU" sz="1200">
                          <a:effectLst/>
                        </a:rPr>
                        <a:t>&gt; </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a:effectLst/>
                        </a:rPr>
                        <a:t>Jelentése: bele/ba/be (into)</a:t>
                      </a:r>
                      <a:endParaRPr lang="en-GB" sz="1200">
                        <a:effectLst/>
                      </a:endParaRPr>
                    </a:p>
                    <a:p>
                      <a:pPr>
                        <a:lnSpc>
                          <a:spcPct val="107000"/>
                        </a:lnSpc>
                        <a:spcAft>
                          <a:spcPts val="0"/>
                        </a:spcAft>
                      </a:pPr>
                      <a:r>
                        <a:rPr lang="hu-HU" sz="1200">
                          <a:effectLst/>
                        </a:rPr>
                        <a:t>Művelet: 1 értéket ad meg egy adott dolognak, pl. fájlnak és amennyiben beírjuk ugyan ezt a parancsot másik értékkel, de ugyan ezt a fájlt használva, akkor az előzőleg bevitt adat törlődni fog.</a:t>
                      </a:r>
                      <a:endParaRPr lang="en-GB" sz="1200">
                        <a:effectLst/>
                      </a:endParaRPr>
                    </a:p>
                    <a:p>
                      <a:pPr>
                        <a:lnSpc>
                          <a:spcPct val="107000"/>
                        </a:lnSpc>
                        <a:spcAft>
                          <a:spcPts val="0"/>
                        </a:spcAft>
                      </a:pPr>
                      <a:r>
                        <a:rPr lang="hu-HU" sz="1200">
                          <a:effectLst/>
                        </a:rPr>
                        <a:t>(pl.: echo ”szöveg”&gt; fájl.txt)</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3095379073"/>
                  </a:ext>
                </a:extLst>
              </a:tr>
              <a:tr h="486818">
                <a:tc>
                  <a:txBody>
                    <a:bodyPr/>
                    <a:lstStyle/>
                    <a:p>
                      <a:pPr>
                        <a:lnSpc>
                          <a:spcPct val="107000"/>
                        </a:lnSpc>
                        <a:spcAft>
                          <a:spcPts val="0"/>
                        </a:spcAft>
                      </a:pPr>
                      <a:r>
                        <a:rPr lang="hu-HU" sz="1200">
                          <a:effectLst/>
                        </a:rPr>
                        <a:t>&gt;&gt; </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tc>
                  <a:txBody>
                    <a:bodyPr/>
                    <a:lstStyle/>
                    <a:p>
                      <a:pPr>
                        <a:lnSpc>
                          <a:spcPct val="107000"/>
                        </a:lnSpc>
                        <a:spcAft>
                          <a:spcPts val="0"/>
                        </a:spcAft>
                      </a:pPr>
                      <a:r>
                        <a:rPr lang="hu-HU" sz="1200" dirty="0">
                          <a:effectLst/>
                        </a:rPr>
                        <a:t>Jelentése: bele/</a:t>
                      </a:r>
                      <a:r>
                        <a:rPr lang="hu-HU" sz="1200" dirty="0" err="1">
                          <a:effectLst/>
                        </a:rPr>
                        <a:t>ba</a:t>
                      </a:r>
                      <a:r>
                        <a:rPr lang="hu-HU" sz="1200" dirty="0">
                          <a:effectLst/>
                        </a:rPr>
                        <a:t>/be (</a:t>
                      </a:r>
                      <a:r>
                        <a:rPr lang="hu-HU" sz="1200" dirty="0" err="1">
                          <a:effectLst/>
                        </a:rPr>
                        <a:t>into</a:t>
                      </a:r>
                      <a:r>
                        <a:rPr lang="hu-HU" sz="1200" dirty="0">
                          <a:effectLst/>
                        </a:rPr>
                        <a:t>)</a:t>
                      </a:r>
                      <a:endParaRPr lang="en-GB" sz="1200" dirty="0">
                        <a:effectLst/>
                      </a:endParaRPr>
                    </a:p>
                    <a:p>
                      <a:pPr>
                        <a:lnSpc>
                          <a:spcPct val="107000"/>
                        </a:lnSpc>
                        <a:spcAft>
                          <a:spcPts val="0"/>
                        </a:spcAft>
                      </a:pPr>
                      <a:r>
                        <a:rPr lang="hu-HU" sz="1200" dirty="0">
                          <a:effectLst/>
                        </a:rPr>
                        <a:t>Művelet: lényegében ugyan azt tudja mint a &gt;, annyi különbséggel, hogy ez nem törli az előzőleg bevitt adatott, hanem mellé(alá) rakja/adja/teszi :)</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2017" marR="32017" marT="0" marB="0"/>
                </a:tc>
                <a:extLst>
                  <a:ext uri="{0D108BD9-81ED-4DB2-BD59-A6C34878D82A}">
                    <a16:rowId xmlns:a16="http://schemas.microsoft.com/office/drawing/2014/main" val="2549743055"/>
                  </a:ext>
                </a:extLst>
              </a:tr>
            </a:tbl>
          </a:graphicData>
        </a:graphic>
      </p:graphicFrame>
    </p:spTree>
    <p:extLst>
      <p:ext uri="{BB962C8B-B14F-4D97-AF65-F5344CB8AC3E}">
        <p14:creationId xmlns:p14="http://schemas.microsoft.com/office/powerpoint/2010/main" val="29861351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Szövegdoboz 1">
            <a:extLst>
              <a:ext uri="{FF2B5EF4-FFF2-40B4-BE49-F238E27FC236}">
                <a16:creationId xmlns:a16="http://schemas.microsoft.com/office/drawing/2014/main" id="{8B201347-245F-4D48-9C36-053FA16288A6}"/>
              </a:ext>
            </a:extLst>
          </p:cNvPr>
          <p:cNvSpPr txBox="1"/>
          <p:nvPr/>
        </p:nvSpPr>
        <p:spPr>
          <a:xfrm>
            <a:off x="2200835" y="952027"/>
            <a:ext cx="7790329" cy="1200329"/>
          </a:xfrm>
          <a:prstGeom prst="rect">
            <a:avLst/>
          </a:prstGeom>
          <a:noFill/>
        </p:spPr>
        <p:txBody>
          <a:bodyPr wrap="square" rtlCol="0">
            <a:spAutoFit/>
          </a:bodyPr>
          <a:lstStyle/>
          <a:p>
            <a:pPr algn="just"/>
            <a:r>
              <a:rPr lang="hu-HU" dirty="0"/>
              <a:t>A terminált többféle módon is megtudjuk nyitni, megkereshetjük az alkalmazások között vagy akár a </a:t>
            </a:r>
            <a:r>
              <a:rPr lang="hu-HU" dirty="0" err="1"/>
              <a:t>ctrl+alt+t</a:t>
            </a:r>
            <a:r>
              <a:rPr lang="hu-HU" dirty="0"/>
              <a:t> billentyű kombinációt is használhatjuk, ha ez sikeresen végbe ment és megnyílt, akkor valami ehhez hasonlót kell látnunk:</a:t>
            </a:r>
            <a:endParaRPr lang="en-GB" dirty="0"/>
          </a:p>
          <a:p>
            <a:pPr algn="just"/>
            <a:endParaRPr lang="en-GB" dirty="0"/>
          </a:p>
        </p:txBody>
      </p:sp>
      <p:pic>
        <p:nvPicPr>
          <p:cNvPr id="6" name="Kép 5">
            <a:extLst>
              <a:ext uri="{FF2B5EF4-FFF2-40B4-BE49-F238E27FC236}">
                <a16:creationId xmlns:a16="http://schemas.microsoft.com/office/drawing/2014/main" id="{C19B4022-ED5E-428C-8354-94F5CB94B88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77103" y="2152356"/>
            <a:ext cx="7437791" cy="4121947"/>
          </a:xfrm>
          <a:prstGeom prst="rect">
            <a:avLst/>
          </a:prstGeom>
          <a:noFill/>
          <a:ln>
            <a:noFill/>
          </a:ln>
        </p:spPr>
      </p:pic>
      <p:sp>
        <p:nvSpPr>
          <p:cNvPr id="7" name="Alcím 4">
            <a:extLst>
              <a:ext uri="{FF2B5EF4-FFF2-40B4-BE49-F238E27FC236}">
                <a16:creationId xmlns:a16="http://schemas.microsoft.com/office/drawing/2014/main" id="{610DE58D-064B-4815-935B-5353F279D3EA}"/>
              </a:ext>
            </a:extLst>
          </p:cNvPr>
          <p:cNvSpPr txBox="1">
            <a:spLocks/>
          </p:cNvSpPr>
          <p:nvPr/>
        </p:nvSpPr>
        <p:spPr>
          <a:xfrm>
            <a:off x="-1998345" y="13874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u-HU" sz="2000" b="1"/>
              <a:t>Terminál használata: </a:t>
            </a:r>
            <a:endParaRPr lang="en-GB" sz="2000" dirty="0"/>
          </a:p>
        </p:txBody>
      </p:sp>
    </p:spTree>
    <p:extLst>
      <p:ext uri="{BB962C8B-B14F-4D97-AF65-F5344CB8AC3E}">
        <p14:creationId xmlns:p14="http://schemas.microsoft.com/office/powerpoint/2010/main" val="42627205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circle(in)">
                                      <p:cBhvr>
                                        <p:cTn id="2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lstStyle/>
          <a:p>
            <a:r>
              <a:rPr lang="hu-HU" sz="2000" b="1" dirty="0"/>
              <a:t>Terminál használata: </a:t>
            </a:r>
            <a:endParaRPr lang="en-GB" sz="2000" dirty="0"/>
          </a:p>
        </p:txBody>
      </p:sp>
      <p:sp>
        <p:nvSpPr>
          <p:cNvPr id="2" name="Szövegdoboz 1">
            <a:extLst>
              <a:ext uri="{FF2B5EF4-FFF2-40B4-BE49-F238E27FC236}">
                <a16:creationId xmlns:a16="http://schemas.microsoft.com/office/drawing/2014/main" id="{D0845003-05DE-4577-AEC2-7B23B11F9D95}"/>
              </a:ext>
            </a:extLst>
          </p:cNvPr>
          <p:cNvSpPr txBox="1"/>
          <p:nvPr/>
        </p:nvSpPr>
        <p:spPr>
          <a:xfrm>
            <a:off x="4249270" y="1187144"/>
            <a:ext cx="3693459" cy="369332"/>
          </a:xfrm>
          <a:prstGeom prst="rect">
            <a:avLst/>
          </a:prstGeom>
          <a:noFill/>
        </p:spPr>
        <p:txBody>
          <a:bodyPr wrap="square" rtlCol="0">
            <a:spAutoFit/>
          </a:bodyPr>
          <a:lstStyle/>
          <a:p>
            <a:r>
              <a:rPr lang="hu-HU" dirty="0"/>
              <a:t>Írjuk be a következő parancsot:</a:t>
            </a:r>
            <a:endParaRPr lang="en-GB" dirty="0"/>
          </a:p>
        </p:txBody>
      </p:sp>
      <p:pic>
        <p:nvPicPr>
          <p:cNvPr id="9" name="Kép 8">
            <a:extLst>
              <a:ext uri="{FF2B5EF4-FFF2-40B4-BE49-F238E27FC236}">
                <a16:creationId xmlns:a16="http://schemas.microsoft.com/office/drawing/2014/main" id="{E2D6EA8E-0AE6-4639-9A54-591F76B4C9E3}"/>
              </a:ext>
            </a:extLst>
          </p:cNvPr>
          <p:cNvPicPr>
            <a:picLocks noChangeAspect="1"/>
          </p:cNvPicPr>
          <p:nvPr/>
        </p:nvPicPr>
        <p:blipFill>
          <a:blip r:embed="rId2"/>
          <a:stretch>
            <a:fillRect/>
          </a:stretch>
        </p:blipFill>
        <p:spPr>
          <a:xfrm>
            <a:off x="2377101" y="2163568"/>
            <a:ext cx="7437792" cy="4110735"/>
          </a:xfrm>
          <a:prstGeom prst="rect">
            <a:avLst/>
          </a:prstGeom>
        </p:spPr>
      </p:pic>
    </p:spTree>
    <p:extLst>
      <p:ext uri="{BB962C8B-B14F-4D97-AF65-F5344CB8AC3E}">
        <p14:creationId xmlns:p14="http://schemas.microsoft.com/office/powerpoint/2010/main" val="37500456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lstStyle/>
          <a:p>
            <a:r>
              <a:rPr lang="hu-HU" sz="2000" b="1" dirty="0"/>
              <a:t>Terminál használata: </a:t>
            </a:r>
            <a:endParaRPr lang="en-GB" sz="2000" dirty="0"/>
          </a:p>
        </p:txBody>
      </p:sp>
      <p:sp>
        <p:nvSpPr>
          <p:cNvPr id="2" name="Szövegdoboz 1">
            <a:extLst>
              <a:ext uri="{FF2B5EF4-FFF2-40B4-BE49-F238E27FC236}">
                <a16:creationId xmlns:a16="http://schemas.microsoft.com/office/drawing/2014/main" id="{D0845003-05DE-4577-AEC2-7B23B11F9D95}"/>
              </a:ext>
            </a:extLst>
          </p:cNvPr>
          <p:cNvSpPr txBox="1"/>
          <p:nvPr/>
        </p:nvSpPr>
        <p:spPr>
          <a:xfrm>
            <a:off x="3209364" y="756486"/>
            <a:ext cx="5773271" cy="923330"/>
          </a:xfrm>
          <a:prstGeom prst="rect">
            <a:avLst/>
          </a:prstGeom>
          <a:noFill/>
        </p:spPr>
        <p:txBody>
          <a:bodyPr wrap="square" rtlCol="0">
            <a:spAutoFit/>
          </a:bodyPr>
          <a:lstStyle/>
          <a:p>
            <a:pPr algn="just"/>
            <a:r>
              <a:rPr lang="hu-HU" dirty="0"/>
              <a:t>Ha ezután nyomunk egy enter billentyűt, akkor a következőt fogjuk visszakapni(persze csak akkor, hogyha megegyezik a hálózati </a:t>
            </a:r>
            <a:r>
              <a:rPr lang="hu-HU" dirty="0" err="1"/>
              <a:t>interface</a:t>
            </a:r>
            <a:r>
              <a:rPr lang="hu-HU" dirty="0"/>
              <a:t>(eth0) és nyilván a MAC cím is más lesz):</a:t>
            </a:r>
            <a:endParaRPr lang="en-GB" dirty="0"/>
          </a:p>
        </p:txBody>
      </p:sp>
      <p:pic>
        <p:nvPicPr>
          <p:cNvPr id="9" name="Kép 8">
            <a:extLst>
              <a:ext uri="{FF2B5EF4-FFF2-40B4-BE49-F238E27FC236}">
                <a16:creationId xmlns:a16="http://schemas.microsoft.com/office/drawing/2014/main" id="{522EC37E-2975-43C1-B574-E0F02131BF72}"/>
              </a:ext>
            </a:extLst>
          </p:cNvPr>
          <p:cNvPicPr>
            <a:picLocks noChangeAspect="1"/>
          </p:cNvPicPr>
          <p:nvPr/>
        </p:nvPicPr>
        <p:blipFill>
          <a:blip r:embed="rId2"/>
          <a:stretch>
            <a:fillRect/>
          </a:stretch>
        </p:blipFill>
        <p:spPr>
          <a:xfrm>
            <a:off x="2377100" y="2153132"/>
            <a:ext cx="7437792" cy="4121170"/>
          </a:xfrm>
          <a:prstGeom prst="rect">
            <a:avLst/>
          </a:prstGeom>
        </p:spPr>
      </p:pic>
    </p:spTree>
    <p:extLst>
      <p:ext uri="{BB962C8B-B14F-4D97-AF65-F5344CB8AC3E}">
        <p14:creationId xmlns:p14="http://schemas.microsoft.com/office/powerpoint/2010/main" val="1811615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lstStyle/>
          <a:p>
            <a:r>
              <a:rPr lang="hu-HU" sz="2000" b="1" dirty="0"/>
              <a:t>Terminál használata: </a:t>
            </a:r>
            <a:endParaRPr lang="en-GB" sz="2000" dirty="0"/>
          </a:p>
        </p:txBody>
      </p:sp>
      <p:sp>
        <p:nvSpPr>
          <p:cNvPr id="2" name="Szövegdoboz 1">
            <a:extLst>
              <a:ext uri="{FF2B5EF4-FFF2-40B4-BE49-F238E27FC236}">
                <a16:creationId xmlns:a16="http://schemas.microsoft.com/office/drawing/2014/main" id="{D0845003-05DE-4577-AEC2-7B23B11F9D95}"/>
              </a:ext>
            </a:extLst>
          </p:cNvPr>
          <p:cNvSpPr txBox="1"/>
          <p:nvPr/>
        </p:nvSpPr>
        <p:spPr>
          <a:xfrm>
            <a:off x="4249270" y="1187145"/>
            <a:ext cx="4446495" cy="369332"/>
          </a:xfrm>
          <a:prstGeom prst="rect">
            <a:avLst/>
          </a:prstGeom>
          <a:noFill/>
        </p:spPr>
        <p:txBody>
          <a:bodyPr wrap="square" rtlCol="0">
            <a:spAutoFit/>
          </a:bodyPr>
          <a:lstStyle/>
          <a:p>
            <a:r>
              <a:rPr lang="hu-HU" dirty="0"/>
              <a:t>Amennyiben valami ilyesmit tapasztalunk: </a:t>
            </a:r>
            <a:endParaRPr lang="en-GB" dirty="0"/>
          </a:p>
        </p:txBody>
      </p:sp>
      <p:pic>
        <p:nvPicPr>
          <p:cNvPr id="8" name="Kép 7">
            <a:extLst>
              <a:ext uri="{FF2B5EF4-FFF2-40B4-BE49-F238E27FC236}">
                <a16:creationId xmlns:a16="http://schemas.microsoft.com/office/drawing/2014/main" id="{20047DC4-C5E7-42A3-9184-8A4E41A3EDFD}"/>
              </a:ext>
            </a:extLst>
          </p:cNvPr>
          <p:cNvPicPr>
            <a:picLocks noChangeAspect="1"/>
          </p:cNvPicPr>
          <p:nvPr/>
        </p:nvPicPr>
        <p:blipFill>
          <a:blip r:embed="rId2"/>
          <a:stretch>
            <a:fillRect/>
          </a:stretch>
        </p:blipFill>
        <p:spPr>
          <a:xfrm>
            <a:off x="2377102" y="2139061"/>
            <a:ext cx="7437791" cy="4113943"/>
          </a:xfrm>
          <a:prstGeom prst="rect">
            <a:avLst/>
          </a:prstGeom>
        </p:spPr>
      </p:pic>
    </p:spTree>
    <p:extLst>
      <p:ext uri="{BB962C8B-B14F-4D97-AF65-F5344CB8AC3E}">
        <p14:creationId xmlns:p14="http://schemas.microsoft.com/office/powerpoint/2010/main" val="2538321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lstStyle/>
          <a:p>
            <a:r>
              <a:rPr lang="hu-HU" sz="2000" b="1" dirty="0"/>
              <a:t>Terminál használata: </a:t>
            </a:r>
            <a:endParaRPr lang="en-GB" sz="2000" dirty="0"/>
          </a:p>
        </p:txBody>
      </p:sp>
      <p:sp>
        <p:nvSpPr>
          <p:cNvPr id="2" name="Szövegdoboz 1">
            <a:extLst>
              <a:ext uri="{FF2B5EF4-FFF2-40B4-BE49-F238E27FC236}">
                <a16:creationId xmlns:a16="http://schemas.microsoft.com/office/drawing/2014/main" id="{D0845003-05DE-4577-AEC2-7B23B11F9D95}"/>
              </a:ext>
            </a:extLst>
          </p:cNvPr>
          <p:cNvSpPr txBox="1"/>
          <p:nvPr/>
        </p:nvSpPr>
        <p:spPr>
          <a:xfrm>
            <a:off x="4007220" y="966629"/>
            <a:ext cx="4177554" cy="923330"/>
          </a:xfrm>
          <a:prstGeom prst="rect">
            <a:avLst/>
          </a:prstGeom>
          <a:noFill/>
        </p:spPr>
        <p:txBody>
          <a:bodyPr wrap="square" rtlCol="0">
            <a:spAutoFit/>
          </a:bodyPr>
          <a:lstStyle/>
          <a:p>
            <a:pPr algn="just"/>
            <a:r>
              <a:rPr lang="hu-HU" dirty="0"/>
              <a:t>Nem kell megijedni, könnyen telepíthetjük a net-</a:t>
            </a:r>
            <a:r>
              <a:rPr lang="hu-HU" dirty="0" err="1"/>
              <a:t>tools</a:t>
            </a:r>
            <a:r>
              <a:rPr lang="hu-HU" dirty="0"/>
              <a:t> csomagot az alábbi paranccsal: </a:t>
            </a:r>
            <a:endParaRPr lang="en-GB" dirty="0"/>
          </a:p>
          <a:p>
            <a:pPr algn="just"/>
            <a:r>
              <a:rPr lang="hu-HU" dirty="0" err="1"/>
              <a:t>sudo</a:t>
            </a:r>
            <a:r>
              <a:rPr lang="hu-HU" dirty="0"/>
              <a:t> </a:t>
            </a:r>
            <a:r>
              <a:rPr lang="hu-HU" dirty="0" err="1"/>
              <a:t>apt-get</a:t>
            </a:r>
            <a:r>
              <a:rPr lang="hu-HU" dirty="0"/>
              <a:t> </a:t>
            </a:r>
            <a:r>
              <a:rPr lang="hu-HU" dirty="0" err="1"/>
              <a:t>install</a:t>
            </a:r>
            <a:r>
              <a:rPr lang="hu-HU" dirty="0"/>
              <a:t> net-</a:t>
            </a:r>
            <a:r>
              <a:rPr lang="hu-HU" dirty="0" err="1"/>
              <a:t>tools</a:t>
            </a:r>
            <a:r>
              <a:rPr lang="hu-HU" dirty="0"/>
              <a:t> -y</a:t>
            </a:r>
            <a:endParaRPr lang="en-GB" dirty="0"/>
          </a:p>
        </p:txBody>
      </p:sp>
      <p:pic>
        <p:nvPicPr>
          <p:cNvPr id="9" name="Kép 8">
            <a:extLst>
              <a:ext uri="{FF2B5EF4-FFF2-40B4-BE49-F238E27FC236}">
                <a16:creationId xmlns:a16="http://schemas.microsoft.com/office/drawing/2014/main" id="{3BB42DB5-435E-46E4-B774-84D58BD5669A}"/>
              </a:ext>
            </a:extLst>
          </p:cNvPr>
          <p:cNvPicPr/>
          <p:nvPr/>
        </p:nvPicPr>
        <p:blipFill>
          <a:blip r:embed="rId2"/>
          <a:stretch>
            <a:fillRect/>
          </a:stretch>
        </p:blipFill>
        <p:spPr>
          <a:xfrm>
            <a:off x="2377101" y="2139061"/>
            <a:ext cx="7437791" cy="4113942"/>
          </a:xfrm>
          <a:prstGeom prst="rect">
            <a:avLst/>
          </a:prstGeom>
        </p:spPr>
      </p:pic>
    </p:spTree>
    <p:extLst>
      <p:ext uri="{BB962C8B-B14F-4D97-AF65-F5344CB8AC3E}">
        <p14:creationId xmlns:p14="http://schemas.microsoft.com/office/powerpoint/2010/main" val="35649680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523997" y="264253"/>
            <a:ext cx="9144000" cy="1655762"/>
          </a:xfrm>
        </p:spPr>
        <p:txBody>
          <a:bodyPr/>
          <a:lstStyle/>
          <a:p>
            <a:r>
              <a:rPr lang="hu-HU" b="1" dirty="0"/>
              <a:t>Ár ajánlat &amp; konfiguráció:</a:t>
            </a:r>
            <a:endParaRPr lang="en-GB" dirty="0"/>
          </a:p>
        </p:txBody>
      </p:sp>
      <p:sp>
        <p:nvSpPr>
          <p:cNvPr id="3" name="Szövegdoboz 2">
            <a:extLst>
              <a:ext uri="{FF2B5EF4-FFF2-40B4-BE49-F238E27FC236}">
                <a16:creationId xmlns:a16="http://schemas.microsoft.com/office/drawing/2014/main" id="{6B419964-3638-4FA6-ABEA-09B470DE8842}"/>
              </a:ext>
            </a:extLst>
          </p:cNvPr>
          <p:cNvSpPr txBox="1"/>
          <p:nvPr/>
        </p:nvSpPr>
        <p:spPr>
          <a:xfrm rot="21272659">
            <a:off x="1201270" y="1425256"/>
            <a:ext cx="7091081" cy="1754326"/>
          </a:xfrm>
          <a:prstGeom prst="rect">
            <a:avLst/>
          </a:prstGeom>
          <a:noFill/>
        </p:spPr>
        <p:txBody>
          <a:bodyPr wrap="square" rtlCol="0">
            <a:spAutoFit/>
          </a:bodyPr>
          <a:lstStyle/>
          <a:p>
            <a:pPr algn="just"/>
            <a:r>
              <a:rPr lang="hu-HU" dirty="0"/>
              <a:t>Cégünk a lehető legtöbbet nyújtó komponensekkel rendelkező számítógép összerakását ajánlja, erre hoztunk is egy példát, amennyiben valamelyik része nem megfelelő valami oknál fogva, vagy az árával kapcsolatban vannak némi kifogások, akkor egy gyors megbeszélés után képesek vagyunk új konfiguráció összeállítását kivitelezni, a kérteknek megfelelően.</a:t>
            </a:r>
            <a:endParaRPr lang="en-GB" dirty="0"/>
          </a:p>
          <a:p>
            <a:endParaRPr lang="en-GB" dirty="0"/>
          </a:p>
        </p:txBody>
      </p:sp>
      <p:sp>
        <p:nvSpPr>
          <p:cNvPr id="4" name="Szövegdoboz 3">
            <a:extLst>
              <a:ext uri="{FF2B5EF4-FFF2-40B4-BE49-F238E27FC236}">
                <a16:creationId xmlns:a16="http://schemas.microsoft.com/office/drawing/2014/main" id="{84847479-B748-4C91-84ED-DD309587ADF8}"/>
              </a:ext>
            </a:extLst>
          </p:cNvPr>
          <p:cNvSpPr txBox="1"/>
          <p:nvPr/>
        </p:nvSpPr>
        <p:spPr>
          <a:xfrm rot="344432">
            <a:off x="6714564" y="3003174"/>
            <a:ext cx="5136776" cy="646331"/>
          </a:xfrm>
          <a:prstGeom prst="rect">
            <a:avLst/>
          </a:prstGeom>
          <a:noFill/>
        </p:spPr>
        <p:txBody>
          <a:bodyPr wrap="square" rtlCol="0">
            <a:spAutoFit/>
          </a:bodyPr>
          <a:lstStyle/>
          <a:p>
            <a:r>
              <a:rPr lang="hu-HU" dirty="0"/>
              <a:t>Íme a mostani konfiguráció és a hozzá tartozó árak:</a:t>
            </a:r>
            <a:endParaRPr lang="en-GB" dirty="0"/>
          </a:p>
          <a:p>
            <a:endParaRPr lang="en-GB" dirty="0"/>
          </a:p>
        </p:txBody>
      </p:sp>
      <p:pic>
        <p:nvPicPr>
          <p:cNvPr id="7" name="Kép 6">
            <a:extLst>
              <a:ext uri="{FF2B5EF4-FFF2-40B4-BE49-F238E27FC236}">
                <a16:creationId xmlns:a16="http://schemas.microsoft.com/office/drawing/2014/main" id="{A377FC4A-8046-4F72-A135-42DBD799315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7067" y="3440656"/>
            <a:ext cx="5722620" cy="2994660"/>
          </a:xfrm>
          <a:prstGeom prst="rect">
            <a:avLst/>
          </a:prstGeom>
          <a:noFill/>
          <a:ln>
            <a:noFill/>
          </a:ln>
        </p:spPr>
      </p:pic>
      <p:cxnSp>
        <p:nvCxnSpPr>
          <p:cNvPr id="12" name="Összekötő: görbe 11">
            <a:extLst>
              <a:ext uri="{FF2B5EF4-FFF2-40B4-BE49-F238E27FC236}">
                <a16:creationId xmlns:a16="http://schemas.microsoft.com/office/drawing/2014/main" id="{F621C9ED-8B91-4CF7-A2A7-3485D2F50AF1}"/>
              </a:ext>
            </a:extLst>
          </p:cNvPr>
          <p:cNvCxnSpPr>
            <a:stCxn id="4" idx="3"/>
          </p:cNvCxnSpPr>
          <p:nvPr/>
        </p:nvCxnSpPr>
        <p:spPr>
          <a:xfrm flipH="1">
            <a:off x="9000565" y="3583240"/>
            <a:ext cx="2837895" cy="863254"/>
          </a:xfrm>
          <a:prstGeom prst="curvedConnector3">
            <a:avLst>
              <a:gd name="adj1" fmla="val -8509"/>
            </a:avLst>
          </a:prstGeom>
          <a:ln w="57150">
            <a:tailEnd type="triangle"/>
          </a:ln>
        </p:spPr>
        <p:style>
          <a:lnRef idx="3">
            <a:schemeClr val="dk1"/>
          </a:lnRef>
          <a:fillRef idx="0">
            <a:schemeClr val="dk1"/>
          </a:fillRef>
          <a:effectRef idx="2">
            <a:schemeClr val="dk1"/>
          </a:effectRef>
          <a:fontRef idx="minor">
            <a:schemeClr val="tx1"/>
          </a:fontRef>
        </p:style>
      </p:cxnSp>
      <p:sp>
        <p:nvSpPr>
          <p:cNvPr id="13" name="Szövegdoboz 12">
            <a:extLst>
              <a:ext uri="{FF2B5EF4-FFF2-40B4-BE49-F238E27FC236}">
                <a16:creationId xmlns:a16="http://schemas.microsoft.com/office/drawing/2014/main" id="{44CF13A3-A2F7-48B8-9379-B9A9A2FD2D42}"/>
              </a:ext>
            </a:extLst>
          </p:cNvPr>
          <p:cNvSpPr txBox="1"/>
          <p:nvPr/>
        </p:nvSpPr>
        <p:spPr>
          <a:xfrm>
            <a:off x="9282952" y="4536141"/>
            <a:ext cx="2479307" cy="553998"/>
          </a:xfrm>
          <a:prstGeom prst="rect">
            <a:avLst/>
          </a:prstGeom>
          <a:noFill/>
        </p:spPr>
        <p:txBody>
          <a:bodyPr wrap="square" rtlCol="0">
            <a:spAutoFit/>
          </a:bodyPr>
          <a:lstStyle/>
          <a:p>
            <a:r>
              <a:rPr lang="hu-HU" sz="1200" dirty="0"/>
              <a:t>(</a:t>
            </a:r>
            <a:r>
              <a:rPr lang="hu-HU" sz="1200" dirty="0" err="1"/>
              <a:t>össz</a:t>
            </a:r>
            <a:r>
              <a:rPr lang="hu-HU" sz="1200" dirty="0"/>
              <a:t>.: 139.000Ft/1 gép)</a:t>
            </a:r>
            <a:endParaRPr lang="en-GB" sz="1200" dirty="0"/>
          </a:p>
          <a:p>
            <a:endParaRPr lang="en-GB" dirty="0"/>
          </a:p>
        </p:txBody>
      </p:sp>
    </p:spTree>
    <p:extLst>
      <p:ext uri="{BB962C8B-B14F-4D97-AF65-F5344CB8AC3E}">
        <p14:creationId xmlns:p14="http://schemas.microsoft.com/office/powerpoint/2010/main" val="6055160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80">
                                          <p:stCondLst>
                                            <p:cond delay="0"/>
                                          </p:stCondLst>
                                        </p:cTn>
                                        <p:tgtEl>
                                          <p:spTgt spid="4"/>
                                        </p:tgtEl>
                                      </p:cBhvr>
                                    </p:animEffect>
                                    <p:anim calcmode="lin" valueType="num">
                                      <p:cBhvr>
                                        <p:cTn id="2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gtEl>
                                      </p:cBhvr>
                                      <p:to x="100000" y="60000"/>
                                    </p:animScale>
                                    <p:animScale>
                                      <p:cBhvr>
                                        <p:cTn id="32" dur="166" decel="50000">
                                          <p:stCondLst>
                                            <p:cond delay="676"/>
                                          </p:stCondLst>
                                        </p:cTn>
                                        <p:tgtEl>
                                          <p:spTgt spid="4"/>
                                        </p:tgtEl>
                                      </p:cBhvr>
                                      <p:to x="100000" y="100000"/>
                                    </p:animScale>
                                    <p:animScale>
                                      <p:cBhvr>
                                        <p:cTn id="33" dur="26">
                                          <p:stCondLst>
                                            <p:cond delay="1312"/>
                                          </p:stCondLst>
                                        </p:cTn>
                                        <p:tgtEl>
                                          <p:spTgt spid="4"/>
                                        </p:tgtEl>
                                      </p:cBhvr>
                                      <p:to x="100000" y="80000"/>
                                    </p:animScale>
                                    <p:animScale>
                                      <p:cBhvr>
                                        <p:cTn id="34" dur="166" decel="50000">
                                          <p:stCondLst>
                                            <p:cond delay="1338"/>
                                          </p:stCondLst>
                                        </p:cTn>
                                        <p:tgtEl>
                                          <p:spTgt spid="4"/>
                                        </p:tgtEl>
                                      </p:cBhvr>
                                      <p:to x="100000" y="100000"/>
                                    </p:animScale>
                                    <p:animScale>
                                      <p:cBhvr>
                                        <p:cTn id="35" dur="26">
                                          <p:stCondLst>
                                            <p:cond delay="1642"/>
                                          </p:stCondLst>
                                        </p:cTn>
                                        <p:tgtEl>
                                          <p:spTgt spid="4"/>
                                        </p:tgtEl>
                                      </p:cBhvr>
                                      <p:to x="100000" y="90000"/>
                                    </p:animScale>
                                    <p:animScale>
                                      <p:cBhvr>
                                        <p:cTn id="36" dur="166" decel="50000">
                                          <p:stCondLst>
                                            <p:cond delay="1668"/>
                                          </p:stCondLst>
                                        </p:cTn>
                                        <p:tgtEl>
                                          <p:spTgt spid="4"/>
                                        </p:tgtEl>
                                      </p:cBhvr>
                                      <p:to x="100000" y="100000"/>
                                    </p:animScale>
                                    <p:animScale>
                                      <p:cBhvr>
                                        <p:cTn id="37" dur="26">
                                          <p:stCondLst>
                                            <p:cond delay="1808"/>
                                          </p:stCondLst>
                                        </p:cTn>
                                        <p:tgtEl>
                                          <p:spTgt spid="4"/>
                                        </p:tgtEl>
                                      </p:cBhvr>
                                      <p:to x="100000" y="95000"/>
                                    </p:animScale>
                                    <p:animScale>
                                      <p:cBhvr>
                                        <p:cTn id="38" dur="166" decel="50000">
                                          <p:stCondLst>
                                            <p:cond delay="1834"/>
                                          </p:stCondLst>
                                        </p:cTn>
                                        <p:tgtEl>
                                          <p:spTgt spid="4"/>
                                        </p:tgtEl>
                                      </p:cBhvr>
                                      <p:to x="100000" y="100000"/>
                                    </p:animScale>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6" presetClass="entr" presetSubtype="16"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circle(in)">
                                      <p:cBhvr>
                                        <p:cTn id="44" dur="2000"/>
                                        <p:tgtEl>
                                          <p:spTgt spid="7"/>
                                        </p:tgtEl>
                                      </p:cBhvr>
                                    </p:animEffect>
                                  </p:childTnLst>
                                </p:cTn>
                              </p:par>
                              <p:par>
                                <p:cTn id="45" presetID="26"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80">
                                          <p:stCondLst>
                                            <p:cond delay="0"/>
                                          </p:stCondLst>
                                        </p:cTn>
                                        <p:tgtEl>
                                          <p:spTgt spid="13"/>
                                        </p:tgtEl>
                                      </p:cBhvr>
                                    </p:animEffect>
                                    <p:anim calcmode="lin" valueType="num">
                                      <p:cBhvr>
                                        <p:cTn id="4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53" dur="26">
                                          <p:stCondLst>
                                            <p:cond delay="650"/>
                                          </p:stCondLst>
                                        </p:cTn>
                                        <p:tgtEl>
                                          <p:spTgt spid="13"/>
                                        </p:tgtEl>
                                      </p:cBhvr>
                                      <p:to x="100000" y="60000"/>
                                    </p:animScale>
                                    <p:animScale>
                                      <p:cBhvr>
                                        <p:cTn id="54" dur="166" decel="50000">
                                          <p:stCondLst>
                                            <p:cond delay="676"/>
                                          </p:stCondLst>
                                        </p:cTn>
                                        <p:tgtEl>
                                          <p:spTgt spid="13"/>
                                        </p:tgtEl>
                                      </p:cBhvr>
                                      <p:to x="100000" y="100000"/>
                                    </p:animScale>
                                    <p:animScale>
                                      <p:cBhvr>
                                        <p:cTn id="55" dur="26">
                                          <p:stCondLst>
                                            <p:cond delay="1312"/>
                                          </p:stCondLst>
                                        </p:cTn>
                                        <p:tgtEl>
                                          <p:spTgt spid="13"/>
                                        </p:tgtEl>
                                      </p:cBhvr>
                                      <p:to x="100000" y="80000"/>
                                    </p:animScale>
                                    <p:animScale>
                                      <p:cBhvr>
                                        <p:cTn id="56" dur="166" decel="50000">
                                          <p:stCondLst>
                                            <p:cond delay="1338"/>
                                          </p:stCondLst>
                                        </p:cTn>
                                        <p:tgtEl>
                                          <p:spTgt spid="13"/>
                                        </p:tgtEl>
                                      </p:cBhvr>
                                      <p:to x="100000" y="100000"/>
                                    </p:animScale>
                                    <p:animScale>
                                      <p:cBhvr>
                                        <p:cTn id="57" dur="26">
                                          <p:stCondLst>
                                            <p:cond delay="1642"/>
                                          </p:stCondLst>
                                        </p:cTn>
                                        <p:tgtEl>
                                          <p:spTgt spid="13"/>
                                        </p:tgtEl>
                                      </p:cBhvr>
                                      <p:to x="100000" y="90000"/>
                                    </p:animScale>
                                    <p:animScale>
                                      <p:cBhvr>
                                        <p:cTn id="58" dur="166" decel="50000">
                                          <p:stCondLst>
                                            <p:cond delay="1668"/>
                                          </p:stCondLst>
                                        </p:cTn>
                                        <p:tgtEl>
                                          <p:spTgt spid="13"/>
                                        </p:tgtEl>
                                      </p:cBhvr>
                                      <p:to x="100000" y="100000"/>
                                    </p:animScale>
                                    <p:animScale>
                                      <p:cBhvr>
                                        <p:cTn id="59" dur="26">
                                          <p:stCondLst>
                                            <p:cond delay="1808"/>
                                          </p:stCondLst>
                                        </p:cTn>
                                        <p:tgtEl>
                                          <p:spTgt spid="13"/>
                                        </p:tgtEl>
                                      </p:cBhvr>
                                      <p:to x="100000" y="95000"/>
                                    </p:animScale>
                                    <p:animScale>
                                      <p:cBhvr>
                                        <p:cTn id="60"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normAutofit/>
          </a:bodyPr>
          <a:lstStyle/>
          <a:p>
            <a:r>
              <a:rPr lang="hu-HU" sz="2000" b="1" dirty="0"/>
              <a:t>Beszerelési, illetve telepítési árak:</a:t>
            </a:r>
            <a:endParaRPr lang="en-GB" sz="2000" b="1" dirty="0"/>
          </a:p>
        </p:txBody>
      </p:sp>
      <p:sp>
        <p:nvSpPr>
          <p:cNvPr id="3" name="Szövegdoboz 2">
            <a:extLst>
              <a:ext uri="{FF2B5EF4-FFF2-40B4-BE49-F238E27FC236}">
                <a16:creationId xmlns:a16="http://schemas.microsoft.com/office/drawing/2014/main" id="{F3F39514-BBF3-47A1-8EC0-9C60DC6C9E60}"/>
              </a:ext>
            </a:extLst>
          </p:cNvPr>
          <p:cNvSpPr txBox="1"/>
          <p:nvPr/>
        </p:nvSpPr>
        <p:spPr>
          <a:xfrm>
            <a:off x="2106706" y="1138518"/>
            <a:ext cx="2124635" cy="369332"/>
          </a:xfrm>
          <a:prstGeom prst="rect">
            <a:avLst/>
          </a:prstGeom>
          <a:noFill/>
        </p:spPr>
        <p:txBody>
          <a:bodyPr wrap="square" rtlCol="0">
            <a:spAutoFit/>
          </a:bodyPr>
          <a:lstStyle/>
          <a:p>
            <a:r>
              <a:rPr lang="hu-HU" dirty="0"/>
              <a:t>Windows 10 esetén:</a:t>
            </a:r>
            <a:endParaRPr lang="en-GB" dirty="0"/>
          </a:p>
        </p:txBody>
      </p:sp>
      <p:sp>
        <p:nvSpPr>
          <p:cNvPr id="4" name="Szövegdoboz 3">
            <a:extLst>
              <a:ext uri="{FF2B5EF4-FFF2-40B4-BE49-F238E27FC236}">
                <a16:creationId xmlns:a16="http://schemas.microsoft.com/office/drawing/2014/main" id="{6B6E381A-4562-4520-9C88-0409C04F5A7B}"/>
              </a:ext>
            </a:extLst>
          </p:cNvPr>
          <p:cNvSpPr txBox="1"/>
          <p:nvPr/>
        </p:nvSpPr>
        <p:spPr>
          <a:xfrm>
            <a:off x="3388659" y="1794510"/>
            <a:ext cx="7879976" cy="1200329"/>
          </a:xfrm>
          <a:prstGeom prst="rect">
            <a:avLst/>
          </a:prstGeom>
          <a:noFill/>
        </p:spPr>
        <p:txBody>
          <a:bodyPr wrap="square" rtlCol="0">
            <a:spAutoFit/>
          </a:bodyPr>
          <a:lstStyle/>
          <a:p>
            <a:r>
              <a:rPr lang="hu-HU" dirty="0"/>
              <a:t>80 db gép * 139.000Ft + Windows 10 kulcs 5000Ft/gép</a:t>
            </a:r>
            <a:endParaRPr lang="en-GB" dirty="0"/>
          </a:p>
          <a:p>
            <a:r>
              <a:rPr lang="hu-HU" dirty="0"/>
              <a:t>= gépek -&gt; 11.120.000Ft + kulcsok -&gt; 400.000Ft = 11.520.000 – 10% kedvezmény: </a:t>
            </a:r>
            <a:r>
              <a:rPr lang="hu-HU" dirty="0" err="1"/>
              <a:t>össz</a:t>
            </a:r>
            <a:r>
              <a:rPr lang="hu-HU" dirty="0"/>
              <a:t>.: 10.368.000Ft + beüzemelés</a:t>
            </a:r>
            <a:endParaRPr lang="en-GB" dirty="0"/>
          </a:p>
          <a:p>
            <a:endParaRPr lang="en-GB" dirty="0"/>
          </a:p>
        </p:txBody>
      </p:sp>
      <p:cxnSp>
        <p:nvCxnSpPr>
          <p:cNvPr id="7" name="Összekötő: görbe 6">
            <a:extLst>
              <a:ext uri="{FF2B5EF4-FFF2-40B4-BE49-F238E27FC236}">
                <a16:creationId xmlns:a16="http://schemas.microsoft.com/office/drawing/2014/main" id="{EBF9B4F0-29BA-4112-B0A6-E30B37269B6C}"/>
              </a:ext>
            </a:extLst>
          </p:cNvPr>
          <p:cNvCxnSpPr>
            <a:cxnSpLocks/>
            <a:stCxn id="3" idx="3"/>
            <a:endCxn id="4" idx="0"/>
          </p:cNvCxnSpPr>
          <p:nvPr/>
        </p:nvCxnSpPr>
        <p:spPr>
          <a:xfrm>
            <a:off x="4231341" y="1323184"/>
            <a:ext cx="3097306" cy="471326"/>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Szövegdoboz 8">
            <a:extLst>
              <a:ext uri="{FF2B5EF4-FFF2-40B4-BE49-F238E27FC236}">
                <a16:creationId xmlns:a16="http://schemas.microsoft.com/office/drawing/2014/main" id="{08CEA6C1-022C-4022-8682-F309A2C09915}"/>
              </a:ext>
            </a:extLst>
          </p:cNvPr>
          <p:cNvSpPr txBox="1"/>
          <p:nvPr/>
        </p:nvSpPr>
        <p:spPr>
          <a:xfrm>
            <a:off x="2106706" y="3576918"/>
            <a:ext cx="1954306" cy="369332"/>
          </a:xfrm>
          <a:prstGeom prst="rect">
            <a:avLst/>
          </a:prstGeom>
          <a:noFill/>
        </p:spPr>
        <p:txBody>
          <a:bodyPr wrap="square" rtlCol="0">
            <a:spAutoFit/>
          </a:bodyPr>
          <a:lstStyle/>
          <a:p>
            <a:r>
              <a:rPr lang="hu-HU" dirty="0"/>
              <a:t>Linux esetén:</a:t>
            </a:r>
            <a:endParaRPr lang="en-GB" dirty="0"/>
          </a:p>
        </p:txBody>
      </p:sp>
      <p:sp>
        <p:nvSpPr>
          <p:cNvPr id="10" name="Szövegdoboz 9">
            <a:extLst>
              <a:ext uri="{FF2B5EF4-FFF2-40B4-BE49-F238E27FC236}">
                <a16:creationId xmlns:a16="http://schemas.microsoft.com/office/drawing/2014/main" id="{C80C9398-72E0-4D97-8F1A-18EFB55B5253}"/>
              </a:ext>
            </a:extLst>
          </p:cNvPr>
          <p:cNvSpPr txBox="1"/>
          <p:nvPr/>
        </p:nvSpPr>
        <p:spPr>
          <a:xfrm>
            <a:off x="3388659" y="4419600"/>
            <a:ext cx="7261413" cy="1200329"/>
          </a:xfrm>
          <a:prstGeom prst="rect">
            <a:avLst/>
          </a:prstGeom>
          <a:noFill/>
        </p:spPr>
        <p:txBody>
          <a:bodyPr wrap="square" rtlCol="0">
            <a:spAutoFit/>
          </a:bodyPr>
          <a:lstStyle/>
          <a:p>
            <a:r>
              <a:rPr lang="hu-HU" dirty="0"/>
              <a:t>80 db gép * 139.000Ft + </a:t>
            </a:r>
            <a:r>
              <a:rPr lang="hu-HU" dirty="0" err="1"/>
              <a:t>linux</a:t>
            </a:r>
            <a:r>
              <a:rPr lang="hu-HU" dirty="0"/>
              <a:t> (ingyenes)</a:t>
            </a:r>
            <a:endParaRPr lang="en-GB" dirty="0"/>
          </a:p>
          <a:p>
            <a:r>
              <a:rPr lang="hu-HU" dirty="0"/>
              <a:t>= gépek -&gt; 11.120.000Ft = </a:t>
            </a:r>
            <a:r>
              <a:rPr lang="hu-HU" dirty="0" err="1"/>
              <a:t>össz</a:t>
            </a:r>
            <a:r>
              <a:rPr lang="hu-HU" dirty="0"/>
              <a:t>.= 11.120.000Ft – 10% kedvezmény:</a:t>
            </a:r>
            <a:endParaRPr lang="en-GB" dirty="0"/>
          </a:p>
          <a:p>
            <a:r>
              <a:rPr lang="hu-HU" dirty="0" err="1"/>
              <a:t>össz</a:t>
            </a:r>
            <a:r>
              <a:rPr lang="hu-HU" dirty="0"/>
              <a:t>.: 10.008.000Ft + beüzemelés</a:t>
            </a:r>
            <a:endParaRPr lang="en-GB" dirty="0"/>
          </a:p>
          <a:p>
            <a:endParaRPr lang="en-GB" dirty="0"/>
          </a:p>
        </p:txBody>
      </p:sp>
      <p:cxnSp>
        <p:nvCxnSpPr>
          <p:cNvPr id="13" name="Összekötő: görbe 12">
            <a:extLst>
              <a:ext uri="{FF2B5EF4-FFF2-40B4-BE49-F238E27FC236}">
                <a16:creationId xmlns:a16="http://schemas.microsoft.com/office/drawing/2014/main" id="{84001112-81DB-45CE-B810-35C68589610D}"/>
              </a:ext>
            </a:extLst>
          </p:cNvPr>
          <p:cNvCxnSpPr>
            <a:endCxn id="10" idx="0"/>
          </p:cNvCxnSpPr>
          <p:nvPr/>
        </p:nvCxnSpPr>
        <p:spPr>
          <a:xfrm>
            <a:off x="3630706" y="3761584"/>
            <a:ext cx="3388660" cy="658016"/>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Szövegdoboz 13">
            <a:extLst>
              <a:ext uri="{FF2B5EF4-FFF2-40B4-BE49-F238E27FC236}">
                <a16:creationId xmlns:a16="http://schemas.microsoft.com/office/drawing/2014/main" id="{30CE26A8-E18C-4C10-AE96-FAA4A9059CF3}"/>
              </a:ext>
            </a:extLst>
          </p:cNvPr>
          <p:cNvSpPr txBox="1"/>
          <p:nvPr/>
        </p:nvSpPr>
        <p:spPr>
          <a:xfrm>
            <a:off x="1882587" y="5719482"/>
            <a:ext cx="9144000" cy="830997"/>
          </a:xfrm>
          <a:prstGeom prst="rect">
            <a:avLst/>
          </a:prstGeom>
          <a:noFill/>
        </p:spPr>
        <p:txBody>
          <a:bodyPr wrap="square" rtlCol="0">
            <a:spAutoFit/>
          </a:bodyPr>
          <a:lstStyle/>
          <a:p>
            <a:pPr algn="just"/>
            <a:r>
              <a:rPr lang="hu-HU" sz="1600" dirty="0"/>
              <a:t>(A gépek beüzemelésének ára 2500Ft / gép -&gt; 80db gép*2500Ft = 200.000Ft)</a:t>
            </a:r>
          </a:p>
          <a:p>
            <a:pPr algn="just"/>
            <a:endParaRPr lang="en-GB" sz="1600" dirty="0"/>
          </a:p>
          <a:p>
            <a:pPr algn="just"/>
            <a:r>
              <a:rPr lang="hu-HU" sz="1600" dirty="0"/>
              <a:t>(+ 20.000Ft/fő, </a:t>
            </a:r>
            <a:r>
              <a:rPr lang="hu-HU" sz="1600" dirty="0" err="1"/>
              <a:t>linux</a:t>
            </a:r>
            <a:r>
              <a:rPr lang="hu-HU" sz="1600" dirty="0"/>
              <a:t> tanfolyam, azoknak akik nem ismerik ezt a rendszert és igényt tartanának a képzésre)</a:t>
            </a:r>
            <a:endParaRPr lang="en-GB" sz="1600" dirty="0"/>
          </a:p>
        </p:txBody>
      </p:sp>
    </p:spTree>
    <p:extLst>
      <p:ext uri="{BB962C8B-B14F-4D97-AF65-F5344CB8AC3E}">
        <p14:creationId xmlns:p14="http://schemas.microsoft.com/office/powerpoint/2010/main" val="19911116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26"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80">
                                          <p:stCondLst>
                                            <p:cond delay="0"/>
                                          </p:stCondLst>
                                        </p:cTn>
                                        <p:tgtEl>
                                          <p:spTgt spid="4"/>
                                        </p:tgtEl>
                                      </p:cBhvr>
                                    </p:animEffect>
                                    <p:anim calcmode="lin" valueType="num">
                                      <p:cBhvr>
                                        <p:cTn id="27"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2" dur="26">
                                          <p:stCondLst>
                                            <p:cond delay="650"/>
                                          </p:stCondLst>
                                        </p:cTn>
                                        <p:tgtEl>
                                          <p:spTgt spid="4"/>
                                        </p:tgtEl>
                                      </p:cBhvr>
                                      <p:to x="100000" y="60000"/>
                                    </p:animScale>
                                    <p:animScale>
                                      <p:cBhvr>
                                        <p:cTn id="33" dur="166" decel="50000">
                                          <p:stCondLst>
                                            <p:cond delay="676"/>
                                          </p:stCondLst>
                                        </p:cTn>
                                        <p:tgtEl>
                                          <p:spTgt spid="4"/>
                                        </p:tgtEl>
                                      </p:cBhvr>
                                      <p:to x="100000" y="100000"/>
                                    </p:animScale>
                                    <p:animScale>
                                      <p:cBhvr>
                                        <p:cTn id="34" dur="26">
                                          <p:stCondLst>
                                            <p:cond delay="1312"/>
                                          </p:stCondLst>
                                        </p:cTn>
                                        <p:tgtEl>
                                          <p:spTgt spid="4"/>
                                        </p:tgtEl>
                                      </p:cBhvr>
                                      <p:to x="100000" y="80000"/>
                                    </p:animScale>
                                    <p:animScale>
                                      <p:cBhvr>
                                        <p:cTn id="35" dur="166" decel="50000">
                                          <p:stCondLst>
                                            <p:cond delay="1338"/>
                                          </p:stCondLst>
                                        </p:cTn>
                                        <p:tgtEl>
                                          <p:spTgt spid="4"/>
                                        </p:tgtEl>
                                      </p:cBhvr>
                                      <p:to x="100000" y="100000"/>
                                    </p:animScale>
                                    <p:animScale>
                                      <p:cBhvr>
                                        <p:cTn id="36" dur="26">
                                          <p:stCondLst>
                                            <p:cond delay="1642"/>
                                          </p:stCondLst>
                                        </p:cTn>
                                        <p:tgtEl>
                                          <p:spTgt spid="4"/>
                                        </p:tgtEl>
                                      </p:cBhvr>
                                      <p:to x="100000" y="90000"/>
                                    </p:animScale>
                                    <p:animScale>
                                      <p:cBhvr>
                                        <p:cTn id="37" dur="166" decel="50000">
                                          <p:stCondLst>
                                            <p:cond delay="1668"/>
                                          </p:stCondLst>
                                        </p:cTn>
                                        <p:tgtEl>
                                          <p:spTgt spid="4"/>
                                        </p:tgtEl>
                                      </p:cBhvr>
                                      <p:to x="100000" y="100000"/>
                                    </p:animScale>
                                    <p:animScale>
                                      <p:cBhvr>
                                        <p:cTn id="38" dur="26">
                                          <p:stCondLst>
                                            <p:cond delay="1808"/>
                                          </p:stCondLst>
                                        </p:cTn>
                                        <p:tgtEl>
                                          <p:spTgt spid="4"/>
                                        </p:tgtEl>
                                      </p:cBhvr>
                                      <p:to x="100000" y="95000"/>
                                    </p:animScale>
                                    <p:animScale>
                                      <p:cBhvr>
                                        <p:cTn id="39" dur="166" decel="50000">
                                          <p:stCondLst>
                                            <p:cond delay="1834"/>
                                          </p:stCondLst>
                                        </p:cTn>
                                        <p:tgtEl>
                                          <p:spTgt spid="4"/>
                                        </p:tgtEl>
                                      </p:cBhvr>
                                      <p:to x="100000" y="100000"/>
                                    </p:animScale>
                                  </p:childTnLst>
                                </p:cTn>
                              </p:par>
                            </p:childTnLst>
                          </p:cTn>
                        </p:par>
                      </p:childTnLst>
                    </p:cTn>
                  </p:par>
                  <p:par>
                    <p:cTn id="40" fill="hold">
                      <p:stCondLst>
                        <p:cond delay="indefinite"/>
                      </p:stCondLst>
                      <p:childTnLst>
                        <p:par>
                          <p:cTn id="41" fill="hold">
                            <p:stCondLst>
                              <p:cond delay="0"/>
                            </p:stCondLst>
                            <p:childTnLst>
                              <p:par>
                                <p:cTn id="42" presetID="26"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down)">
                                      <p:cBhvr>
                                        <p:cTn id="44" dur="580">
                                          <p:stCondLst>
                                            <p:cond delay="0"/>
                                          </p:stCondLst>
                                        </p:cTn>
                                        <p:tgtEl>
                                          <p:spTgt spid="9"/>
                                        </p:tgtEl>
                                      </p:cBhvr>
                                    </p:animEffect>
                                    <p:anim calcmode="lin" valueType="num">
                                      <p:cBhvr>
                                        <p:cTn id="45"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50" dur="26">
                                          <p:stCondLst>
                                            <p:cond delay="650"/>
                                          </p:stCondLst>
                                        </p:cTn>
                                        <p:tgtEl>
                                          <p:spTgt spid="9"/>
                                        </p:tgtEl>
                                      </p:cBhvr>
                                      <p:to x="100000" y="60000"/>
                                    </p:animScale>
                                    <p:animScale>
                                      <p:cBhvr>
                                        <p:cTn id="51" dur="166" decel="50000">
                                          <p:stCondLst>
                                            <p:cond delay="676"/>
                                          </p:stCondLst>
                                        </p:cTn>
                                        <p:tgtEl>
                                          <p:spTgt spid="9"/>
                                        </p:tgtEl>
                                      </p:cBhvr>
                                      <p:to x="100000" y="100000"/>
                                    </p:animScale>
                                    <p:animScale>
                                      <p:cBhvr>
                                        <p:cTn id="52" dur="26">
                                          <p:stCondLst>
                                            <p:cond delay="1312"/>
                                          </p:stCondLst>
                                        </p:cTn>
                                        <p:tgtEl>
                                          <p:spTgt spid="9"/>
                                        </p:tgtEl>
                                      </p:cBhvr>
                                      <p:to x="100000" y="80000"/>
                                    </p:animScale>
                                    <p:animScale>
                                      <p:cBhvr>
                                        <p:cTn id="53" dur="166" decel="50000">
                                          <p:stCondLst>
                                            <p:cond delay="1338"/>
                                          </p:stCondLst>
                                        </p:cTn>
                                        <p:tgtEl>
                                          <p:spTgt spid="9"/>
                                        </p:tgtEl>
                                      </p:cBhvr>
                                      <p:to x="100000" y="100000"/>
                                    </p:animScale>
                                    <p:animScale>
                                      <p:cBhvr>
                                        <p:cTn id="54" dur="26">
                                          <p:stCondLst>
                                            <p:cond delay="1642"/>
                                          </p:stCondLst>
                                        </p:cTn>
                                        <p:tgtEl>
                                          <p:spTgt spid="9"/>
                                        </p:tgtEl>
                                      </p:cBhvr>
                                      <p:to x="100000" y="90000"/>
                                    </p:animScale>
                                    <p:animScale>
                                      <p:cBhvr>
                                        <p:cTn id="55" dur="166" decel="50000">
                                          <p:stCondLst>
                                            <p:cond delay="1668"/>
                                          </p:stCondLst>
                                        </p:cTn>
                                        <p:tgtEl>
                                          <p:spTgt spid="9"/>
                                        </p:tgtEl>
                                      </p:cBhvr>
                                      <p:to x="100000" y="100000"/>
                                    </p:animScale>
                                    <p:animScale>
                                      <p:cBhvr>
                                        <p:cTn id="56" dur="26">
                                          <p:stCondLst>
                                            <p:cond delay="1808"/>
                                          </p:stCondLst>
                                        </p:cTn>
                                        <p:tgtEl>
                                          <p:spTgt spid="9"/>
                                        </p:tgtEl>
                                      </p:cBhvr>
                                      <p:to x="100000" y="95000"/>
                                    </p:animScale>
                                    <p:animScale>
                                      <p:cBhvr>
                                        <p:cTn id="57" dur="166" decel="50000">
                                          <p:stCondLst>
                                            <p:cond delay="1834"/>
                                          </p:stCondLst>
                                        </p:cTn>
                                        <p:tgtEl>
                                          <p:spTgt spid="9"/>
                                        </p:tgtEl>
                                      </p:cBhvr>
                                      <p:to x="100000" y="100000"/>
                                    </p:animScale>
                                  </p:childTnLst>
                                </p:cTn>
                              </p:par>
                              <p:par>
                                <p:cTn id="58" presetID="10" presetClass="entr" presetSubtype="0"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par>
                                <p:cTn id="61" presetID="26" presetClass="entr" presetSubtype="0"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wipe(down)">
                                      <p:cBhvr>
                                        <p:cTn id="63" dur="580">
                                          <p:stCondLst>
                                            <p:cond delay="0"/>
                                          </p:stCondLst>
                                        </p:cTn>
                                        <p:tgtEl>
                                          <p:spTgt spid="10"/>
                                        </p:tgtEl>
                                      </p:cBhvr>
                                    </p:animEffect>
                                    <p:anim calcmode="lin" valueType="num">
                                      <p:cBhvr>
                                        <p:cTn id="6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69" dur="26">
                                          <p:stCondLst>
                                            <p:cond delay="650"/>
                                          </p:stCondLst>
                                        </p:cTn>
                                        <p:tgtEl>
                                          <p:spTgt spid="10"/>
                                        </p:tgtEl>
                                      </p:cBhvr>
                                      <p:to x="100000" y="60000"/>
                                    </p:animScale>
                                    <p:animScale>
                                      <p:cBhvr>
                                        <p:cTn id="70" dur="166" decel="50000">
                                          <p:stCondLst>
                                            <p:cond delay="676"/>
                                          </p:stCondLst>
                                        </p:cTn>
                                        <p:tgtEl>
                                          <p:spTgt spid="10"/>
                                        </p:tgtEl>
                                      </p:cBhvr>
                                      <p:to x="100000" y="100000"/>
                                    </p:animScale>
                                    <p:animScale>
                                      <p:cBhvr>
                                        <p:cTn id="71" dur="26">
                                          <p:stCondLst>
                                            <p:cond delay="1312"/>
                                          </p:stCondLst>
                                        </p:cTn>
                                        <p:tgtEl>
                                          <p:spTgt spid="10"/>
                                        </p:tgtEl>
                                      </p:cBhvr>
                                      <p:to x="100000" y="80000"/>
                                    </p:animScale>
                                    <p:animScale>
                                      <p:cBhvr>
                                        <p:cTn id="72" dur="166" decel="50000">
                                          <p:stCondLst>
                                            <p:cond delay="1338"/>
                                          </p:stCondLst>
                                        </p:cTn>
                                        <p:tgtEl>
                                          <p:spTgt spid="10"/>
                                        </p:tgtEl>
                                      </p:cBhvr>
                                      <p:to x="100000" y="100000"/>
                                    </p:animScale>
                                    <p:animScale>
                                      <p:cBhvr>
                                        <p:cTn id="73" dur="26">
                                          <p:stCondLst>
                                            <p:cond delay="1642"/>
                                          </p:stCondLst>
                                        </p:cTn>
                                        <p:tgtEl>
                                          <p:spTgt spid="10"/>
                                        </p:tgtEl>
                                      </p:cBhvr>
                                      <p:to x="100000" y="90000"/>
                                    </p:animScale>
                                    <p:animScale>
                                      <p:cBhvr>
                                        <p:cTn id="74" dur="166" decel="50000">
                                          <p:stCondLst>
                                            <p:cond delay="1668"/>
                                          </p:stCondLst>
                                        </p:cTn>
                                        <p:tgtEl>
                                          <p:spTgt spid="10"/>
                                        </p:tgtEl>
                                      </p:cBhvr>
                                      <p:to x="100000" y="100000"/>
                                    </p:animScale>
                                    <p:animScale>
                                      <p:cBhvr>
                                        <p:cTn id="75" dur="26">
                                          <p:stCondLst>
                                            <p:cond delay="1808"/>
                                          </p:stCondLst>
                                        </p:cTn>
                                        <p:tgtEl>
                                          <p:spTgt spid="10"/>
                                        </p:tgtEl>
                                      </p:cBhvr>
                                      <p:to x="100000" y="95000"/>
                                    </p:animScale>
                                    <p:animScale>
                                      <p:cBhvr>
                                        <p:cTn id="76" dur="166" decel="50000">
                                          <p:stCondLst>
                                            <p:cond delay="1834"/>
                                          </p:stCondLst>
                                        </p:cTn>
                                        <p:tgtEl>
                                          <p:spTgt spid="10"/>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wipe(down)">
                                      <p:cBhvr>
                                        <p:cTn id="81" dur="580">
                                          <p:stCondLst>
                                            <p:cond delay="0"/>
                                          </p:stCondLst>
                                        </p:cTn>
                                        <p:tgtEl>
                                          <p:spTgt spid="14"/>
                                        </p:tgtEl>
                                      </p:cBhvr>
                                    </p:animEffect>
                                    <p:anim calcmode="lin" valueType="num">
                                      <p:cBhvr>
                                        <p:cTn id="8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87" dur="26">
                                          <p:stCondLst>
                                            <p:cond delay="650"/>
                                          </p:stCondLst>
                                        </p:cTn>
                                        <p:tgtEl>
                                          <p:spTgt spid="14"/>
                                        </p:tgtEl>
                                      </p:cBhvr>
                                      <p:to x="100000" y="60000"/>
                                    </p:animScale>
                                    <p:animScale>
                                      <p:cBhvr>
                                        <p:cTn id="88" dur="166" decel="50000">
                                          <p:stCondLst>
                                            <p:cond delay="676"/>
                                          </p:stCondLst>
                                        </p:cTn>
                                        <p:tgtEl>
                                          <p:spTgt spid="14"/>
                                        </p:tgtEl>
                                      </p:cBhvr>
                                      <p:to x="100000" y="100000"/>
                                    </p:animScale>
                                    <p:animScale>
                                      <p:cBhvr>
                                        <p:cTn id="89" dur="26">
                                          <p:stCondLst>
                                            <p:cond delay="1312"/>
                                          </p:stCondLst>
                                        </p:cTn>
                                        <p:tgtEl>
                                          <p:spTgt spid="14"/>
                                        </p:tgtEl>
                                      </p:cBhvr>
                                      <p:to x="100000" y="80000"/>
                                    </p:animScale>
                                    <p:animScale>
                                      <p:cBhvr>
                                        <p:cTn id="90" dur="166" decel="50000">
                                          <p:stCondLst>
                                            <p:cond delay="1338"/>
                                          </p:stCondLst>
                                        </p:cTn>
                                        <p:tgtEl>
                                          <p:spTgt spid="14"/>
                                        </p:tgtEl>
                                      </p:cBhvr>
                                      <p:to x="100000" y="100000"/>
                                    </p:animScale>
                                    <p:animScale>
                                      <p:cBhvr>
                                        <p:cTn id="91" dur="26">
                                          <p:stCondLst>
                                            <p:cond delay="1642"/>
                                          </p:stCondLst>
                                        </p:cTn>
                                        <p:tgtEl>
                                          <p:spTgt spid="14"/>
                                        </p:tgtEl>
                                      </p:cBhvr>
                                      <p:to x="100000" y="90000"/>
                                    </p:animScale>
                                    <p:animScale>
                                      <p:cBhvr>
                                        <p:cTn id="92" dur="166" decel="50000">
                                          <p:stCondLst>
                                            <p:cond delay="1668"/>
                                          </p:stCondLst>
                                        </p:cTn>
                                        <p:tgtEl>
                                          <p:spTgt spid="14"/>
                                        </p:tgtEl>
                                      </p:cBhvr>
                                      <p:to x="100000" y="100000"/>
                                    </p:animScale>
                                    <p:animScale>
                                      <p:cBhvr>
                                        <p:cTn id="93" dur="26">
                                          <p:stCondLst>
                                            <p:cond delay="1808"/>
                                          </p:stCondLst>
                                        </p:cTn>
                                        <p:tgtEl>
                                          <p:spTgt spid="14"/>
                                        </p:tgtEl>
                                      </p:cBhvr>
                                      <p:to x="100000" y="95000"/>
                                    </p:animScale>
                                    <p:animScale>
                                      <p:cBhvr>
                                        <p:cTn id="94"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0"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Alcím 4">
            <a:extLst>
              <a:ext uri="{FF2B5EF4-FFF2-40B4-BE49-F238E27FC236}">
                <a16:creationId xmlns:a16="http://schemas.microsoft.com/office/drawing/2014/main" id="{53F9599C-54F9-4846-9882-9527DAE2FC3E}"/>
              </a:ext>
            </a:extLst>
          </p:cNvPr>
          <p:cNvSpPr>
            <a:spLocks noGrp="1"/>
          </p:cNvSpPr>
          <p:nvPr>
            <p:ph type="subTitle" idx="1"/>
          </p:nvPr>
        </p:nvSpPr>
        <p:spPr>
          <a:xfrm>
            <a:off x="-1998345" y="138748"/>
            <a:ext cx="9144000" cy="1655762"/>
          </a:xfrm>
        </p:spPr>
        <p:txBody>
          <a:bodyPr/>
          <a:lstStyle/>
          <a:p>
            <a:r>
              <a:rPr lang="hu-HU" sz="2000" b="1" dirty="0"/>
              <a:t>Cégünk által készített kérdőív eredménye:</a:t>
            </a:r>
            <a:endParaRPr lang="en-GB" sz="2000" dirty="0"/>
          </a:p>
        </p:txBody>
      </p:sp>
      <p:pic>
        <p:nvPicPr>
          <p:cNvPr id="4" name="Kép 3">
            <a:extLst>
              <a:ext uri="{FF2B5EF4-FFF2-40B4-BE49-F238E27FC236}">
                <a16:creationId xmlns:a16="http://schemas.microsoft.com/office/drawing/2014/main" id="{7F61AA3C-C524-4D67-B448-C9EEE2F4E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398" y="966629"/>
            <a:ext cx="3681477" cy="1655762"/>
          </a:xfrm>
          <a:prstGeom prst="rect">
            <a:avLst/>
          </a:prstGeom>
        </p:spPr>
      </p:pic>
      <p:pic>
        <p:nvPicPr>
          <p:cNvPr id="7" name="Kép 6">
            <a:extLst>
              <a:ext uri="{FF2B5EF4-FFF2-40B4-BE49-F238E27FC236}">
                <a16:creationId xmlns:a16="http://schemas.microsoft.com/office/drawing/2014/main" id="{E35916D8-AD91-466F-ADB3-15043B5197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6597" y="966629"/>
            <a:ext cx="3698805" cy="1655762"/>
          </a:xfrm>
          <a:prstGeom prst="rect">
            <a:avLst/>
          </a:prstGeom>
        </p:spPr>
      </p:pic>
      <p:pic>
        <p:nvPicPr>
          <p:cNvPr id="10" name="Kép 9">
            <a:extLst>
              <a:ext uri="{FF2B5EF4-FFF2-40B4-BE49-F238E27FC236}">
                <a16:creationId xmlns:a16="http://schemas.microsoft.com/office/drawing/2014/main" id="{2DCA495F-8724-43BA-A1AA-1F860DF5AE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125" y="966629"/>
            <a:ext cx="3681477" cy="1655762"/>
          </a:xfrm>
          <a:prstGeom prst="rect">
            <a:avLst/>
          </a:prstGeom>
        </p:spPr>
      </p:pic>
      <p:pic>
        <p:nvPicPr>
          <p:cNvPr id="12" name="Kép 11">
            <a:extLst>
              <a:ext uri="{FF2B5EF4-FFF2-40B4-BE49-F238E27FC236}">
                <a16:creationId xmlns:a16="http://schemas.microsoft.com/office/drawing/2014/main" id="{06EF2AF3-064A-4AF7-BD57-D5C0962EE4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884" y="2858183"/>
            <a:ext cx="3654504" cy="1655762"/>
          </a:xfrm>
          <a:prstGeom prst="rect">
            <a:avLst/>
          </a:prstGeom>
        </p:spPr>
      </p:pic>
      <p:pic>
        <p:nvPicPr>
          <p:cNvPr id="14" name="Kép 13">
            <a:extLst>
              <a:ext uri="{FF2B5EF4-FFF2-40B4-BE49-F238E27FC236}">
                <a16:creationId xmlns:a16="http://schemas.microsoft.com/office/drawing/2014/main" id="{1F843A2F-EF3E-4B75-A5B2-767182A4CE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6597" y="2858183"/>
            <a:ext cx="3713322" cy="1655762"/>
          </a:xfrm>
          <a:prstGeom prst="rect">
            <a:avLst/>
          </a:prstGeom>
        </p:spPr>
      </p:pic>
      <p:pic>
        <p:nvPicPr>
          <p:cNvPr id="16" name="Kép 15">
            <a:extLst>
              <a:ext uri="{FF2B5EF4-FFF2-40B4-BE49-F238E27FC236}">
                <a16:creationId xmlns:a16="http://schemas.microsoft.com/office/drawing/2014/main" id="{9BAB5B04-F594-4A7A-A2C8-92AB857056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67614" y="2814928"/>
            <a:ext cx="3654504" cy="1655762"/>
          </a:xfrm>
          <a:prstGeom prst="rect">
            <a:avLst/>
          </a:prstGeom>
        </p:spPr>
      </p:pic>
      <p:pic>
        <p:nvPicPr>
          <p:cNvPr id="18" name="Kép 17">
            <a:extLst>
              <a:ext uri="{FF2B5EF4-FFF2-40B4-BE49-F238E27FC236}">
                <a16:creationId xmlns:a16="http://schemas.microsoft.com/office/drawing/2014/main" id="{D6C23AC6-83BC-4C4D-91EF-5E0908C91C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9884" y="4749737"/>
            <a:ext cx="3654504" cy="1655762"/>
          </a:xfrm>
          <a:prstGeom prst="rect">
            <a:avLst/>
          </a:prstGeom>
        </p:spPr>
      </p:pic>
      <p:pic>
        <p:nvPicPr>
          <p:cNvPr id="20" name="Kép 19">
            <a:extLst>
              <a:ext uri="{FF2B5EF4-FFF2-40B4-BE49-F238E27FC236}">
                <a16:creationId xmlns:a16="http://schemas.microsoft.com/office/drawing/2014/main" id="{63FDC4F8-2840-4E5E-AC1C-590CAB4D169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46597" y="4749736"/>
            <a:ext cx="3667990" cy="1655763"/>
          </a:xfrm>
          <a:prstGeom prst="rect">
            <a:avLst/>
          </a:prstGeom>
        </p:spPr>
      </p:pic>
      <p:pic>
        <p:nvPicPr>
          <p:cNvPr id="22" name="Kép 21">
            <a:extLst>
              <a:ext uri="{FF2B5EF4-FFF2-40B4-BE49-F238E27FC236}">
                <a16:creationId xmlns:a16="http://schemas.microsoft.com/office/drawing/2014/main" id="{B8006AA8-DE80-40F5-A86A-7FF4A22743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6796" y="4663227"/>
            <a:ext cx="3654504" cy="1671936"/>
          </a:xfrm>
          <a:prstGeom prst="rect">
            <a:avLst/>
          </a:prstGeom>
        </p:spPr>
      </p:pic>
      <p:pic>
        <p:nvPicPr>
          <p:cNvPr id="24" name="Kép 23">
            <a:extLst>
              <a:ext uri="{FF2B5EF4-FFF2-40B4-BE49-F238E27FC236}">
                <a16:creationId xmlns:a16="http://schemas.microsoft.com/office/drawing/2014/main" id="{74AAAE67-A775-4E3D-A73D-93F53CA1BA8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251569" y="3246985"/>
            <a:ext cx="3682957" cy="1655762"/>
          </a:xfrm>
          <a:prstGeom prst="rect">
            <a:avLst/>
          </a:prstGeom>
        </p:spPr>
      </p:pic>
    </p:spTree>
    <p:extLst>
      <p:ext uri="{BB962C8B-B14F-4D97-AF65-F5344CB8AC3E}">
        <p14:creationId xmlns:p14="http://schemas.microsoft.com/office/powerpoint/2010/main" val="8309238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par>
                                <p:cTn id="14" presetID="6" presetClass="entr" presetSubtype="16"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circle(in)">
                                      <p:cBhvr>
                                        <p:cTn id="16" dur="2000"/>
                                        <p:tgtEl>
                                          <p:spTgt spid="12"/>
                                        </p:tgtEl>
                                      </p:cBhvr>
                                    </p:animEffect>
                                  </p:childTnLst>
                                </p:cTn>
                              </p:par>
                              <p:par>
                                <p:cTn id="17" presetID="6" presetClass="entr" presetSubtype="16"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circle(in)">
                                      <p:cBhvr>
                                        <p:cTn id="19" dur="2000"/>
                                        <p:tgtEl>
                                          <p:spTgt spid="14"/>
                                        </p:tgtEl>
                                      </p:cBhvr>
                                    </p:animEffect>
                                  </p:childTnLst>
                                </p:cTn>
                              </p:par>
                              <p:par>
                                <p:cTn id="20" presetID="6" presetClass="entr" presetSubtype="16"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circle(in)">
                                      <p:cBhvr>
                                        <p:cTn id="22" dur="2000"/>
                                        <p:tgtEl>
                                          <p:spTgt spid="16"/>
                                        </p:tgtEl>
                                      </p:cBhvr>
                                    </p:animEffect>
                                  </p:childTnLst>
                                </p:cTn>
                              </p:par>
                              <p:par>
                                <p:cTn id="23" presetID="6" presetClass="entr" presetSubtype="16"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par>
                                <p:cTn id="26" presetID="6" presetClass="entr" presetSubtype="16"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ircle(in)">
                                      <p:cBhvr>
                                        <p:cTn id="28" dur="2000"/>
                                        <p:tgtEl>
                                          <p:spTgt spid="20"/>
                                        </p:tgtEl>
                                      </p:cBhvr>
                                    </p:animEffect>
                                  </p:childTnLst>
                                </p:cTn>
                              </p:par>
                              <p:par>
                                <p:cTn id="29" presetID="6" presetClass="entr" presetSubtype="16"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ircle(in)">
                                      <p:cBhvr>
                                        <p:cTn id="31" dur="20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35" presetClass="path" presetSubtype="0" accel="50000" decel="50000" fill="hold" nodeType="clickEffect">
                                  <p:stCondLst>
                                    <p:cond delay="0"/>
                                  </p:stCondLst>
                                  <p:childTnLst>
                                    <p:animMotion origin="layout" path="M 2.29167E-6 -1.85185E-6 L 0.33737 0.00972 " pathEditMode="relative" rAng="0" ptsTypes="AA">
                                      <p:cBhvr>
                                        <p:cTn id="35" dur="2000" fill="hold"/>
                                        <p:tgtEl>
                                          <p:spTgt spid="22"/>
                                        </p:tgtEl>
                                        <p:attrNameLst>
                                          <p:attrName>ppt_x</p:attrName>
                                          <p:attrName>ppt_y</p:attrName>
                                        </p:attrNameLst>
                                      </p:cBhvr>
                                      <p:rCtr x="16862" y="486"/>
                                    </p:animMotion>
                                  </p:childTnLst>
                                </p:cTn>
                              </p:par>
                              <p:par>
                                <p:cTn id="36" presetID="35" presetClass="path" presetSubtype="0" accel="50000" decel="50000" fill="hold" nodeType="withEffect">
                                  <p:stCondLst>
                                    <p:cond delay="0"/>
                                  </p:stCondLst>
                                  <p:childTnLst>
                                    <p:animMotion origin="layout" path="M 6.25E-7 -1.48148E-6 L -0.33854 0.20787 " pathEditMode="relative" rAng="0" ptsTypes="AA">
                                      <p:cBhvr>
                                        <p:cTn id="37" dur="2000" fill="hold"/>
                                        <p:tgtEl>
                                          <p:spTgt spid="24"/>
                                        </p:tgtEl>
                                        <p:attrNameLst>
                                          <p:attrName>ppt_x</p:attrName>
                                          <p:attrName>ppt_y</p:attrName>
                                        </p:attrNameLst>
                                      </p:cBhvr>
                                      <p:rCtr x="-16875" y="10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2858</Words>
  <Application>Microsoft Office PowerPoint</Application>
  <PresentationFormat>Szélesvásznú</PresentationFormat>
  <Paragraphs>321</Paragraphs>
  <Slides>16</Slides>
  <Notes>0</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16</vt:i4>
      </vt:variant>
    </vt:vector>
  </HeadingPairs>
  <TitlesOfParts>
    <vt:vector size="21" baseType="lpstr">
      <vt:lpstr>Arial</vt:lpstr>
      <vt:lpstr>Calibri</vt:lpstr>
      <vt:lpstr>Calibri Light</vt:lpstr>
      <vt:lpstr>Times New Roman</vt:lpstr>
      <vt:lpstr>Office-téma</vt:lpstr>
      <vt:lpstr>Érdekes… Informatikai KFT. </vt:lpstr>
      <vt:lpstr>A cég tevékenysége: </vt:lpstr>
      <vt:lpstr>Tulajdonosok bemutatkozása: </vt:lpstr>
      <vt:lpstr>Linux vs. Windows </vt:lpstr>
      <vt:lpstr>Linux vs. Windows</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blooo</dc:creator>
  <cp:lastModifiedBy>blooo</cp:lastModifiedBy>
  <cp:revision>60</cp:revision>
  <dcterms:created xsi:type="dcterms:W3CDTF">2021-12-11T20:13:15Z</dcterms:created>
  <dcterms:modified xsi:type="dcterms:W3CDTF">2022-01-04T23:15:49Z</dcterms:modified>
</cp:coreProperties>
</file>